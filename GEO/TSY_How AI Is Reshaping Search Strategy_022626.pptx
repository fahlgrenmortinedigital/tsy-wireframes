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E_77447B69.xml" ContentType="application/vnd.ms-powerpoint.comments+xml"/>
  <Override PartName="/ppt/notesSlides/notesSlide8.xml" ContentType="application/vnd.openxmlformats-officedocument.presentationml.notesSlide+xml"/>
  <Override PartName="/ppt/comments/modernComment_132_35CEEC96.xml" ContentType="application/vnd.ms-powerpoint.comments+xml"/>
  <Override PartName="/ppt/notesSlides/notesSlide9.xml" ContentType="application/vnd.openxmlformats-officedocument.presentationml.notesSlide+xml"/>
  <Override PartName="/ppt/comments/modernComment_133_6605C01D.xml" ContentType="application/vnd.ms-powerpoint.comments+xml"/>
  <Override PartName="/ppt/notesSlides/notesSlide10.xml" ContentType="application/vnd.openxmlformats-officedocument.presentationml.notesSlide+xml"/>
  <Override PartName="/ppt/comments/modernComment_142_DE5C9CF4.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FFE590D_A7FBA23.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7FFE5916_FC3841E3.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7FFE5915_ECE4FD6B.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7FFE591C_F1894B9C.xml" ContentType="application/vnd.ms-powerpoint.comments+xml"/>
  <Override PartName="/ppt/notesSlides/notesSlide33.xml" ContentType="application/vnd.openxmlformats-officedocument.presentationml.notesSlide+xml"/>
  <Override PartName="/ppt/comments/modernComment_7FFE591E_ECADE9D3.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32" r:id="rId4"/>
    <p:sldMasterId id="2147484950" r:id="rId5"/>
  </p:sldMasterIdLst>
  <p:notesMasterIdLst>
    <p:notesMasterId r:id="rId52"/>
  </p:notesMasterIdLst>
  <p:handoutMasterIdLst>
    <p:handoutMasterId r:id="rId53"/>
  </p:handoutMasterIdLst>
  <p:sldIdLst>
    <p:sldId id="2147375364" r:id="rId6"/>
    <p:sldId id="256" r:id="rId7"/>
    <p:sldId id="349" r:id="rId8"/>
    <p:sldId id="2147375375" r:id="rId9"/>
    <p:sldId id="2147375368" r:id="rId10"/>
    <p:sldId id="2147375374" r:id="rId11"/>
    <p:sldId id="2147375405" r:id="rId12"/>
    <p:sldId id="302" r:id="rId13"/>
    <p:sldId id="306" r:id="rId14"/>
    <p:sldId id="307" r:id="rId15"/>
    <p:sldId id="322" r:id="rId16"/>
    <p:sldId id="2147375376" r:id="rId17"/>
    <p:sldId id="2147375377" r:id="rId18"/>
    <p:sldId id="2147375373" r:id="rId19"/>
    <p:sldId id="2147375414" r:id="rId20"/>
    <p:sldId id="2147375378" r:id="rId21"/>
    <p:sldId id="2147375382" r:id="rId22"/>
    <p:sldId id="311" r:id="rId23"/>
    <p:sldId id="2147375399" r:id="rId24"/>
    <p:sldId id="2147375380" r:id="rId25"/>
    <p:sldId id="308" r:id="rId26"/>
    <p:sldId id="2147375404" r:id="rId27"/>
    <p:sldId id="2147375383" r:id="rId28"/>
    <p:sldId id="2147375400" r:id="rId29"/>
    <p:sldId id="2147375381" r:id="rId30"/>
    <p:sldId id="2147375402" r:id="rId31"/>
    <p:sldId id="2147375379" r:id="rId32"/>
    <p:sldId id="348" r:id="rId33"/>
    <p:sldId id="2147375384" r:id="rId34"/>
    <p:sldId id="312" r:id="rId35"/>
    <p:sldId id="329" r:id="rId36"/>
    <p:sldId id="258" r:id="rId37"/>
    <p:sldId id="2147375387" r:id="rId38"/>
    <p:sldId id="2147375388" r:id="rId39"/>
    <p:sldId id="2147375390" r:id="rId40"/>
    <p:sldId id="2147375407" r:id="rId41"/>
    <p:sldId id="2147375408" r:id="rId42"/>
    <p:sldId id="2147375409" r:id="rId43"/>
    <p:sldId id="2147375410" r:id="rId44"/>
    <p:sldId id="2147375389" r:id="rId45"/>
    <p:sldId id="259" r:id="rId46"/>
    <p:sldId id="2147375392" r:id="rId47"/>
    <p:sldId id="2147375371" r:id="rId48"/>
    <p:sldId id="321" r:id="rId49"/>
    <p:sldId id="319" r:id="rId50"/>
    <p:sldId id="320"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DFF0DE-1669-42AB-9DEF-12214DCD6F21}">
          <p14:sldIdLst>
            <p14:sldId id="2147375364"/>
            <p14:sldId id="256"/>
            <p14:sldId id="349"/>
            <p14:sldId id="2147375375"/>
            <p14:sldId id="2147375368"/>
            <p14:sldId id="2147375374"/>
            <p14:sldId id="2147375405"/>
            <p14:sldId id="302"/>
            <p14:sldId id="306"/>
            <p14:sldId id="307"/>
            <p14:sldId id="322"/>
            <p14:sldId id="2147375376"/>
            <p14:sldId id="2147375377"/>
            <p14:sldId id="2147375373"/>
            <p14:sldId id="2147375414"/>
            <p14:sldId id="2147375378"/>
            <p14:sldId id="2147375382"/>
            <p14:sldId id="311"/>
            <p14:sldId id="2147375399"/>
            <p14:sldId id="2147375380"/>
            <p14:sldId id="308"/>
            <p14:sldId id="2147375404"/>
            <p14:sldId id="2147375383"/>
            <p14:sldId id="2147375400"/>
            <p14:sldId id="2147375381"/>
            <p14:sldId id="2147375402"/>
            <p14:sldId id="2147375379"/>
            <p14:sldId id="348"/>
            <p14:sldId id="2147375384"/>
            <p14:sldId id="312"/>
            <p14:sldId id="329"/>
            <p14:sldId id="258"/>
            <p14:sldId id="2147375387"/>
            <p14:sldId id="2147375388"/>
            <p14:sldId id="2147375390"/>
            <p14:sldId id="2147375407"/>
            <p14:sldId id="2147375408"/>
            <p14:sldId id="2147375409"/>
            <p14:sldId id="2147375410"/>
            <p14:sldId id="2147375389"/>
            <p14:sldId id="259"/>
            <p14:sldId id="2147375392"/>
            <p14:sldId id="2147375371"/>
            <p14:sldId id="321"/>
            <p14:sldId id="319"/>
            <p14:sldId id="32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940" userDrawn="1">
          <p15:clr>
            <a:srgbClr val="A4A3A4"/>
          </p15:clr>
        </p15:guide>
        <p15:guide id="4" orient="horz" pos="720" userDrawn="1">
          <p15:clr>
            <a:srgbClr val="A4A3A4"/>
          </p15:clr>
        </p15:guide>
        <p15:guide id="5" orient="horz" pos="4104" userDrawn="1">
          <p15:clr>
            <a:srgbClr val="A4A3A4"/>
          </p15:clr>
        </p15:guide>
        <p15:guide id="6" pos="216" userDrawn="1">
          <p15:clr>
            <a:srgbClr val="A4A3A4"/>
          </p15:clr>
        </p15:guide>
        <p15:guide id="7" pos="7464" userDrawn="1">
          <p15:clr>
            <a:srgbClr val="A4A3A4"/>
          </p15:clr>
        </p15:guide>
        <p15:guide id="8" orient="horz" pos="216" userDrawn="1">
          <p15:clr>
            <a:srgbClr val="A4A3A4"/>
          </p15:clr>
        </p15:guide>
        <p15:guide id="9" orient="horz" pos="1200" userDrawn="1">
          <p15:clr>
            <a:srgbClr val="A4A3A4"/>
          </p15:clr>
        </p15:guide>
        <p15:guide id="10" pos="144" userDrawn="1">
          <p15:clr>
            <a:srgbClr val="A4A3A4"/>
          </p15:clr>
        </p15:guide>
        <p15:guide id="11" orient="horz" pos="41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F13601-C10F-F23E-B918-7E6591B3E9EF}" name="Kasie Bedell" initials="KB" userId="S::kbedell@theshipyard.com::db5d3d62-056e-428d-ba09-7b50ae909798" providerId="AD"/>
  <p188:author id="{799B5001-DE65-BEB3-D3B8-B9C66CE22FB2}" name="Will Gelner" initials="WG" userId="S::wgelner@theshipyard.com::eb26541c-7e97-477f-a003-7f2bf24530ae" providerId="AD"/>
  <p188:author id="{D1BF8408-7C63-EC3A-78E6-7507D216B06B}" name="Kevin Candela" initials="KC" userId="S::kcandela@theshipyard.com::fac668db-7051-4bbe-9019-41e7d99e8394" providerId="AD"/>
  <p188:author id="{91E3CB0B-A76E-8245-DD43-1821F4CB943B}" name="Christine Neville" initials="CN" userId="S::cneville@theshipyard.com::64bc634f-f122-46d7-9188-5cd29319f53f" providerId="AD"/>
  <p188:author id="{11C6FC0C-2AD4-3208-9F41-4355DD3E76A2}" name="Sean Cowan" initials="SC" userId="S::scowan@theshipyard.com::a7963b9b-2846-4627-8933-2ed73f88fce8" providerId="AD"/>
  <p188:author id="{6E82801D-F7CA-1C85-0909-A248E778E0A5}" name="Michael Karap" initials="MK" userId="S::mkarap@theshipyard.com::ee51ae1d-3a66-4f3b-a992-5d303728fbb4" providerId="AD"/>
  <p188:author id="{914F7120-3A96-C51E-DA62-2F9ECFA5C90A}" name="Marty McDonald" initials="MM" userId="S::mmcdonald@theshipyard.com::d06ec687-c3d0-4cb4-8d98-1db84458c7cd" providerId="AD"/>
  <p188:author id="{9775C021-4182-D288-E90C-72647EC01C86}" name="Sarah Florek" initials="SF" userId="S::sflorek@theshipyard.com::62244e98-bee2-4762-b257-e251debc6b1e" providerId="AD"/>
  <p188:author id="{1AEC4D26-0DE2-9328-C4F1-44BEB958587A}" name="Marty McDonald" initials="" userId="S::mMcDonald@theshipyard.com::d06ec687-c3d0-4cb4-8d98-1db84458c7cd" providerId="AD"/>
  <p188:author id="{79C19B2A-6B0C-FCB1-6F18-3E1713882EBC}" name="Bill Marconi" initials="BM" userId="S::bmarconi@theshipyard.com::2e73a008-109e-4e38-bf16-aa7c50a2a416" providerId="AD"/>
  <p188:author id="{46AD462E-A1B1-C3CE-9991-B0F35D9B12B3}" name="Isabella Reichert" initials="" userId="S::ireichert@theshipyard.com::ce488a73-f168-4ef4-8bb4-8b60328f57be" providerId="AD"/>
  <p188:author id="{D2790736-B10A-A26C-6CB1-90BD78C34864}" name="Christine Turner" initials="CT" userId="S::cturner_fahlgren.com#ext#@theshipyard.onmicrosoft.com::03641044-a0fe-4064-ab59-21511daed7c1" providerId="AD"/>
  <p188:author id="{9E3D1636-6D1C-7279-096A-6F6E2C8A3309}" name="Kevin Lukens" initials="" userId="S::klukens@theshipyard.com::3224cd26-a8d6-4db4-b8c0-79be23cb0dca" providerId="AD"/>
  <p188:author id="{26EDEE49-FD0D-7699-79E4-627B5826B899}" name="Trisha Chong" initials="TC" userId="S::tchong@theshipyard.com::a4418839-93e9-454a-b318-d270cf7b2a1d" providerId="AD"/>
  <p188:author id="{D12DE74A-A47E-C76F-C9B1-EC077304483C}" name="David Sonderman" initials="" userId="S::dsonderman@theshipyard.com::5f3a4545-c08a-4619-b768-33e829886aab" providerId="AD"/>
  <p188:author id="{049EED53-2C70-E779-598E-571B25ABB20B}" name="Kylee Reyes" initials="KR" userId="S::kreyes@theshipyard.com::e58441d2-4f6f-42ee-af27-7d268aac82f0" providerId="AD"/>
  <p188:author id="{65046457-D631-1271-A26F-09F03E526734}" name="Brendan Rice" initials="" userId="S::brice@theshipyard.com::ec496630-0a42-4e8c-9813-dd505112c03b" providerId="AD"/>
  <p188:author id="{2D65DD57-0BBF-1EB2-211C-E87FCA0A1E3A}" name="Blake Williams" initials="BW" userId="S::bwilliams@theshipyard.com::0a43814f-f4bc-4e98-8029-80b7df6119be" providerId="AD"/>
  <p188:author id="{5ECEEE5A-1121-394D-C5CD-12D6B06A1F24}" name="Jeff Tice" initials="JT" userId="S::jtice@theshipyard.com::94359908-d6c2-4b89-b84c-436b093d4b77" providerId="AD"/>
  <p188:author id="{6970E566-919E-1CFC-FAB4-AE8A8807E542}" name="Patti Ziegler" initials="" userId="S::pziegler@theshipyard.com::09c79a4e-81aa-4afa-93d2-5f7281c85ade" providerId="AD"/>
  <p188:author id="{C7C00E6C-0DC1-8CC6-62E7-8587910865A8}" name="Brad Oldham" initials="BO" userId="S::boldham@theshipyard.com::edb3e360-952a-4368-b7d7-088083b16f4d" providerId="AD"/>
  <p188:author id="{CEAD866E-F9E6-6308-656C-3B3C5D5E6324}" name="Bredon, Kaylyn" initials="" userId="S::kbredon@fahlgren.com::37199fe4-4231-4dad-94dd-a67ce5c25be6" providerId="AD"/>
  <p188:author id="{850A546F-CC13-95C4-525F-9716BAA835B3}" name="Josh Milenthal" initials="" userId="S::jmilenthal@theshipyard.com::be9c58b3-f1fe-490b-8f4a-8f9fa8610ea9" providerId="AD"/>
  <p188:author id="{9B1BD372-FE90-65FA-F8FC-A3EEEC3063DB}" name="Amanda Moul" initials="" userId="S::amoul@theshipyard.com::79bd8ae7-6da0-4784-87a4-427a0bf4d658" providerId="AD"/>
  <p188:author id="{9AFD7073-8597-E17F-918D-0205C16365A2}" name="Whelley, Beth" initials="WB" userId="S::bwhelley_fahlgren.com#ext#@theshipyard.onmicrosoft.com::ec314838-688f-4cbe-a8b3-2b1f47a42884" providerId="AD"/>
  <p188:author id="{41525B74-9756-7DD8-EFD9-772A7E3FD6CF}" name="Washington, Christopher" initials="CW" userId="S::cwashington@fahlgren.com::649b1019-e947-4034-8620-bb5768443c40" providerId="AD"/>
  <p188:author id="{5B4AE97C-B856-96DD-ECDF-39B8A9B39E80}" name="Patton, Lisa" initials="LP" userId="S::lpatton@fahlgren.com::ee8cd6aa-48e9-4257-8d00-c6bb2c020eea" providerId="AD"/>
  <p188:author id="{AC39AC87-9524-E1A8-2500-FD3A461DDBA7}" name="Tammy Haughey" initials="" userId="S::thaughey@theshipyard.com::83015adb-aaa7-47da-9a5f-cb9ae927d2d8" providerId="AD"/>
  <p188:author id="{46638C88-2A5A-D904-CDEE-9BC9546F82A1}" name="Matthew Bruot" initials="" userId="S::mbruot@theshipyard.com::29e8c321-9700-446b-809a-9c24e0335a4f" providerId="AD"/>
  <p188:author id="{9090D288-C6D5-17D6-43EF-6D1C1526F7C3}" name="Lauren Arnold" initials="LA" userId="S::larnold@theshipyard.com::189fb955-1163-4237-acf5-1c8a3bfcf1dc" providerId="AD"/>
  <p188:author id="{89248796-DA1A-0862-F9E9-AEE91899DBD9}" name="Lance Porigow" initials="LP" userId="S::lporigow@theshipyard.com::eb35adf0-6add-4002-b8c0-b42e16920aa8" providerId="AD"/>
  <p188:author id="{0524A49B-BEDB-CA37-8AAC-D8B178752F1F}" name="McDonald, Marty" initials="" userId="S::mmcdonald@fahlgren.com::cfc93f1f-4ad1-489e-a35b-e7e5cc15551a" providerId="AD"/>
  <p188:author id="{BE3574A0-392A-151A-D2BE-0E845CFCD06F}" name="Brent Holbert" initials="BH" userId="S::bholbert@theshipyard.com::873efebb-6254-4aba-b68f-cdb84caf5a44" providerId="AD"/>
  <p188:author id="{7D3EFAA9-457E-5293-3AAE-B33232A8BD3F}" name="Aris Bajar" initials="" userId="S::abajar@theshipyard.com::f8558394-0e41-44ce-8a4f-4353c7a72b5e" providerId="AD"/>
  <p188:author id="{24C58AAC-AF2F-A538-819E-DC155DEF87E4}" name="Amanda Molinaro" initials="AM" userId="S::amolinaro@theshipyard.com::f272e988-b155-4eeb-b901-c02aca04b868" providerId="AD"/>
  <p188:author id="{873151AD-03EB-EE26-0AC5-92B7B342E8D3}" name="Jamie Allen" initials="JA" userId="S::jallen@theshipyard.com::bd29c07a-d572-4a26-94bf-cf95afbf75d1" providerId="AD"/>
  <p188:author id="{7812F2B5-4D02-2754-8E46-4BD00342C913}" name="Bredon, Kaylyn" initials="BK" userId="S::kbredon_fahlgren.com#ext#@theshipyard.onmicrosoft.com::1d9c0436-1246-4041-a000-a18d8da69d06" providerId="AD"/>
  <p188:author id="{1A3495B6-E533-B724-D10E-A1E6AE2E1C8A}" name="Natalie Huezo" initials="NH" userId="S::nhuezo@theshipyard.com::6439edbf-0a15-4505-913e-b754641c4610" providerId="AD"/>
  <p188:author id="{D8D9BBBA-773B-E607-6BC6-5D8199B0C391}" name="Patton, Lisa" initials="" userId="S::lpatton_fahlgren.com#EXT#@theshipyard.onmicrosoft.com::11899eb2-4e68-460d-a325-a9a72cf0e70d" providerId="AD"/>
  <p188:author id="{B975E2C1-D28B-43D4-94DE-7AB26ECB5975}" name="Rachel Kalafut" initials="RK" userId="S::rkalafut@theshipyard.com::e4ea7160-6b24-4fde-aadb-04b43d9ba2f5" providerId="AD"/>
  <p188:author id="{554F49C2-FF2F-74FE-5A57-D9A3B6CF510A}" name="Amanda Webber" initials="AW" userId="S::awebber@theshipyard.com::22476f25-c3f4-4829-894c-59f8daecd1eb" providerId="AD"/>
  <p188:author id="{1F1486C6-DE33-2E26-9339-4FD9AFAD3426}" name="Christopher Washington" initials="" userId="S::cwashington@theshipyard.com::711156e5-b53e-4f52-b899-c091bbb2dfad" providerId="AD"/>
  <p188:author id="{D13085CD-295A-982C-9FAA-9E08B2A7CCAB}" name="McDonald, Marty" initials="MM" userId="S::mmcdonald_fahlgren.com#ext#@theshipyard.onmicrosoft.com::6c1e9e34-b923-4df5-8180-52650a5bfae5" providerId="AD"/>
  <p188:author id="{2B4CEBCE-5F71-35BF-FC14-F953A7CF68EB}" name="Erin Balow" initials="" userId="S::ebalow@theshipyard.com::9f5ac1da-2b3d-4528-9cfe-9924b6f30967" providerId="AD"/>
  <p188:author id="{7E37D4D1-79E4-CDAB-457F-07AAEB5A13AA}" name="Colleen Sweeney" initials="CS" userId="S::csweeney@theshipyard.com::0ec49333-e6b0-4f05-b5c5-5c3a4b21865e" providerId="AD"/>
  <p188:author id="{22182ADD-4105-4D00-0D6F-C4547D1A0EED}" name="Mike Klebacha" initials="MK" userId="S::mklebacha@theshipyard.com::989293c0-7897-40d9-abfe-d67d625818ed" providerId="AD"/>
  <p188:author id="{02ED19E7-431F-E0B9-9AFF-AA1D7AC00455}" name="Molly McHugh" initials="" userId="S::mMcHugh@theshipyard.com::69959256-aeeb-46c0-b645-058ac37a3b98" providerId="AD"/>
  <p188:author id="{1E5B58E8-FF0B-4871-4DB8-C4CC065A1C89}" name="Jack Considine" initials="JC" userId="S::jconsidine@theshipyard.com::2e64b79f-4bda-4b5f-ae19-4106f91da8d3" providerId="AD"/>
  <p188:author id="{74B05FE8-0172-0F53-314A-1400FDABD9E2}" name="Whelley, Beth" initials="" userId="S::bwhelley_fahlgren.com#EXT#@theshipyard.onmicrosoft.com::ec314838-688f-4cbe-a8b3-2b1f47a42884" providerId="AD"/>
  <p188:author id="{00CC3EE9-F4CC-AD4C-4799-FC53A02334D4}" name="Harmon, Lexi" initials="" userId="S::aharmon@fahlgren.com::b819b094-6074-4163-b8c7-aae2360d27fe" providerId="AD"/>
  <p188:author id="{A4F882EE-3AC5-AB94-55F0-5A40FC0AE804}" name="Naureen Kazi" initials="" userId="S::nkazi_fahlgren.com#EXT#@theshipyard.onmicrosoft.com::c588e962-9ca8-4e6a-9830-9a1679e3bb86" providerId="AD"/>
  <p188:author id="{779FDFEE-2B71-7507-9B5A-F793E83963C5}" name="Deborah Park" initials="DP" userId="S::dpark_fahlgren.com#ext#@theshipyard.onmicrosoft.com::8f314985-1433-4d93-9330-0e7ffd2abba3" providerId="AD"/>
  <p188:author id="{164B51F1-25C7-ACA9-B525-506F98F433A8}" name="Morgan Rectenwald" initials="MR" userId="S::mrectenwald@theshipyard.com::07854c98-9e6d-4382-8bd2-adcc1fb1b28e" providerId="AD"/>
  <p188:author id="{1C066BF1-DC46-EFC6-90E2-0292771C5719}" name="Julia Sebastian" initials="JS" userId="S::jsebastian@theshipyard.com::fee7352c-3f5d-4922-bdc8-b13172f30d53" providerId="AD"/>
  <p188:author id="{199FD8FA-E13F-693D-8591-42C631DD33D0}" name="Dave Ronk" initials="DR" userId="S::dronk@theshipyard.com::bd1415bd-98dd-4e2b-a763-2631fb225fae" providerId="AD"/>
  <p188:author id="{CA216EFB-410A-A376-9E81-07DDC36CF611}" name="Naureen Kazi" initials="NK" userId="S::nkazi_fahlgren.com#ext#@theshipyard.onmicrosoft.com::c588e962-9ca8-4e6a-9830-9a1679e3bb8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uest User" initials="GU" lastIdx="2" clrIdx="0">
    <p:extLst>
      <p:ext uri="{19B8F6BF-5375-455C-9EA6-DF929625EA0E}">
        <p15:presenceInfo xmlns:p15="http://schemas.microsoft.com/office/powerpoint/2012/main" userId="S::urn:spo:anon#b90091980a2e127196fa0b579967b47df79d6eefd2032a69a874cf2ebbaa1c98::" providerId="AD"/>
      </p:ext>
    </p:extLst>
  </p:cmAuthor>
  <p:cmAuthor id="2" name="Brandon Wenger" initials="BW" lastIdx="11" clrIdx="1">
    <p:extLst>
      <p:ext uri="{19B8F6BF-5375-455C-9EA6-DF929625EA0E}">
        <p15:presenceInfo xmlns:p15="http://schemas.microsoft.com/office/powerpoint/2012/main" userId="S::bwenger@theshipyard.com::30666da1-5305-43b7-ba7e-b2a5086a982c" providerId="AD"/>
      </p:ext>
    </p:extLst>
  </p:cmAuthor>
  <p:cmAuthor id="3" name="Lance Porigow" initials="LP" lastIdx="7" clrIdx="2">
    <p:extLst>
      <p:ext uri="{19B8F6BF-5375-455C-9EA6-DF929625EA0E}">
        <p15:presenceInfo xmlns:p15="http://schemas.microsoft.com/office/powerpoint/2012/main" userId="S::lporigow@theshipyard.com::eb35adf0-6add-4002-b8c0-b42e16920aa8" providerId="AD"/>
      </p:ext>
    </p:extLst>
  </p:cmAuthor>
  <p:cmAuthor id="4" name="Lori Bartle" initials="LB" lastIdx="3" clrIdx="3">
    <p:extLst>
      <p:ext uri="{19B8F6BF-5375-455C-9EA6-DF929625EA0E}">
        <p15:presenceInfo xmlns:p15="http://schemas.microsoft.com/office/powerpoint/2012/main" userId="S::lbartle@theshipyard.com::9715fd0b-47b8-494a-9302-cba54fb0e2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D3C38"/>
    <a:srgbClr val="082927"/>
    <a:srgbClr val="27A693"/>
    <a:srgbClr val="3879DC"/>
    <a:srgbClr val="3B75E7"/>
    <a:srgbClr val="9DC3E6"/>
    <a:srgbClr val="DEEBF7"/>
    <a:srgbClr val="ACD8E4"/>
    <a:srgbClr val="D6A247"/>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5"/>
    <p:restoredTop sz="94702"/>
  </p:normalViewPr>
  <p:slideViewPr>
    <p:cSldViewPr snapToGrid="0">
      <p:cViewPr varScale="1">
        <p:scale>
          <a:sx n="151" d="100"/>
          <a:sy n="151" d="100"/>
        </p:scale>
        <p:origin x="272" y="192"/>
      </p:cViewPr>
      <p:guideLst>
        <p:guide orient="horz" pos="2160"/>
        <p:guide pos="3840"/>
        <p:guide pos="3940"/>
        <p:guide orient="horz" pos="720"/>
        <p:guide orient="horz" pos="4104"/>
        <p:guide pos="216"/>
        <p:guide pos="7464"/>
        <p:guide orient="horz" pos="216"/>
        <p:guide orient="horz" pos="1200"/>
        <p:guide pos="144"/>
        <p:guide orient="horz" pos="41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comments/modernComment_7FFE590D_A7FBA23.xml><?xml version="1.0" encoding="utf-8"?>
<p188:cmLst xmlns:a="http://schemas.openxmlformats.org/drawingml/2006/main" xmlns:r="http://schemas.openxmlformats.org/officeDocument/2006/relationships" xmlns:p188="http://schemas.microsoft.com/office/powerpoint/2018/8/main">
  <p188:cm id="{19214438-D21D-7044-B938-DBFE96C24B2C}" authorId="{1F1486C6-DE33-2E26-9339-4FD9AFAD3426}" created="2026-02-25T16:16:55.315">
    <ac:txMkLst xmlns:ac="http://schemas.microsoft.com/office/drawing/2013/main/command">
      <pc:docMk xmlns:pc="http://schemas.microsoft.com/office/powerpoint/2013/main/command"/>
      <pc:sldMk xmlns:pc="http://schemas.microsoft.com/office/powerpoint/2013/main/command" cId="176142883" sldId="2147375373"/>
      <ac:spMk id="2" creationId="{BD22E830-ACE6-2D15-73CC-8E38EA92E105}"/>
      <ac:txMk cp="38" len="9">
        <ac:context len="48" hash="3341714276"/>
      </ac:txMk>
    </ac:txMkLst>
    <p188:pos x="3648414" y="490220"/>
    <p188:replyLst>
      <p188:reply id="{87593B61-112A-0844-8041-BDCA3A0A7E2C}" authorId="{1E5B58E8-FF0B-4871-4DB8-C4CC065A1C89}" created="2026-02-25T16:23:19.631">
        <p188:txBody>
          <a:bodyPr/>
          <a:lstStyle/>
          <a:p>
            <a:r>
              <a:rPr lang="en-US"/>
              <a:t>Fixed</a:t>
            </a:r>
          </a:p>
        </p188:txBody>
      </p188:reply>
    </p188:replyLst>
    <p188:txBody>
      <a:bodyPr/>
      <a:lstStyle/>
      <a:p>
        <a:r>
          <a:rPr lang="en-US"/>
          <a:t>[@Jack Considine] Quick flag -- should there be a hyperlink here for the citation?</a:t>
        </a:r>
      </a:p>
    </p188:txBody>
  </p188:cm>
</p188:cmLst>
</file>

<file path=ppt/comments/modernComment_7FFE591C_F1894B9C.xml><?xml version="1.0" encoding="utf-8"?>
<p188:cmLst xmlns:a="http://schemas.openxmlformats.org/drawingml/2006/main" xmlns:r="http://schemas.openxmlformats.org/officeDocument/2006/relationships" xmlns:p188="http://schemas.microsoft.com/office/powerpoint/2018/8/main">
  <p188:cm id="{A50DBE0F-1AC8-6741-BC65-DD2DD8CA90F9}" authorId="{1F1486C6-DE33-2E26-9339-4FD9AFAD3426}" created="2026-02-25T17:05:16.404">
    <ac:txMkLst xmlns:ac="http://schemas.microsoft.com/office/drawing/2013/main/command">
      <pc:docMk xmlns:pc="http://schemas.microsoft.com/office/powerpoint/2013/main/command"/>
      <pc:sldMk xmlns:pc="http://schemas.microsoft.com/office/powerpoint/2013/main/command" cId="4052306844" sldId="2147375388"/>
      <ac:spMk id="4" creationId="{46B8E1A7-B803-C87A-6993-72473CE65829}"/>
      <ac:txMk cp="50" len="5">
        <ac:context len="370" hash="1680927988"/>
      </ac:txMk>
    </ac:txMkLst>
    <p188:pos x="5121382" y="1401952"/>
    <p188:txBody>
      <a:bodyPr/>
      <a:lstStyle/>
      <a:p>
        <a:r>
          <a:rPr lang="en-US"/>
          <a:t>[@Mike Klebacha] Flagging this one to see if we can increase clarity.</a:t>
        </a:r>
      </a:p>
    </p188:txBody>
    <p188:extLst>
      <p:ext xmlns:p="http://schemas.openxmlformats.org/presentationml/2006/main" uri="{57CB4572-C831-44C2-8A1C-0ADB6CCDFE69}">
        <p223:reactions xmlns:p223="http://schemas.microsoft.com/office/powerpoint/2022/03/main">
          <p223:rxn type="👍">
            <p223:instance time="2026-02-26T15:46:33.992" authorId="{22182ADD-4105-4D00-0D6F-C4547D1A0EED}"/>
          </p223:rxn>
        </p223:reactions>
      </p:ext>
    </p188:extLst>
  </p188:cm>
</p188:cmLst>
</file>

<file path=ppt/comments/modernComment_7FFE591E_ECADE9D3.xml><?xml version="1.0" encoding="utf-8"?>
<p188:cmLst xmlns:a="http://schemas.openxmlformats.org/drawingml/2006/main" xmlns:r="http://schemas.openxmlformats.org/officeDocument/2006/relationships" xmlns:p188="http://schemas.microsoft.com/office/powerpoint/2018/8/main">
  <p188:cm id="{1703BB45-E255-4A4F-B51C-0FD9ADD03115}" authorId="{1F1486C6-DE33-2E26-9339-4FD9AFAD3426}" created="2026-02-25T17:08:46.739">
    <ac:txMkLst xmlns:ac="http://schemas.microsoft.com/office/drawing/2013/main/command">
      <pc:docMk xmlns:pc="http://schemas.microsoft.com/office/powerpoint/2013/main/command"/>
      <pc:sldMk xmlns:pc="http://schemas.microsoft.com/office/powerpoint/2013/main/command" cId="3970820563" sldId="2147375390"/>
      <ac:spMk id="3" creationId="{9CC61E81-C048-0C31-CF07-EDACA2B7E1DF}"/>
      <ac:txMk cp="34" len="63">
        <ac:context len="100" hash="508900826"/>
      </ac:txMk>
    </ac:txMkLst>
    <p188:pos x="3295495" y="1255739"/>
    <p188:txBody>
      <a:bodyPr/>
      <a:lstStyle/>
      <a:p>
        <a:r>
          <a:rPr lang="en-US"/>
          <a:t>[@Mike Klebacha] Would a clearer way to express this be:
What are journalists looking for, finding and asking when they cover BBW?</a:t>
        </a:r>
      </a:p>
    </p188:txBody>
    <p188:extLst>
      <p:ext xmlns:p="http://schemas.openxmlformats.org/presentationml/2006/main" uri="{57CB4572-C831-44C2-8A1C-0ADB6CCDFE69}">
        <p223:reactions xmlns:p223="http://schemas.microsoft.com/office/powerpoint/2022/03/main">
          <p223:rxn type="👍">
            <p223:instance time="2026-02-26T16:42:06.257" authorId="{22182ADD-4105-4D00-0D6F-C4547D1A0EED}"/>
          </p223:rxn>
        </p223:reactions>
      </p:ext>
    </p188:extLst>
  </p188:cm>
  <p188:cm id="{F6CBCC60-7AB6-2D45-A40D-C5E7F58F4C64}" authorId="{1F1486C6-DE33-2E26-9339-4FD9AFAD3426}" created="2026-02-25T17:10:15.203">
    <ac:txMkLst xmlns:ac="http://schemas.microsoft.com/office/drawing/2013/main/command">
      <pc:docMk xmlns:pc="http://schemas.microsoft.com/office/powerpoint/2013/main/command"/>
      <pc:sldMk xmlns:pc="http://schemas.microsoft.com/office/powerpoint/2013/main/command" cId="3970820563" sldId="2147375390"/>
      <ac:spMk id="11" creationId="{BCBEA17C-E584-14D7-1B8D-3E499860FDA7}"/>
      <ac:txMk cp="0" len="25">
        <ac:context len="141" hash="2213728733"/>
      </ac:txMk>
    </ac:txMkLst>
    <p188:pos x="2894265" y="416099"/>
    <p188:txBody>
      <a:bodyPr/>
      <a:lstStyle/>
      <a:p>
        <a:r>
          <a:rPr lang="en-US"/>
          <a:t>[@Mike Klebacha] Is there an italicized mention of what the focus here will be? Similar to the others?</a:t>
        </a:r>
      </a:p>
    </p188:txBody>
    <p188:extLst>
      <p:ext xmlns:p="http://schemas.openxmlformats.org/presentationml/2006/main" uri="{57CB4572-C831-44C2-8A1C-0ADB6CCDFE69}">
        <p223:reactions xmlns:p223="http://schemas.microsoft.com/office/powerpoint/2022/03/main">
          <p223:rxn type="👍">
            <p223:instance time="2026-02-26T16:42:04.308" authorId="{22182ADD-4105-4D00-0D6F-C4547D1A0EED}"/>
          </p223:rxn>
        </p223:reactions>
      </p:ext>
    </p188:extLst>
  </p188:cm>
</p188:cmLst>
</file>

<file path=ppt/comments/modernComment_7FFE5915_ECE4FD6B.xml><?xml version="1.0" encoding="utf-8"?>
<p188:cmLst xmlns:a="http://schemas.openxmlformats.org/drawingml/2006/main" xmlns:r="http://schemas.openxmlformats.org/officeDocument/2006/relationships" xmlns:p188="http://schemas.microsoft.com/office/powerpoint/2018/8/main">
  <p188:cm id="{2CFB42A0-CED5-9446-8C7E-F825CB6E433F}" authorId="{1F1486C6-DE33-2E26-9339-4FD9AFAD3426}" created="2026-02-25T16:37:35.363">
    <ac:txMkLst xmlns:ac="http://schemas.microsoft.com/office/drawing/2013/main/command">
      <pc:docMk xmlns:pc="http://schemas.microsoft.com/office/powerpoint/2013/main/command"/>
      <pc:sldMk xmlns:pc="http://schemas.microsoft.com/office/powerpoint/2013/main/command" cId="3974430059" sldId="2147375381"/>
      <ac:spMk id="14" creationId="{02D0E23E-A800-A954-7BF8-96F239D4BF3E}"/>
      <ac:txMk cp="60" len="12">
        <ac:context len="295" hash="331086669"/>
      </ac:txMk>
    </ac:txMkLst>
    <p188:pos x="2485921" y="687945"/>
    <p188:replyLst>
      <p188:reply id="{D7F7C109-295A-5E4A-AC86-41C25CF358FC}" authorId="{22182ADD-4105-4D00-0D6F-C4547D1A0EED}" created="2026-02-26T12:34:37.790">
        <p188:txBody>
          <a:bodyPr/>
          <a:lstStyle/>
          <a:p>
            <a:r>
              <a:rPr lang="en-US"/>
              <a:t>Lower-funnel is typical. It doesn't imply less important. Upper-funnel is where people are exploring or starting journey. As they down the funnel, they get into consideration and narrowing in on decision. </a:t>
            </a:r>
          </a:p>
        </p188:txBody>
      </p188:reply>
    </p188:replyLst>
    <p188:txBody>
      <a:bodyPr/>
      <a:lstStyle/>
      <a:p>
        <a:r>
          <a:rPr lang="en-US"/>
          <a:t>[@Mike Klebacha] Is there another word we can use here? I'm thinking through how this could be perceived. Or, if this is standard language, please disregard.</a:t>
        </a:r>
      </a:p>
    </p188:txBody>
  </p188:cm>
  <p188:cm id="{0AC86FC1-4555-2D45-945D-9E2013450A3C}" authorId="{1F1486C6-DE33-2E26-9339-4FD9AFAD3426}" created="2026-02-25T16:39:58.423">
    <ac:txMkLst xmlns:ac="http://schemas.microsoft.com/office/drawing/2013/main/command">
      <pc:docMk xmlns:pc="http://schemas.microsoft.com/office/powerpoint/2013/main/command"/>
      <pc:sldMk xmlns:pc="http://schemas.microsoft.com/office/powerpoint/2013/main/command" cId="3974430059" sldId="2147375381"/>
      <ac:spMk id="6" creationId="{47A20AC0-95F5-A066-19FD-97A26EA3E8C4}"/>
      <ac:txMk cp="11" len="3">
        <ac:context len="15" hash="1664674972"/>
      </ac:txMk>
    </ac:txMkLst>
    <p188:pos x="3570917" y="415331"/>
    <p188:replyLst>
      <p188:reply id="{A355C527-DD41-9843-BAA0-E728742EA10C}" authorId="{22182ADD-4105-4D00-0D6F-C4547D1A0EED}" created="2026-02-26T12:36:08.805">
        <p188:txBody>
          <a:bodyPr/>
          <a:lstStyle/>
          <a:p>
            <a:r>
              <a:rPr lang="en-US"/>
              <a:t>It's pretty commonly used metric, but I added the descriptor to the paragraph.</a:t>
            </a:r>
          </a:p>
        </p188:txBody>
      </p188:reply>
    </p188:replyLst>
    <p188:txBody>
      <a:bodyPr/>
      <a:lstStyle/>
      <a:p>
        <a:r>
          <a:rPr lang="en-US"/>
          <a:t>[@Mike Klebacha] Can we spell this out and define on first reference for team members that don't typically work in this space?</a:t>
        </a:r>
      </a:p>
    </p188:txBody>
  </p188:cm>
</p188:cmLst>
</file>

<file path=ppt/comments/modernComment_7FFE5916_FC3841E3.xml><?xml version="1.0" encoding="utf-8"?>
<p188:cmLst xmlns:a="http://schemas.openxmlformats.org/drawingml/2006/main" xmlns:r="http://schemas.openxmlformats.org/officeDocument/2006/relationships" xmlns:p188="http://schemas.microsoft.com/office/powerpoint/2018/8/main">
  <p188:cm id="{177A8FB8-42EB-014B-A2BE-BCC9054AEA63}" authorId="{22182ADD-4105-4D00-0D6F-C4547D1A0EED}" created="2026-02-12T13:36:09.199">
    <pc:sldMkLst xmlns:pc="http://schemas.microsoft.com/office/powerpoint/2013/main/command">
      <pc:docMk/>
      <pc:sldMk cId="4231545315" sldId="2147375382"/>
    </pc:sldMkLst>
    <p188:txBody>
      <a:bodyPr/>
      <a:lstStyle/>
      <a:p>
        <a:r>
          <a:rPr lang="en-US"/>
          <a:t>Added: explains how AI uses different sources. Sets stage for next slides...</a:t>
        </a:r>
      </a:p>
    </p188:txBody>
  </p188:cm>
  <p188:cm id="{7411F068-E95F-6B4E-8FA7-8132C0BAA454}" authorId="{22182ADD-4105-4D00-0D6F-C4547D1A0EED}" created="2026-02-12T13:43:37.792">
    <ac:deMkLst xmlns:ac="http://schemas.microsoft.com/office/drawing/2013/main/command">
      <pc:docMk xmlns:pc="http://schemas.microsoft.com/office/powerpoint/2013/main/command"/>
      <pc:sldMk xmlns:pc="http://schemas.microsoft.com/office/powerpoint/2013/main/command" cId="4231545315" sldId="2147375382"/>
      <ac:spMk id="29" creationId="{16D842BA-EBA5-A2FD-A86A-F393B695F172}"/>
    </ac:deMkLst>
    <p188:txBody>
      <a:bodyPr/>
      <a:lstStyle/>
      <a:p>
        <a:r>
          <a:rPr lang="en-US"/>
          <a:t>I added 'shared' bc I found an article that explains it as separate and I agree.  It could be pulled under 'earned', but 'earned' is generally initiated by the brand. 'shared' more just happens (Reddit, IG travel photos, etc.) bc it can be a major source, I thought it needed separated. </a:t>
        </a:r>
      </a:p>
    </p188:txBody>
  </p188:cm>
</p188:cmLst>
</file>

<file path=ppt/comments/modernComment_12E_77447B69.xml><?xml version="1.0" encoding="utf-8"?>
<p188:cmLst xmlns:a="http://schemas.openxmlformats.org/drawingml/2006/main" xmlns:r="http://schemas.openxmlformats.org/officeDocument/2006/relationships" xmlns:p188="http://schemas.microsoft.com/office/powerpoint/2018/8/main">
  <p188:cm id="{CC6BF08F-2944-F049-ADBE-5CA037618FE9}" authorId="{1E5B58E8-FF0B-4871-4DB8-C4CC065A1C89}" created="2026-02-24T16:26:01.801">
    <ac:deMkLst xmlns:ac="http://schemas.microsoft.com/office/drawing/2013/main/command">
      <pc:docMk xmlns:pc="http://schemas.microsoft.com/office/powerpoint/2013/main/command"/>
      <pc:sldMk xmlns:pc="http://schemas.microsoft.com/office/powerpoint/2013/main/command" cId="2000976745" sldId="302"/>
      <ac:picMk id="3" creationId="{0069C5F9-FE90-B529-5783-54B66681638D}"/>
    </ac:deMkLst>
    <p188:txBody>
      <a:bodyPr/>
      <a:lstStyle/>
      <a:p>
        <a:r>
          <a:rPr lang="en-US"/>
          <a:t>Do you guys have a attributable source for the graph or the 75% stat? I can't find it.</a:t>
        </a:r>
      </a:p>
    </p188:txBody>
  </p188:cm>
</p188:cmLst>
</file>

<file path=ppt/comments/modernComment_132_35CEEC96.xml><?xml version="1.0" encoding="utf-8"?>
<p188:cmLst xmlns:a="http://schemas.openxmlformats.org/drawingml/2006/main" xmlns:r="http://schemas.openxmlformats.org/officeDocument/2006/relationships" xmlns:p188="http://schemas.microsoft.com/office/powerpoint/2018/8/main">
  <p188:cm id="{64AB1AE8-8537-1240-883B-9E2BF6E2A84B}" authorId="{1E5B58E8-FF0B-4871-4DB8-C4CC065A1C89}" created="2026-02-24T16:56:27.307">
    <ac:txMkLst xmlns:ac="http://schemas.microsoft.com/office/drawing/2013/main/command">
      <pc:docMk xmlns:pc="http://schemas.microsoft.com/office/powerpoint/2013/main/command"/>
      <pc:sldMk xmlns:pc="http://schemas.microsoft.com/office/powerpoint/2013/main/command" cId="902753430" sldId="306"/>
      <ac:spMk id="9" creationId="{4E23F53C-00FE-B5C4-D1D6-AC7DDBB06F4F}"/>
      <ac:txMk cp="191" len="124">
        <ac:context len="318" hash="3231170745"/>
      </ac:txMk>
    </ac:txMkLst>
    <p188:pos x="5369011" y="2451593"/>
    <p188:txBody>
      <a:bodyPr/>
      <a:lstStyle/>
      <a:p>
        <a:r>
          <a:rPr lang="en-US"/>
          <a:t>Need to figure out where this source is coming from</a:t>
        </a:r>
      </a:p>
    </p188:txBody>
  </p188:cm>
</p188:cmLst>
</file>

<file path=ppt/comments/modernComment_133_6605C01D.xml><?xml version="1.0" encoding="utf-8"?>
<p188:cmLst xmlns:a="http://schemas.openxmlformats.org/drawingml/2006/main" xmlns:r="http://schemas.openxmlformats.org/officeDocument/2006/relationships" xmlns:p188="http://schemas.microsoft.com/office/powerpoint/2018/8/main">
  <p188:cm id="{2BCC8D9D-4D66-FE41-8728-863ED35E9651}" authorId="{1E5B58E8-FF0B-4871-4DB8-C4CC065A1C89}" created="2026-02-24T17:04:46.805">
    <ac:deMkLst xmlns:ac="http://schemas.microsoft.com/office/drawing/2013/main/command">
      <pc:docMk xmlns:pc="http://schemas.microsoft.com/office/powerpoint/2013/main/command"/>
      <pc:sldMk xmlns:pc="http://schemas.microsoft.com/office/powerpoint/2013/main/command" cId="1711652893" sldId="307"/>
      <ac:picMk id="3" creationId="{888BE922-5F5E-37BC-9D03-198E7651FA63}"/>
    </ac:deMkLst>
    <p188:replyLst>
      <p188:reply id="{7F150447-56A7-0E46-9E21-61416B7BEBC3}" authorId="{1E5B58E8-FF0B-4871-4DB8-C4CC065A1C89}" created="2026-02-24T18:00:35.848">
        <p188:txBody>
          <a:bodyPr/>
          <a:lstStyle/>
          <a:p>
            <a:r>
              <a:rPr lang="en-US"/>
              <a:t>remade it, fixed</a:t>
            </a:r>
          </a:p>
        </p188:txBody>
      </p188:reply>
      <p188:reply id="{14A80FC3-F83B-49DE-B3DD-37B034FB0064}" authorId="{1F1486C6-DE33-2E26-9339-4FD9AFAD3426}" created="2026-02-24T18:11:57.919">
        <p188:txBody>
          <a:bodyPr/>
          <a:lstStyle/>
          <a:p>
            <a:r>
              <a:rPr lang="en-US"/>
              <a:t>[@Sean Cowan] This got me thinking... You may already be thinking about this, but given how quickly AI is evolving, it may be worth emphasizing in your opening remarks that this presentation has been updated with the latest and greatest as of this month (or even, this week, if applicable) to ensure relevancy for our teams.</a:t>
            </a:r>
          </a:p>
        </p188:txBody>
      </p188:reply>
      <p188:reply id="{60577288-9101-CB46-BB52-AC3A4185B538}" authorId="{11C6FC0C-2AD4-3208-9F41-4355DD3E76A2}" created="2026-02-24T20:44:52.960">
        <p188:txBody>
          <a:bodyPr/>
          <a:lstStyle/>
          <a:p>
            <a:r>
              <a:rPr lang="en-US"/>
              <a:t>will do, thank you
</a:t>
            </a:r>
          </a:p>
        </p188:txBody>
      </p188:reply>
    </p188:replyLst>
    <p188:txBody>
      <a:bodyPr/>
      <a:lstStyle/>
      <a:p>
        <a:r>
          <a:rPr lang="en-US"/>
          <a:t>where does this chart live? I have updated Feb data from the source provided. (super marginal but we can update if we want most up to date)</a:t>
        </a:r>
      </a:p>
    </p188:txBody>
  </p188:cm>
</p188:cmLst>
</file>

<file path=ppt/comments/modernComment_142_DE5C9CF4.xml><?xml version="1.0" encoding="utf-8"?>
<p188:cmLst xmlns:a="http://schemas.openxmlformats.org/drawingml/2006/main" xmlns:r="http://schemas.openxmlformats.org/officeDocument/2006/relationships" xmlns:p188="http://schemas.microsoft.com/office/powerpoint/2018/8/main">
  <p188:cm id="{CEE0F844-28C4-C349-BF9D-F83DA297F42E}" authorId="{1E5B58E8-FF0B-4871-4DB8-C4CC065A1C89}" created="2026-02-24T17:43:33.156">
    <pc:sldMkLst xmlns:pc="http://schemas.microsoft.com/office/powerpoint/2013/main/command">
      <pc:docMk/>
      <pc:sldMk cId="3730611444" sldId="322"/>
    </pc:sldMkLst>
    <p188:txBody>
      <a:bodyPr/>
      <a:lstStyle/>
      <a:p>
        <a:r>
          <a:rPr lang="en-US"/>
          <a:t>I don't have access to biz insider to confirm the data</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02BB5C-6AEC-F54D-A3E0-B4FEBA1B8D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021BAF7-F880-1D45-BFC8-544D75A133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12D87F-C628-744C-BBC5-084812FC75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85CE6B-2202-7D45-9882-612410F39FE6}" type="slidenum">
              <a:rPr lang="en-US" smtClean="0"/>
              <a:t>‹#›</a:t>
            </a:fld>
            <a:endParaRPr lang="en-US"/>
          </a:p>
        </p:txBody>
      </p:sp>
    </p:spTree>
    <p:extLst>
      <p:ext uri="{BB962C8B-B14F-4D97-AF65-F5344CB8AC3E}">
        <p14:creationId xmlns:p14="http://schemas.microsoft.com/office/powerpoint/2010/main" val="564188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505BBE-10C0-3E46-B399-59C4B19BADCB}"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3A16F-2403-3C41-979C-FD16A953347B}" type="slidenum">
              <a:rPr lang="en-US" smtClean="0"/>
              <a:t>‹#›</a:t>
            </a:fld>
            <a:endParaRPr lang="en-US"/>
          </a:p>
        </p:txBody>
      </p:sp>
    </p:spTree>
    <p:extLst>
      <p:ext uri="{BB962C8B-B14F-4D97-AF65-F5344CB8AC3E}">
        <p14:creationId xmlns:p14="http://schemas.microsoft.com/office/powerpoint/2010/main" val="2984399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B3A16F-2403-3C41-979C-FD16A953347B}" type="slidenum">
              <a:rPr lang="en-US" smtClean="0"/>
              <a:t>1</a:t>
            </a:fld>
            <a:endParaRPr lang="en-US"/>
          </a:p>
        </p:txBody>
      </p:sp>
    </p:spTree>
    <p:extLst>
      <p:ext uri="{BB962C8B-B14F-4D97-AF65-F5344CB8AC3E}">
        <p14:creationId xmlns:p14="http://schemas.microsoft.com/office/powerpoint/2010/main" val="7214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A9FF-CC43-A994-CF0B-B15336B24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427D1-56A5-E95D-F2D6-49EC3EACC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BC618-BB07-7065-4EB9-C4198DC4AA52}"/>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6C9E3FF5-FB32-5A02-4771-1DA8646287D9}"/>
              </a:ext>
            </a:extLst>
          </p:cNvPr>
          <p:cNvSpPr>
            <a:spLocks noGrp="1"/>
          </p:cNvSpPr>
          <p:nvPr>
            <p:ph type="sldNum" sz="quarter" idx="5"/>
          </p:nvPr>
        </p:nvSpPr>
        <p:spPr/>
        <p:txBody>
          <a:bodyPr/>
          <a:lstStyle/>
          <a:p>
            <a:fld id="{39B3A16F-2403-3C41-979C-FD16A953347B}" type="slidenum">
              <a:rPr lang="en-US" smtClean="0"/>
              <a:t>4</a:t>
            </a:fld>
            <a:endParaRPr lang="en-US"/>
          </a:p>
        </p:txBody>
      </p:sp>
    </p:spTree>
    <p:extLst>
      <p:ext uri="{BB962C8B-B14F-4D97-AF65-F5344CB8AC3E}">
        <p14:creationId xmlns:p14="http://schemas.microsoft.com/office/powerpoint/2010/main" val="280769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1. Are you using Large Language Models (LLMs, like ChatGPT) for search in place of traditional Google searches?</a:t>
            </a:r>
            <a:br>
              <a:rPr lang="en-US" sz="1200" b="0" i="0" u="none" strike="noStrike"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rPr>
              <a:t>(Single choice)</a:t>
            </a:r>
          </a:p>
          <a:p>
            <a:r>
              <a:rPr lang="en-US" sz="1200" b="0" i="0" u="none" strike="noStrike" kern="1200">
                <a:solidFill>
                  <a:schemeClr val="tx1"/>
                </a:solidFill>
                <a:effectLst/>
                <a:latin typeface="+mn-lt"/>
                <a:ea typeface="+mn-ea"/>
                <a:cs typeface="+mn-cs"/>
              </a:rPr>
              <a:t>Yes — frequently</a:t>
            </a:r>
          </a:p>
          <a:p>
            <a:r>
              <a:rPr lang="en-US" sz="1200" b="0" i="0" u="none" strike="noStrike" kern="1200">
                <a:solidFill>
                  <a:schemeClr val="tx1"/>
                </a:solidFill>
                <a:effectLst/>
                <a:latin typeface="+mn-lt"/>
                <a:ea typeface="+mn-ea"/>
                <a:cs typeface="+mn-cs"/>
              </a:rPr>
              <a:t>Yes — occasionally</a:t>
            </a:r>
          </a:p>
          <a:p>
            <a:r>
              <a:rPr lang="en-US" sz="1200" b="0" i="0" u="none" strike="noStrike" kern="1200">
                <a:solidFill>
                  <a:schemeClr val="tx1"/>
                </a:solidFill>
                <a:effectLst/>
                <a:latin typeface="+mn-lt"/>
                <a:ea typeface="+mn-ea"/>
                <a:cs typeface="+mn-cs"/>
              </a:rPr>
              <a:t>Not yet, but I'm interested</a:t>
            </a:r>
          </a:p>
          <a:p>
            <a:r>
              <a:rPr lang="en-US" sz="1200" b="0" i="0" u="none" strike="noStrike" kern="1200">
                <a:solidFill>
                  <a:schemeClr val="tx1"/>
                </a:solidFill>
                <a:effectLst/>
                <a:latin typeface="+mn-lt"/>
                <a:ea typeface="+mn-ea"/>
                <a:cs typeface="+mn-cs"/>
              </a:rPr>
              <a:t>No — I don't use LLMs for search</a:t>
            </a:r>
          </a:p>
          <a:p>
            <a:r>
              <a:rPr lang="en-US" sz="1200" b="1" i="0" u="none" strike="noStrike" kern="1200">
                <a:solidFill>
                  <a:schemeClr val="tx1"/>
                </a:solidFill>
                <a:effectLst/>
                <a:latin typeface="+mn-lt"/>
                <a:ea typeface="+mn-ea"/>
                <a:cs typeface="+mn-cs"/>
              </a:rPr>
              <a:t> </a:t>
            </a:r>
            <a:endParaRPr lang="en-US" sz="1200" b="0"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2. Have you heard clients inquiring about this activity and its relevance to their business?</a:t>
            </a:r>
            <a:br>
              <a:rPr lang="en-US" sz="1200" b="0" i="0" u="none" strike="noStrike" kern="1200">
                <a:solidFill>
                  <a:schemeClr val="tx1"/>
                </a:solidFill>
                <a:effectLst/>
                <a:latin typeface="+mn-lt"/>
                <a:ea typeface="+mn-ea"/>
                <a:cs typeface="+mn-cs"/>
              </a:rPr>
            </a:br>
            <a:r>
              <a:rPr lang="en-US" sz="1200" b="0" i="0" u="none" strike="noStrike" kern="1200">
                <a:solidFill>
                  <a:schemeClr val="tx1"/>
                </a:solidFill>
                <a:effectLst/>
                <a:latin typeface="+mn-lt"/>
                <a:ea typeface="+mn-ea"/>
                <a:cs typeface="+mn-cs"/>
              </a:rPr>
              <a:t>(Single choice)</a:t>
            </a:r>
          </a:p>
          <a:p>
            <a:r>
              <a:rPr lang="en-US" sz="1200" b="0" i="0" u="none" strike="noStrike" kern="1200">
                <a:solidFill>
                  <a:schemeClr val="tx1"/>
                </a:solidFill>
                <a:effectLst/>
                <a:latin typeface="+mn-lt"/>
                <a:ea typeface="+mn-ea"/>
                <a:cs typeface="+mn-cs"/>
              </a:rPr>
              <a:t>Yes — clients are actively asking about it</a:t>
            </a:r>
          </a:p>
          <a:p>
            <a:r>
              <a:rPr lang="en-US" sz="1200" b="0" i="0" u="none" strike="noStrike" kern="1200">
                <a:solidFill>
                  <a:schemeClr val="tx1"/>
                </a:solidFill>
                <a:effectLst/>
                <a:latin typeface="+mn-lt"/>
                <a:ea typeface="+mn-ea"/>
                <a:cs typeface="+mn-cs"/>
              </a:rPr>
              <a:t>Somewhat — it's come up in conversation</a:t>
            </a:r>
          </a:p>
          <a:p>
            <a:r>
              <a:rPr lang="en-US" sz="1200" b="0" i="0" u="none" strike="noStrike" kern="1200">
                <a:solidFill>
                  <a:schemeClr val="tx1"/>
                </a:solidFill>
                <a:effectLst/>
                <a:latin typeface="+mn-lt"/>
                <a:ea typeface="+mn-ea"/>
                <a:cs typeface="+mn-cs"/>
              </a:rPr>
              <a:t>Not yet — but I'm expecting it soon</a:t>
            </a:r>
          </a:p>
          <a:p>
            <a:r>
              <a:rPr lang="en-US" sz="1200" b="0" i="0" u="none" strike="noStrike" kern="1200">
                <a:solidFill>
                  <a:schemeClr val="tx1"/>
                </a:solidFill>
                <a:effectLst/>
                <a:latin typeface="+mn-lt"/>
                <a:ea typeface="+mn-ea"/>
                <a:cs typeface="+mn-cs"/>
              </a:rPr>
              <a:t>No — it hasn't come up</a:t>
            </a:r>
          </a:p>
          <a:p>
            <a:endParaRPr lang="en-US"/>
          </a:p>
        </p:txBody>
      </p:sp>
      <p:sp>
        <p:nvSpPr>
          <p:cNvPr id="4" name="Slide Number Placeholder 3"/>
          <p:cNvSpPr>
            <a:spLocks noGrp="1"/>
          </p:cNvSpPr>
          <p:nvPr>
            <p:ph type="sldNum" sz="quarter" idx="5"/>
          </p:nvPr>
        </p:nvSpPr>
        <p:spPr/>
        <p:txBody>
          <a:bodyPr/>
          <a:lstStyle/>
          <a:p>
            <a:fld id="{39B3A16F-2403-3C41-979C-FD16A953347B}" type="slidenum">
              <a:rPr lang="en-US" smtClean="0"/>
              <a:t>5</a:t>
            </a:fld>
            <a:endParaRPr lang="en-US"/>
          </a:p>
        </p:txBody>
      </p:sp>
    </p:spTree>
    <p:extLst>
      <p:ext uri="{BB962C8B-B14F-4D97-AF65-F5344CB8AC3E}">
        <p14:creationId xmlns:p14="http://schemas.microsoft.com/office/powerpoint/2010/main" val="266091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5086E-7E62-E92B-9AA3-675763A5D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2A636-C08C-B60A-9484-0019FFB5D2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207550-651D-CF1A-E906-EEE5DE39F0EE}"/>
              </a:ext>
            </a:extLst>
          </p:cNvPr>
          <p:cNvSpPr>
            <a:spLocks noGrp="1"/>
          </p:cNvSpPr>
          <p:nvPr>
            <p:ph type="body" idx="1"/>
          </p:nvPr>
        </p:nvSpPr>
        <p:spPr/>
        <p:txBody>
          <a:bodyPr/>
          <a:lstStyle/>
          <a:p>
            <a:r>
              <a:rPr lang="en-US"/>
              <a:t>
- ChatGPT public release date (Nov 30, 2022): https://</a:t>
            </a:r>
            <a:r>
              <a:rPr lang="en-US" err="1"/>
              <a:t>www.history.com</a:t>
            </a:r>
            <a:r>
              <a:rPr lang="en-US"/>
              <a:t>/this-day-in-history/november-30/</a:t>
            </a:r>
            <a:r>
              <a:rPr lang="en-US" err="1"/>
              <a:t>chatgpt</a:t>
            </a:r>
            <a:r>
              <a:rPr lang="en-US"/>
              <a:t>-released-</a:t>
            </a:r>
            <a:r>
              <a:rPr lang="en-US" err="1"/>
              <a:t>openai</a:t>
            </a:r>
            <a:r>
              <a:rPr lang="en-US"/>
              <a:t>
- Google AI Overviews expansion (100+ countries; 1B+ monthly users): https://</a:t>
            </a:r>
            <a:r>
              <a:rPr lang="en-US" err="1"/>
              <a:t>blog.google</a:t>
            </a:r>
            <a:r>
              <a:rPr lang="en-US"/>
              <a:t>/products-and-platforms/products/search/ai-overviews-search-october-2024/
- ChatGPT 800M weekly active users (Altman quote): https://</a:t>
            </a:r>
            <a:r>
              <a:rPr lang="en-US" err="1"/>
              <a:t>techcrunch.com</a:t>
            </a:r>
            <a:r>
              <a:rPr lang="en-US"/>
              <a:t>/2025/10/06/sam-altman-says-chatgpt-has-hit-800m-weekly-active-users/
- Reuters on </a:t>
            </a:r>
            <a:r>
              <a:rPr lang="en-US" err="1"/>
              <a:t>OpenClaw</a:t>
            </a:r>
            <a:r>
              <a:rPr lang="en-US"/>
              <a:t> warning and </a:t>
            </a:r>
            <a:r>
              <a:rPr lang="en-US" err="1"/>
              <a:t>Moltbook</a:t>
            </a:r>
            <a:r>
              <a:rPr lang="en-US"/>
              <a:t> vulnerability context (Feb 5, 2026): https://</a:t>
            </a:r>
            <a:r>
              <a:rPr lang="en-US" err="1"/>
              <a:t>www.reuters.com</a:t>
            </a:r>
            <a:r>
              <a:rPr lang="en-US"/>
              <a:t>/world/</a:t>
            </a:r>
            <a:r>
              <a:rPr lang="en-US" err="1"/>
              <a:t>china</a:t>
            </a:r>
            <a:r>
              <a:rPr lang="en-US"/>
              <a:t>/china-warns-security-risks-linked-openclaw-open-source-ai-agent-2026-02-05/
  </a:t>
            </a:r>
          </a:p>
        </p:txBody>
      </p:sp>
      <p:sp>
        <p:nvSpPr>
          <p:cNvPr id="4" name="Slide Number Placeholder 3">
            <a:extLst>
              <a:ext uri="{FF2B5EF4-FFF2-40B4-BE49-F238E27FC236}">
                <a16:creationId xmlns:a16="http://schemas.microsoft.com/office/drawing/2014/main" id="{03A06DDD-433E-AEA1-07E0-CCF6944ACA2A}"/>
              </a:ext>
            </a:extLst>
          </p:cNvPr>
          <p:cNvSpPr>
            <a:spLocks noGrp="1"/>
          </p:cNvSpPr>
          <p:nvPr>
            <p:ph type="sldNum" sz="quarter" idx="5"/>
          </p:nvPr>
        </p:nvSpPr>
        <p:spPr/>
        <p:txBody>
          <a:bodyPr/>
          <a:lstStyle/>
          <a:p>
            <a:fld id="{DEF92216-29F5-4FA0-AC69-C3C4EE294894}" type="slidenum">
              <a:rPr lang="en-US" smtClean="0"/>
              <a:t>7</a:t>
            </a:fld>
            <a:endParaRPr lang="en-US"/>
          </a:p>
        </p:txBody>
      </p:sp>
    </p:spTree>
    <p:extLst>
      <p:ext uri="{BB962C8B-B14F-4D97-AF65-F5344CB8AC3E}">
        <p14:creationId xmlns:p14="http://schemas.microsoft.com/office/powerpoint/2010/main" val="1566322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400"/>
              <a:t>https://</a:t>
            </a:r>
            <a:r>
              <a:rPr lang="en-US" sz="1400" err="1"/>
              <a:t>searchengineland.com</a:t>
            </a:r>
            <a:r>
              <a:rPr lang="en-US" sz="1400"/>
              <a:t>/guide/what-is-ai-</a:t>
            </a:r>
            <a:r>
              <a:rPr lang="en-US" sz="1400" err="1"/>
              <a:t>seo</a:t>
            </a: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This is the notable source^^^^</a:t>
            </a:r>
          </a:p>
          <a:p>
            <a:endParaRPr lang="en-US" sz="1400"/>
          </a:p>
          <a:p>
            <a:r>
              <a:rPr lang="en-US" sz="1400"/>
              <a:t>https://</a:t>
            </a:r>
            <a:r>
              <a:rPr lang="en-US" sz="1400" err="1"/>
              <a:t>ahrefs.com</a:t>
            </a:r>
            <a:r>
              <a:rPr lang="en-US" sz="1400"/>
              <a:t>/blog/ai-overviews-reduce-clicks-update/</a:t>
            </a:r>
          </a:p>
          <a:p>
            <a:r>
              <a:rPr lang="en-US" sz="1400"/>
              <a:t>https://</a:t>
            </a:r>
            <a:r>
              <a:rPr lang="en-US" sz="1400" err="1"/>
              <a:t>www.seerinteractive.com</a:t>
            </a:r>
            <a:r>
              <a:rPr lang="en-US" sz="1400"/>
              <a:t>/insights/aio-impact-on-google-ctr-september-2025-update</a:t>
            </a:r>
          </a:p>
          <a:p>
            <a:br>
              <a:rPr lang="en-US" sz="1400"/>
            </a:br>
            <a:br>
              <a:rPr lang="en-US" sz="1400"/>
            </a:br>
            <a:r>
              <a:rPr lang="en-US" sz="1400"/>
              <a:t>Sources:</a:t>
            </a:r>
            <a:br>
              <a:rPr lang="en-US" sz="1400"/>
            </a:br>
            <a:r>
              <a:rPr lang="en-US" sz="1400"/>
              <a:t>https://</a:t>
            </a:r>
            <a:r>
              <a:rPr lang="en-US" sz="1400" err="1"/>
              <a:t>mikekhorev.com</a:t>
            </a:r>
            <a:r>
              <a:rPr lang="en-US" sz="1400"/>
              <a:t>/ai-</a:t>
            </a:r>
            <a:r>
              <a:rPr lang="en-US" sz="1400" err="1"/>
              <a:t>seo</a:t>
            </a:r>
            <a:r>
              <a:rPr lang="en-US" sz="1400"/>
              <a:t>-trends</a:t>
            </a:r>
            <a:br>
              <a:rPr lang="en-US" sz="1400"/>
            </a:br>
            <a:r>
              <a:rPr lang="en-US" sz="1400"/>
              <a:t>https://</a:t>
            </a:r>
            <a:r>
              <a:rPr lang="en-US" sz="1400" err="1"/>
              <a:t>www.conductor.com</a:t>
            </a:r>
            <a:r>
              <a:rPr lang="en-US" sz="1400"/>
              <a:t>/academy/</a:t>
            </a:r>
            <a:r>
              <a:rPr lang="en-US" sz="1400" err="1"/>
              <a:t>seo</a:t>
            </a:r>
            <a:r>
              <a:rPr lang="en-US" sz="1400"/>
              <a:t>-content-predictions/</a:t>
            </a:r>
          </a:p>
          <a:p>
            <a:r>
              <a:rPr lang="en-US" sz="1400"/>
              <a:t>https://</a:t>
            </a:r>
            <a:r>
              <a:rPr lang="en-US" sz="1400" err="1"/>
              <a:t>searchengineland.com</a:t>
            </a:r>
            <a:r>
              <a:rPr lang="en-US" sz="1400"/>
              <a:t>/how-ai-is-reshaping-seo-challenges-opportunities-and-brand-strategies-for-2025-456926</a:t>
            </a:r>
          </a:p>
        </p:txBody>
      </p:sp>
      <p:sp>
        <p:nvSpPr>
          <p:cNvPr id="4" name="Slide Number Placeholder 3"/>
          <p:cNvSpPr>
            <a:spLocks noGrp="1"/>
          </p:cNvSpPr>
          <p:nvPr>
            <p:ph type="sldNum" sz="quarter" idx="5"/>
          </p:nvPr>
        </p:nvSpPr>
        <p:spPr/>
        <p:txBody>
          <a:bodyPr/>
          <a:lstStyle/>
          <a:p>
            <a:fld id="{39B3A16F-2403-3C41-979C-FD16A953347B}" type="slidenum">
              <a:rPr lang="en-US" smtClean="0"/>
              <a:t>8</a:t>
            </a:fld>
            <a:endParaRPr lang="en-US"/>
          </a:p>
        </p:txBody>
      </p:sp>
    </p:spTree>
    <p:extLst>
      <p:ext uri="{BB962C8B-B14F-4D97-AF65-F5344CB8AC3E}">
        <p14:creationId xmlns:p14="http://schemas.microsoft.com/office/powerpoint/2010/main" val="896271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400"/>
              <a:t>clients are already feeling this shift in their organic traffic</a:t>
            </a:r>
          </a:p>
          <a:p>
            <a:endParaRPr lang="en-US" sz="1400"/>
          </a:p>
          <a:p>
            <a:r>
              <a:rPr lang="en-US" sz="1400"/>
              <a:t>Sources:</a:t>
            </a:r>
            <a:br>
              <a:rPr lang="en-US" sz="1400"/>
            </a:br>
            <a:r>
              <a:rPr lang="en-US" sz="1400"/>
              <a:t>First statistic: </a:t>
            </a:r>
          </a:p>
          <a:p>
            <a:r>
              <a:rPr lang="en-US" sz="1400"/>
              <a:t>https://</a:t>
            </a:r>
            <a:r>
              <a:rPr lang="en-US" sz="1400" err="1"/>
              <a:t>www.semrush.com</a:t>
            </a:r>
            <a:r>
              <a:rPr lang="en-US" sz="1400"/>
              <a:t>/blog/ai-search-</a:t>
            </a:r>
            <a:r>
              <a:rPr lang="en-US" sz="1400" err="1"/>
              <a:t>seo</a:t>
            </a:r>
            <a:r>
              <a:rPr lang="en-US" sz="1400"/>
              <a:t>-traffic-study/</a:t>
            </a:r>
          </a:p>
          <a:p>
            <a:r>
              <a:rPr lang="en-US" sz="1400"/>
              <a:t>Second stat: </a:t>
            </a:r>
          </a:p>
          <a:p>
            <a:r>
              <a:rPr lang="en-US" sz="1400"/>
              <a:t>https://</a:t>
            </a:r>
            <a:r>
              <a:rPr lang="en-US" sz="1400" err="1"/>
              <a:t>sherwood.news</a:t>
            </a:r>
            <a:r>
              <a:rPr lang="en-US" sz="1400"/>
              <a:t>/tech/chatgpt-reaches-nearly-900-million-weekly-active-users/</a:t>
            </a:r>
          </a:p>
          <a:p>
            <a:r>
              <a:rPr lang="en-US" sz="1400"/>
              <a:t>https://</a:t>
            </a:r>
            <a:r>
              <a:rPr lang="en-US" sz="1400" err="1"/>
              <a:t>seekingalpha.com</a:t>
            </a:r>
            <a:r>
              <a:rPr lang="en-US" sz="1400"/>
              <a:t>/news/4529731-chatgpt-reaches-900m-weekly-active-users-but-gemini-adoption-continues-to-heat-up-report</a:t>
            </a:r>
          </a:p>
          <a:p>
            <a:r>
              <a:rPr lang="en-US" sz="1400"/>
              <a:t>https://</a:t>
            </a:r>
            <a:r>
              <a:rPr lang="en-US" sz="1400" err="1"/>
              <a:t>www.cnbc.com</a:t>
            </a:r>
            <a:r>
              <a:rPr lang="en-US" sz="1400"/>
              <a:t>/2026/02/20/openai-resets-spend-expectations-targets-around-600-billion-by-2030.html#:~:text=In%20addition%20to%20Nvidia%2C%20strategic,Squawk%20Box%20Europe</a:t>
            </a:r>
          </a:p>
          <a:p>
            <a:endParaRPr lang="en-US" sz="1400"/>
          </a:p>
          <a:p>
            <a:r>
              <a:rPr lang="en-US" sz="1400"/>
              <a:t>https://</a:t>
            </a:r>
            <a:r>
              <a:rPr lang="en-US" sz="1400" err="1"/>
              <a:t>www.semrush.com</a:t>
            </a:r>
            <a:r>
              <a:rPr lang="en-US" sz="1400"/>
              <a:t>/blog/</a:t>
            </a:r>
            <a:r>
              <a:rPr lang="en-US" sz="1400" err="1"/>
              <a:t>semrush</a:t>
            </a:r>
            <a:r>
              <a:rPr lang="en-US" sz="1400"/>
              <a:t>-ai-overviews-study/</a:t>
            </a:r>
          </a:p>
          <a:p>
            <a:r>
              <a:rPr lang="en-US" sz="1400"/>
              <a:t>https://</a:t>
            </a:r>
            <a:r>
              <a:rPr lang="en-US" sz="1400" err="1"/>
              <a:t>www.semrush.com</a:t>
            </a:r>
            <a:r>
              <a:rPr lang="en-US" sz="1400"/>
              <a:t>/blog/how-to-rank-in-ai-search/</a:t>
            </a:r>
          </a:p>
          <a:p>
            <a:r>
              <a:rPr lang="en-US" sz="1400"/>
              <a:t>https://</a:t>
            </a:r>
            <a:r>
              <a:rPr lang="en-US" sz="1400" err="1"/>
              <a:t>www.semrush.com</a:t>
            </a:r>
            <a:r>
              <a:rPr lang="en-US" sz="1400"/>
              <a:t>/blog/ai-search-</a:t>
            </a:r>
            <a:r>
              <a:rPr lang="en-US" sz="1400" err="1"/>
              <a:t>seo</a:t>
            </a:r>
            <a:r>
              <a:rPr lang="en-US" sz="1400"/>
              <a:t>-traffic-study/</a:t>
            </a:r>
          </a:p>
          <a:p>
            <a:br>
              <a:rPr lang="en-US" sz="1400"/>
            </a:br>
            <a:endParaRPr lang="en-US" sz="1400"/>
          </a:p>
        </p:txBody>
      </p:sp>
      <p:sp>
        <p:nvSpPr>
          <p:cNvPr id="4" name="Slide Number Placeholder 3"/>
          <p:cNvSpPr>
            <a:spLocks noGrp="1"/>
          </p:cNvSpPr>
          <p:nvPr>
            <p:ph type="sldNum" sz="quarter" idx="5"/>
          </p:nvPr>
        </p:nvSpPr>
        <p:spPr/>
        <p:txBody>
          <a:bodyPr/>
          <a:lstStyle/>
          <a:p>
            <a:fld id="{39B3A16F-2403-3C41-979C-FD16A953347B}" type="slidenum">
              <a:rPr lang="en-US" smtClean="0"/>
              <a:t>9</a:t>
            </a:fld>
            <a:endParaRPr lang="en-US"/>
          </a:p>
        </p:txBody>
      </p:sp>
    </p:spTree>
    <p:extLst>
      <p:ext uri="{BB962C8B-B14F-4D97-AF65-F5344CB8AC3E}">
        <p14:creationId xmlns:p14="http://schemas.microsoft.com/office/powerpoint/2010/main" val="3599706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DA914-AFC3-C033-FF52-474CBA29E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4E018-AD51-7419-752D-3D06EDBB8E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AD4162-6F45-D972-026A-CB98BD64EA30}"/>
              </a:ext>
            </a:extLst>
          </p:cNvPr>
          <p:cNvSpPr>
            <a:spLocks noGrp="1"/>
          </p:cNvSpPr>
          <p:nvPr>
            <p:ph type="body" idx="1"/>
          </p:nvPr>
        </p:nvSpPr>
        <p:spPr/>
        <p:txBody>
          <a:bodyPr/>
          <a:lstStyle/>
          <a:p>
            <a:r>
              <a:rPr lang="en-US" sz="1400"/>
              <a:t>SEO is no longer just about ranking highly; it's about appearing in AI-generated answers</a:t>
            </a:r>
          </a:p>
          <a:p>
            <a:endParaRPr lang="en-US" sz="1400"/>
          </a:p>
          <a:p>
            <a:r>
              <a:rPr lang="en-US" sz="1400"/>
              <a:t>Source:</a:t>
            </a:r>
            <a:br>
              <a:rPr lang="en-US" sz="1400"/>
            </a:br>
            <a:r>
              <a:rPr lang="en-US" sz="1400"/>
              <a:t>https://</a:t>
            </a:r>
            <a:r>
              <a:rPr lang="en-US" sz="1400" err="1"/>
              <a:t>firstpagesage.com</a:t>
            </a:r>
            <a:r>
              <a:rPr lang="en-US" sz="1400"/>
              <a:t>/reports/top-generative-ai-chatbots/</a:t>
            </a:r>
            <a:br>
              <a:rPr lang="en-US" sz="1400"/>
            </a:br>
            <a:r>
              <a:rPr lang="en-US" sz="1400" strike="sngStrike"/>
              <a:t>https://</a:t>
            </a:r>
            <a:r>
              <a:rPr lang="en-US" sz="1400" strike="sngStrike" err="1"/>
              <a:t>www.helloroketto.com</a:t>
            </a:r>
            <a:r>
              <a:rPr lang="en-US" sz="1400" strike="sngStrike"/>
              <a:t>/articles/future-of-</a:t>
            </a:r>
            <a:r>
              <a:rPr lang="en-US" sz="1400" strike="sngStrike" err="1"/>
              <a:t>seo</a:t>
            </a:r>
            <a:endParaRPr lang="en-US" sz="1400" strike="sngStrike"/>
          </a:p>
          <a:p>
            <a:r>
              <a:rPr lang="en-US" sz="1400" strike="sngStrike"/>
              <a:t>https://</a:t>
            </a:r>
            <a:r>
              <a:rPr lang="en-US" sz="1400" strike="sngStrike" err="1"/>
              <a:t>www.concordusa.com</a:t>
            </a:r>
            <a:r>
              <a:rPr lang="en-US" sz="1400" strike="sngStrike"/>
              <a:t>/blog/the-evolution-of-search-in-2025-what-ai-means-for-seo</a:t>
            </a:r>
          </a:p>
        </p:txBody>
      </p:sp>
      <p:sp>
        <p:nvSpPr>
          <p:cNvPr id="4" name="Slide Number Placeholder 3">
            <a:extLst>
              <a:ext uri="{FF2B5EF4-FFF2-40B4-BE49-F238E27FC236}">
                <a16:creationId xmlns:a16="http://schemas.microsoft.com/office/drawing/2014/main" id="{541EC527-A5AB-824B-1B72-AE47FC9A8773}"/>
              </a:ext>
            </a:extLst>
          </p:cNvPr>
          <p:cNvSpPr>
            <a:spLocks noGrp="1"/>
          </p:cNvSpPr>
          <p:nvPr>
            <p:ph type="sldNum" sz="quarter" idx="5"/>
          </p:nvPr>
        </p:nvSpPr>
        <p:spPr/>
        <p:txBody>
          <a:bodyPr/>
          <a:lstStyle/>
          <a:p>
            <a:fld id="{39B3A16F-2403-3C41-979C-FD16A953347B}" type="slidenum">
              <a:rPr lang="en-US" smtClean="0"/>
              <a:t>10</a:t>
            </a:fld>
            <a:endParaRPr lang="en-US"/>
          </a:p>
        </p:txBody>
      </p:sp>
    </p:spTree>
    <p:extLst>
      <p:ext uri="{BB962C8B-B14F-4D97-AF65-F5344CB8AC3E}">
        <p14:creationId xmlns:p14="http://schemas.microsoft.com/office/powerpoint/2010/main" val="1239620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BE275-9400-5657-DE97-002F11105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654AE-1B68-10F7-5CE8-D1DE729727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6D5B09-0CBE-D59B-5AD1-73A573357160}"/>
              </a:ext>
            </a:extLst>
          </p:cNvPr>
          <p:cNvSpPr>
            <a:spLocks noGrp="1"/>
          </p:cNvSpPr>
          <p:nvPr>
            <p:ph type="body" idx="1"/>
          </p:nvPr>
        </p:nvSpPr>
        <p:spPr/>
        <p:txBody>
          <a:bodyPr/>
          <a:lstStyle/>
          <a:p>
            <a:r>
              <a:rPr lang="en-US" sz="1400"/>
              <a:t>Source:</a:t>
            </a:r>
            <a:br>
              <a:rPr lang="en-US" sz="1400"/>
            </a:br>
            <a:r>
              <a:rPr lang="en-US" sz="1400"/>
              <a:t>https://</a:t>
            </a:r>
            <a:r>
              <a:rPr lang="en-US" sz="1400" err="1"/>
              <a:t>www.businessinsider.com</a:t>
            </a:r>
            <a:r>
              <a:rPr lang="en-US" sz="1400"/>
              <a:t>/chatgpt-crushing-google-ai-unless-you-look-data-differently-2025-4</a:t>
            </a:r>
          </a:p>
          <a:p>
            <a:r>
              <a:rPr lang="en-US" sz="1400"/>
              <a:t>https://</a:t>
            </a:r>
            <a:r>
              <a:rPr lang="en-US" sz="1400" err="1"/>
              <a:t>archive.is</a:t>
            </a:r>
            <a:r>
              <a:rPr lang="en-US" sz="1400"/>
              <a:t>/</a:t>
            </a:r>
            <a:r>
              <a:rPr lang="en-US" sz="1400" err="1"/>
              <a:t>wuycm</a:t>
            </a:r>
            <a:endParaRPr lang="en-US" sz="1400"/>
          </a:p>
          <a:p>
            <a:endParaRPr lang="en-US" sz="1400"/>
          </a:p>
        </p:txBody>
      </p:sp>
      <p:sp>
        <p:nvSpPr>
          <p:cNvPr id="4" name="Slide Number Placeholder 3">
            <a:extLst>
              <a:ext uri="{FF2B5EF4-FFF2-40B4-BE49-F238E27FC236}">
                <a16:creationId xmlns:a16="http://schemas.microsoft.com/office/drawing/2014/main" id="{C35F8EB0-11C5-9B0C-F6F9-6A7ECDC46AD1}"/>
              </a:ext>
            </a:extLst>
          </p:cNvPr>
          <p:cNvSpPr>
            <a:spLocks noGrp="1"/>
          </p:cNvSpPr>
          <p:nvPr>
            <p:ph type="sldNum" sz="quarter" idx="5"/>
          </p:nvPr>
        </p:nvSpPr>
        <p:spPr/>
        <p:txBody>
          <a:bodyPr/>
          <a:lstStyle/>
          <a:p>
            <a:fld id="{39B3A16F-2403-3C41-979C-FD16A953347B}" type="slidenum">
              <a:rPr lang="en-US" smtClean="0"/>
              <a:t>11</a:t>
            </a:fld>
            <a:endParaRPr lang="en-US"/>
          </a:p>
        </p:txBody>
      </p:sp>
    </p:spTree>
    <p:extLst>
      <p:ext uri="{BB962C8B-B14F-4D97-AF65-F5344CB8AC3E}">
        <p14:creationId xmlns:p14="http://schemas.microsoft.com/office/powerpoint/2010/main" val="498651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F2B15-6C33-E0F8-8C5C-E72A2E595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8382A-0F4E-021C-4D91-51826A52BA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C51E97-A504-FEB2-F918-94A797F5922B}"/>
              </a:ext>
            </a:extLst>
          </p:cNvPr>
          <p:cNvSpPr>
            <a:spLocks noGrp="1"/>
          </p:cNvSpPr>
          <p:nvPr>
            <p:ph type="body" idx="1"/>
          </p:nvPr>
        </p:nvSpPr>
        <p:spPr/>
        <p:txBody>
          <a:bodyPr/>
          <a:lstStyle/>
          <a:p>
            <a:r>
              <a:rPr lang="en-US" sz="1400"/>
              <a:t>Page Sources:</a:t>
            </a:r>
          </a:p>
          <a:p>
            <a:r>
              <a:rPr lang="en-US" sz="1400"/>
              <a:t>https://</a:t>
            </a:r>
            <a:r>
              <a:rPr lang="en-US" sz="1400" err="1"/>
              <a:t>www.seerinteractive.com</a:t>
            </a:r>
            <a:r>
              <a:rPr lang="en-US" sz="1400"/>
              <a:t>/insights/aio-impact-on-google-ctr-september-2025-update</a:t>
            </a:r>
          </a:p>
          <a:p>
            <a:r>
              <a:rPr lang="en-US" sz="1400" b="1"/>
              <a:t>Organic Search:</a:t>
            </a:r>
            <a:r>
              <a:rPr lang="en-US" sz="1400"/>
              <a:t> With </a:t>
            </a:r>
            <a:r>
              <a:rPr lang="en-US" sz="1400" b="1"/>
              <a:t>AIO present and not cited</a:t>
            </a:r>
            <a:r>
              <a:rPr lang="en-US" sz="1400"/>
              <a:t>, </a:t>
            </a:r>
            <a:r>
              <a:rPr lang="en-US" sz="1400" b="1"/>
              <a:t>organic CTR is 0.52%</a:t>
            </a:r>
            <a:r>
              <a:rPr lang="en-US" sz="1400"/>
              <a:t> and </a:t>
            </a:r>
            <a:r>
              <a:rPr lang="en-US" sz="1400" b="1"/>
              <a:t>down 65.2% YoY</a:t>
            </a:r>
            <a:r>
              <a:rPr lang="en-US" sz="1400"/>
              <a:t> (Q3 2025 YoY).</a:t>
            </a:r>
            <a:endParaRPr lang="en-US" sz="1400" b="1"/>
          </a:p>
          <a:p>
            <a:r>
              <a:rPr lang="en-US" sz="1400" b="1"/>
              <a:t>Paid Search:</a:t>
            </a:r>
            <a:r>
              <a:rPr lang="en-US" sz="1400"/>
              <a:t> With </a:t>
            </a:r>
            <a:r>
              <a:rPr lang="en-US" sz="1400" b="1"/>
              <a:t>AIO present and not cited</a:t>
            </a:r>
            <a:r>
              <a:rPr lang="en-US" sz="1400"/>
              <a:t>, </a:t>
            </a:r>
            <a:r>
              <a:rPr lang="en-US" sz="1400" b="1"/>
              <a:t>paid CTR is 4.14%</a:t>
            </a:r>
            <a:r>
              <a:rPr lang="en-US" sz="1400"/>
              <a:t> and </a:t>
            </a:r>
            <a:r>
              <a:rPr lang="en-US" sz="1400" b="1"/>
              <a:t>down 78.4% YoY</a:t>
            </a:r>
            <a:r>
              <a:rPr lang="en-US" sz="1400"/>
              <a:t> (Q3 2025 YoY). </a:t>
            </a:r>
          </a:p>
        </p:txBody>
      </p:sp>
      <p:sp>
        <p:nvSpPr>
          <p:cNvPr id="4" name="Slide Number Placeholder 3">
            <a:extLst>
              <a:ext uri="{FF2B5EF4-FFF2-40B4-BE49-F238E27FC236}">
                <a16:creationId xmlns:a16="http://schemas.microsoft.com/office/drawing/2014/main" id="{8B6A65CF-C494-509C-823D-41EC76EAD59F}"/>
              </a:ext>
            </a:extLst>
          </p:cNvPr>
          <p:cNvSpPr>
            <a:spLocks noGrp="1"/>
          </p:cNvSpPr>
          <p:nvPr>
            <p:ph type="sldNum" sz="quarter" idx="5"/>
          </p:nvPr>
        </p:nvSpPr>
        <p:spPr/>
        <p:txBody>
          <a:bodyPr/>
          <a:lstStyle/>
          <a:p>
            <a:fld id="{39B3A16F-2403-3C41-979C-FD16A953347B}" type="slidenum">
              <a:rPr lang="en-US" smtClean="0"/>
              <a:t>13</a:t>
            </a:fld>
            <a:endParaRPr lang="en-US"/>
          </a:p>
        </p:txBody>
      </p:sp>
    </p:spTree>
    <p:extLst>
      <p:ext uri="{BB962C8B-B14F-4D97-AF65-F5344CB8AC3E}">
        <p14:creationId xmlns:p14="http://schemas.microsoft.com/office/powerpoint/2010/main" val="1721367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68CF1-478C-03A5-AA8F-95A66317D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9D7E3-7D95-B93A-1E15-4C326AD0D1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8FA8A5-DB60-4AAB-CCC6-4D1E643B26CC}"/>
              </a:ext>
            </a:extLst>
          </p:cNvPr>
          <p:cNvSpPr>
            <a:spLocks noGrp="1"/>
          </p:cNvSpPr>
          <p:nvPr>
            <p:ph type="body" idx="1"/>
          </p:nvPr>
        </p:nvSpPr>
        <p:spPr/>
        <p:txBody>
          <a:bodyPr/>
          <a:lstStyle/>
          <a:p>
            <a:r>
              <a:rPr lang="en-US"/>
              <a:t>B2C source</a:t>
            </a:r>
          </a:p>
          <a:p>
            <a:r>
              <a:rPr lang="en-US"/>
              <a:t>https://</a:t>
            </a:r>
            <a:r>
              <a:rPr lang="en-US" err="1"/>
              <a:t>www.ap.org</a:t>
            </a:r>
            <a:r>
              <a:rPr lang="en-US"/>
              <a:t>/news-highlights/spotlights/2025/how-us-adults-are-using-ai-according-to-ap-</a:t>
            </a:r>
            <a:r>
              <a:rPr lang="en-US" err="1"/>
              <a:t>norc</a:t>
            </a:r>
            <a:r>
              <a:rPr lang="en-US"/>
              <a:t>-polling/</a:t>
            </a:r>
          </a:p>
          <a:p>
            <a:r>
              <a:rPr lang="en-US"/>
              <a:t>B2B source:</a:t>
            </a:r>
          </a:p>
          <a:p>
            <a:r>
              <a:rPr lang="en-US"/>
              <a:t>https://www.digitalcommerce360.com/2025/10/15/generative-ai-traditional-search-b2b-vendor-discovery/</a:t>
            </a:r>
          </a:p>
          <a:p>
            <a:r>
              <a:rPr lang="en-US"/>
              <a:t>Travel source</a:t>
            </a:r>
            <a:br>
              <a:rPr lang="en-US"/>
            </a:br>
            <a:r>
              <a:rPr lang="en-US"/>
              <a:t>https://</a:t>
            </a:r>
            <a:r>
              <a:rPr lang="en-US" err="1"/>
              <a:t>www.prnewswire.com</a:t>
            </a:r>
            <a:r>
              <a:rPr lang="en-US"/>
              <a:t>/news-releases/takeups-the-rise-of-ai-planned-travel-in-2026-report-reveals-ai-is-reshaping-consumer-travel-but-with-room-for-growth-302660388.html</a:t>
            </a:r>
          </a:p>
          <a:p>
            <a:r>
              <a:rPr lang="en-US"/>
              <a:t>Corp Comms:</a:t>
            </a:r>
          </a:p>
          <a:p>
            <a:r>
              <a:rPr lang="en-US"/>
              <a:t>https://</a:t>
            </a:r>
            <a:r>
              <a:rPr lang="en-US" err="1"/>
              <a:t>muckrack.com</a:t>
            </a:r>
            <a:r>
              <a:rPr lang="en-US"/>
              <a:t>/blog/</a:t>
            </a:r>
            <a:r>
              <a:rPr lang="en-US" err="1"/>
              <a:t>how-journalists-feel-about-ai?utm_source</a:t>
            </a:r>
            <a:r>
              <a:rPr lang="en-US"/>
              <a:t>=</a:t>
            </a:r>
            <a:r>
              <a:rPr lang="en-US" err="1"/>
              <a:t>chatgpt.com</a:t>
            </a:r>
            <a:endParaRPr lang="en-US"/>
          </a:p>
        </p:txBody>
      </p:sp>
      <p:sp>
        <p:nvSpPr>
          <p:cNvPr id="4" name="Slide Number Placeholder 3">
            <a:extLst>
              <a:ext uri="{FF2B5EF4-FFF2-40B4-BE49-F238E27FC236}">
                <a16:creationId xmlns:a16="http://schemas.microsoft.com/office/drawing/2014/main" id="{F7161964-4C1C-BF33-4300-58B840CC837B}"/>
              </a:ext>
            </a:extLst>
          </p:cNvPr>
          <p:cNvSpPr>
            <a:spLocks noGrp="1"/>
          </p:cNvSpPr>
          <p:nvPr>
            <p:ph type="sldNum" sz="quarter" idx="5"/>
          </p:nvPr>
        </p:nvSpPr>
        <p:spPr/>
        <p:txBody>
          <a:bodyPr/>
          <a:lstStyle/>
          <a:p>
            <a:fld id="{DEF92216-29F5-4FA0-AC69-C3C4EE294894}" type="slidenum">
              <a:rPr lang="en-US" smtClean="0"/>
              <a:t>14</a:t>
            </a:fld>
            <a:endParaRPr lang="en-US"/>
          </a:p>
        </p:txBody>
      </p:sp>
    </p:spTree>
    <p:extLst>
      <p:ext uri="{BB962C8B-B14F-4D97-AF65-F5344CB8AC3E}">
        <p14:creationId xmlns:p14="http://schemas.microsoft.com/office/powerpoint/2010/main" val="3466635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0378-8C0E-D0E6-7D9D-12C51623B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7FB04-3FD6-47BA-ED83-F416BED4BB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4597C80-7FAA-6C1A-4091-3C9129799831}"/>
              </a:ext>
            </a:extLst>
          </p:cNvPr>
          <p:cNvSpPr>
            <a:spLocks noGrp="1"/>
          </p:cNvSpPr>
          <p:nvPr>
            <p:ph type="body" idx="1"/>
          </p:nvPr>
        </p:nvSpPr>
        <p:spPr/>
        <p:txBody>
          <a:bodyPr/>
          <a:lstStyle/>
          <a:p>
            <a:r>
              <a:rPr lang="en-US" sz="1400"/>
              <a:t>https://</a:t>
            </a:r>
            <a:r>
              <a:rPr lang="en-US" sz="1400" err="1"/>
              <a:t>www.emarketer.com</a:t>
            </a:r>
            <a:r>
              <a:rPr lang="en-US" sz="1400"/>
              <a:t>/content/b2b-tech-cmos-say-traditional-search-already-failing-them (from Stephanie Estes)</a:t>
            </a:r>
          </a:p>
        </p:txBody>
      </p:sp>
      <p:sp>
        <p:nvSpPr>
          <p:cNvPr id="4" name="Slide Number Placeholder 3">
            <a:extLst>
              <a:ext uri="{FF2B5EF4-FFF2-40B4-BE49-F238E27FC236}">
                <a16:creationId xmlns:a16="http://schemas.microsoft.com/office/drawing/2014/main" id="{FCD71FEF-4482-B77D-A0BF-CA0CEE3F27A1}"/>
              </a:ext>
            </a:extLst>
          </p:cNvPr>
          <p:cNvSpPr>
            <a:spLocks noGrp="1"/>
          </p:cNvSpPr>
          <p:nvPr>
            <p:ph type="sldNum" sz="quarter" idx="5"/>
          </p:nvPr>
        </p:nvSpPr>
        <p:spPr/>
        <p:txBody>
          <a:bodyPr/>
          <a:lstStyle/>
          <a:p>
            <a:fld id="{39B3A16F-2403-3C41-979C-FD16A953347B}" type="slidenum">
              <a:rPr lang="en-US" smtClean="0"/>
              <a:t>15</a:t>
            </a:fld>
            <a:endParaRPr lang="en-US"/>
          </a:p>
        </p:txBody>
      </p:sp>
    </p:spTree>
    <p:extLst>
      <p:ext uri="{BB962C8B-B14F-4D97-AF65-F5344CB8AC3E}">
        <p14:creationId xmlns:p14="http://schemas.microsoft.com/office/powerpoint/2010/main" val="3658123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B3A16F-2403-3C41-979C-FD16A953347B}" type="slidenum">
              <a:rPr lang="en-US" smtClean="0"/>
              <a:t>16</a:t>
            </a:fld>
            <a:endParaRPr lang="en-US"/>
          </a:p>
        </p:txBody>
      </p:sp>
    </p:spTree>
    <p:extLst>
      <p:ext uri="{BB962C8B-B14F-4D97-AF65-F5344CB8AC3E}">
        <p14:creationId xmlns:p14="http://schemas.microsoft.com/office/powerpoint/2010/main" val="2137138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5FF2-064F-BA3F-82E1-39A2408D3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BF3FA-282A-6759-DC34-A516BE742E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65210B-60A1-B116-6605-F7A0022B3354}"/>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3E9D3F9C-78F0-5A87-DB31-3516EAD4B494}"/>
              </a:ext>
            </a:extLst>
          </p:cNvPr>
          <p:cNvSpPr>
            <a:spLocks noGrp="1"/>
          </p:cNvSpPr>
          <p:nvPr>
            <p:ph type="sldNum" sz="quarter" idx="5"/>
          </p:nvPr>
        </p:nvSpPr>
        <p:spPr/>
        <p:txBody>
          <a:bodyPr/>
          <a:lstStyle/>
          <a:p>
            <a:fld id="{39B3A16F-2403-3C41-979C-FD16A953347B}" type="slidenum">
              <a:rPr lang="en-US" smtClean="0"/>
              <a:t>17</a:t>
            </a:fld>
            <a:endParaRPr lang="en-US"/>
          </a:p>
        </p:txBody>
      </p:sp>
    </p:spTree>
    <p:extLst>
      <p:ext uri="{BB962C8B-B14F-4D97-AF65-F5344CB8AC3E}">
        <p14:creationId xmlns:p14="http://schemas.microsoft.com/office/powerpoint/2010/main" val="162842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AFBE1-F9EB-5BBA-FAC4-071E7E1C1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BA59A-E330-15E4-3BF6-E888C2F7A9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FF5F22-A268-18DC-1088-1C57040AEB2B}"/>
              </a:ext>
            </a:extLst>
          </p:cNvPr>
          <p:cNvSpPr>
            <a:spLocks noGrp="1"/>
          </p:cNvSpPr>
          <p:nvPr>
            <p:ph type="body" idx="1"/>
          </p:nvPr>
        </p:nvSpPr>
        <p:spPr/>
        <p:txBody>
          <a:bodyPr/>
          <a:lstStyle/>
          <a:p>
            <a:r>
              <a:rPr lang="en-US" sz="1400"/>
              <a:t>4.4X Sources:</a:t>
            </a:r>
          </a:p>
          <a:p>
            <a:r>
              <a:rPr lang="en-US" sz="1400"/>
              <a:t>https://</a:t>
            </a:r>
            <a:r>
              <a:rPr lang="en-US" sz="1400" err="1"/>
              <a:t>www.semrush.com</a:t>
            </a:r>
            <a:r>
              <a:rPr lang="en-US" sz="1400"/>
              <a:t>/blog/ai-search-</a:t>
            </a:r>
            <a:r>
              <a:rPr lang="en-US" sz="1400" err="1"/>
              <a:t>seo</a:t>
            </a:r>
            <a:r>
              <a:rPr lang="en-US" sz="1400"/>
              <a:t>-traffic-study/</a:t>
            </a:r>
          </a:p>
          <a:p>
            <a:br>
              <a:rPr lang="en-US" sz="1400"/>
            </a:br>
            <a:r>
              <a:rPr lang="en-US" sz="1400"/>
              <a:t>https://</a:t>
            </a:r>
            <a:r>
              <a:rPr lang="en-US" sz="1400" err="1"/>
              <a:t>www.conductor.com</a:t>
            </a:r>
            <a:r>
              <a:rPr lang="en-US" sz="1400"/>
              <a:t>/academy/</a:t>
            </a:r>
            <a:r>
              <a:rPr lang="en-US" sz="1400" err="1"/>
              <a:t>seo</a:t>
            </a:r>
            <a:r>
              <a:rPr lang="en-US" sz="1400"/>
              <a:t>-content-predictions/</a:t>
            </a:r>
          </a:p>
          <a:p>
            <a:endParaRPr lang="en-US" sz="1400"/>
          </a:p>
          <a:p>
            <a:endParaRPr lang="en-US" sz="1400"/>
          </a:p>
        </p:txBody>
      </p:sp>
      <p:sp>
        <p:nvSpPr>
          <p:cNvPr id="4" name="Slide Number Placeholder 3">
            <a:extLst>
              <a:ext uri="{FF2B5EF4-FFF2-40B4-BE49-F238E27FC236}">
                <a16:creationId xmlns:a16="http://schemas.microsoft.com/office/drawing/2014/main" id="{A86D149E-8063-8BC5-1E3E-4C14F4C698B6}"/>
              </a:ext>
            </a:extLst>
          </p:cNvPr>
          <p:cNvSpPr>
            <a:spLocks noGrp="1"/>
          </p:cNvSpPr>
          <p:nvPr>
            <p:ph type="sldNum" sz="quarter" idx="5"/>
          </p:nvPr>
        </p:nvSpPr>
        <p:spPr/>
        <p:txBody>
          <a:bodyPr/>
          <a:lstStyle/>
          <a:p>
            <a:fld id="{39B3A16F-2403-3C41-979C-FD16A953347B}" type="slidenum">
              <a:rPr lang="en-US" smtClean="0"/>
              <a:t>18</a:t>
            </a:fld>
            <a:endParaRPr lang="en-US"/>
          </a:p>
        </p:txBody>
      </p:sp>
    </p:spTree>
    <p:extLst>
      <p:ext uri="{BB962C8B-B14F-4D97-AF65-F5344CB8AC3E}">
        <p14:creationId xmlns:p14="http://schemas.microsoft.com/office/powerpoint/2010/main" val="239415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D9DD6-3D13-DB14-38BF-1CB4A1F0DD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760C9-E7E5-F128-B28A-CF8E2C6883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739B23-182F-FA6F-7D5D-88A163CDBF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endParaRPr lang="en-US" sz="1400"/>
          </a:p>
        </p:txBody>
      </p:sp>
      <p:sp>
        <p:nvSpPr>
          <p:cNvPr id="4" name="Slide Number Placeholder 3">
            <a:extLst>
              <a:ext uri="{FF2B5EF4-FFF2-40B4-BE49-F238E27FC236}">
                <a16:creationId xmlns:a16="http://schemas.microsoft.com/office/drawing/2014/main" id="{993EA8B5-8A31-4A4B-E23B-E471664223F4}"/>
              </a:ext>
            </a:extLst>
          </p:cNvPr>
          <p:cNvSpPr>
            <a:spLocks noGrp="1"/>
          </p:cNvSpPr>
          <p:nvPr>
            <p:ph type="sldNum" sz="quarter" idx="5"/>
          </p:nvPr>
        </p:nvSpPr>
        <p:spPr/>
        <p:txBody>
          <a:bodyPr/>
          <a:lstStyle/>
          <a:p>
            <a:fld id="{39B3A16F-2403-3C41-979C-FD16A953347B}" type="slidenum">
              <a:rPr lang="en-US" smtClean="0"/>
              <a:t>19</a:t>
            </a:fld>
            <a:endParaRPr lang="en-US"/>
          </a:p>
        </p:txBody>
      </p:sp>
    </p:spTree>
    <p:extLst>
      <p:ext uri="{BB962C8B-B14F-4D97-AF65-F5344CB8AC3E}">
        <p14:creationId xmlns:p14="http://schemas.microsoft.com/office/powerpoint/2010/main" val="2484749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FB69-D92C-6F99-EE95-6F554F58B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297FF-84EF-BAD6-FD29-45C056CC4D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6A9F32-D8A3-429B-F085-6E8798543210}"/>
              </a:ext>
            </a:extLst>
          </p:cNvPr>
          <p:cNvSpPr>
            <a:spLocks noGrp="1"/>
          </p:cNvSpPr>
          <p:nvPr>
            <p:ph type="body" idx="1"/>
          </p:nvPr>
        </p:nvSpPr>
        <p:spPr/>
        <p:txBody>
          <a:bodyPr/>
          <a:lstStyle/>
          <a:p>
            <a:r>
              <a:rPr lang="en-US" sz="1400"/>
              <a:t>Owned stats:</a:t>
            </a:r>
          </a:p>
          <a:p>
            <a:r>
              <a:rPr lang="en-US" sz="1400"/>
              <a:t>https://</a:t>
            </a:r>
            <a:r>
              <a:rPr lang="en-US" sz="1400" err="1"/>
              <a:t>www.semrush.com</a:t>
            </a:r>
            <a:r>
              <a:rPr lang="en-US" sz="1400"/>
              <a:t>/blog/content-optimization-ai-search-study/</a:t>
            </a:r>
          </a:p>
        </p:txBody>
      </p:sp>
      <p:sp>
        <p:nvSpPr>
          <p:cNvPr id="4" name="Slide Number Placeholder 3">
            <a:extLst>
              <a:ext uri="{FF2B5EF4-FFF2-40B4-BE49-F238E27FC236}">
                <a16:creationId xmlns:a16="http://schemas.microsoft.com/office/drawing/2014/main" id="{B8DDBD78-12D2-5ED9-A0F4-82E486E92439}"/>
              </a:ext>
            </a:extLst>
          </p:cNvPr>
          <p:cNvSpPr>
            <a:spLocks noGrp="1"/>
          </p:cNvSpPr>
          <p:nvPr>
            <p:ph type="sldNum" sz="quarter" idx="5"/>
          </p:nvPr>
        </p:nvSpPr>
        <p:spPr/>
        <p:txBody>
          <a:bodyPr/>
          <a:lstStyle/>
          <a:p>
            <a:fld id="{39B3A16F-2403-3C41-979C-FD16A953347B}" type="slidenum">
              <a:rPr lang="en-US" smtClean="0"/>
              <a:t>20</a:t>
            </a:fld>
            <a:endParaRPr lang="en-US"/>
          </a:p>
        </p:txBody>
      </p:sp>
    </p:spTree>
    <p:extLst>
      <p:ext uri="{BB962C8B-B14F-4D97-AF65-F5344CB8AC3E}">
        <p14:creationId xmlns:p14="http://schemas.microsoft.com/office/powerpoint/2010/main" val="1557274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407C5-DF4C-451D-259A-4DE1A8FBA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5FD13-7EA9-16CB-121C-6CC700DB6B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2C8254-E84E-675E-7B31-6270C80D43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Ad 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https://</a:t>
            </a:r>
            <a:r>
              <a:rPr lang="en-US" sz="1400" err="1"/>
              <a:t>adage.com</a:t>
            </a:r>
            <a:r>
              <a:rPr lang="en-US" sz="1400"/>
              <a:t>/opinion/aa-how-ai-has-collapsed-the-funnel-and-elevated-earned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61%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https://</a:t>
            </a:r>
            <a:r>
              <a:rPr lang="en-US" sz="1200" kern="1200" err="1">
                <a:solidFill>
                  <a:schemeClr val="tx1"/>
                </a:solidFill>
                <a:effectLst/>
                <a:latin typeface="+mn-lt"/>
                <a:ea typeface="+mn-ea"/>
                <a:cs typeface="+mn-cs"/>
              </a:rPr>
              <a:t>www.hardnumbers.co.uk</a:t>
            </a:r>
            <a:r>
              <a:rPr lang="en-US" sz="1200" kern="1200">
                <a:solidFill>
                  <a:schemeClr val="tx1"/>
                </a:solidFill>
                <a:effectLst/>
                <a:latin typeface="+mn-lt"/>
                <a:ea typeface="+mn-ea"/>
                <a:cs typeface="+mn-cs"/>
              </a:rPr>
              <a:t>/research-reputation-in-the-age-of-ai</a:t>
            </a:r>
            <a:r>
              <a:rPr lang="en-US" sz="1400">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endParaRPr lang="en-US" sz="1400"/>
          </a:p>
        </p:txBody>
      </p:sp>
      <p:sp>
        <p:nvSpPr>
          <p:cNvPr id="4" name="Slide Number Placeholder 3">
            <a:extLst>
              <a:ext uri="{FF2B5EF4-FFF2-40B4-BE49-F238E27FC236}">
                <a16:creationId xmlns:a16="http://schemas.microsoft.com/office/drawing/2014/main" id="{8CAF3339-FF59-D95D-E506-CFA52D85D9BD}"/>
              </a:ext>
            </a:extLst>
          </p:cNvPr>
          <p:cNvSpPr>
            <a:spLocks noGrp="1"/>
          </p:cNvSpPr>
          <p:nvPr>
            <p:ph type="sldNum" sz="quarter" idx="5"/>
          </p:nvPr>
        </p:nvSpPr>
        <p:spPr/>
        <p:txBody>
          <a:bodyPr/>
          <a:lstStyle/>
          <a:p>
            <a:fld id="{39B3A16F-2403-3C41-979C-FD16A953347B}" type="slidenum">
              <a:rPr lang="en-US" smtClean="0"/>
              <a:t>21</a:t>
            </a:fld>
            <a:endParaRPr lang="en-US"/>
          </a:p>
        </p:txBody>
      </p:sp>
    </p:spTree>
    <p:extLst>
      <p:ext uri="{BB962C8B-B14F-4D97-AF65-F5344CB8AC3E}">
        <p14:creationId xmlns:p14="http://schemas.microsoft.com/office/powerpoint/2010/main" val="328455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3D36A-8496-0AC8-E95E-1A360B508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2FCC2-8FF4-9866-A5ED-B562BC5EF1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8DF2ED-5B0D-5B83-0FEE-F4E7581AEC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Ad 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https://</a:t>
            </a:r>
            <a:r>
              <a:rPr lang="en-US" sz="1400" err="1"/>
              <a:t>adage.com</a:t>
            </a:r>
            <a:r>
              <a:rPr lang="en-US" sz="1400"/>
              <a:t>/opinion/aa-how-ai-has-collapsed-the-funnel-and-elevated-earned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61%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https://</a:t>
            </a:r>
            <a:r>
              <a:rPr lang="en-US" sz="1200" kern="1200" err="1">
                <a:solidFill>
                  <a:schemeClr val="tx1"/>
                </a:solidFill>
                <a:effectLst/>
                <a:latin typeface="+mn-lt"/>
                <a:ea typeface="+mn-ea"/>
                <a:cs typeface="+mn-cs"/>
              </a:rPr>
              <a:t>www.hardnumbers.co.uk</a:t>
            </a:r>
            <a:r>
              <a:rPr lang="en-US" sz="1200" kern="1200">
                <a:solidFill>
                  <a:schemeClr val="tx1"/>
                </a:solidFill>
                <a:effectLst/>
                <a:latin typeface="+mn-lt"/>
                <a:ea typeface="+mn-ea"/>
                <a:cs typeface="+mn-cs"/>
              </a:rPr>
              <a:t>/research-reputation-in-the-age-of-ai</a:t>
            </a:r>
            <a:r>
              <a:rPr lang="en-US" sz="1400">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endParaRPr lang="en-US" sz="1400"/>
          </a:p>
        </p:txBody>
      </p:sp>
      <p:sp>
        <p:nvSpPr>
          <p:cNvPr id="4" name="Slide Number Placeholder 3">
            <a:extLst>
              <a:ext uri="{FF2B5EF4-FFF2-40B4-BE49-F238E27FC236}">
                <a16:creationId xmlns:a16="http://schemas.microsoft.com/office/drawing/2014/main" id="{E3D7A92C-0494-DC3D-848E-825A87FC1D8B}"/>
              </a:ext>
            </a:extLst>
          </p:cNvPr>
          <p:cNvSpPr>
            <a:spLocks noGrp="1"/>
          </p:cNvSpPr>
          <p:nvPr>
            <p:ph type="sldNum" sz="quarter" idx="5"/>
          </p:nvPr>
        </p:nvSpPr>
        <p:spPr/>
        <p:txBody>
          <a:bodyPr/>
          <a:lstStyle/>
          <a:p>
            <a:fld id="{39B3A16F-2403-3C41-979C-FD16A953347B}" type="slidenum">
              <a:rPr lang="en-US" smtClean="0"/>
              <a:t>22</a:t>
            </a:fld>
            <a:endParaRPr lang="en-US"/>
          </a:p>
        </p:txBody>
      </p:sp>
    </p:spTree>
    <p:extLst>
      <p:ext uri="{BB962C8B-B14F-4D97-AF65-F5344CB8AC3E}">
        <p14:creationId xmlns:p14="http://schemas.microsoft.com/office/powerpoint/2010/main" val="3343815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A56C2-B50B-57CE-CB06-B1F4C875A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B8DE6-28EB-869A-266D-9FE10F5FF4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21DAE1-8684-58A6-CC7B-1DFE7ECA5EA5}"/>
              </a:ext>
            </a:extLst>
          </p:cNvPr>
          <p:cNvSpPr>
            <a:spLocks noGrp="1"/>
          </p:cNvSpPr>
          <p:nvPr>
            <p:ph type="body" idx="1"/>
          </p:nvPr>
        </p:nvSpPr>
        <p:spPr/>
        <p:txBody>
          <a:bodyPr/>
          <a:lstStyle/>
          <a:p>
            <a:endParaRPr lang="en-US" sz="1400">
              <a:ea typeface="Calibri"/>
              <a:cs typeface="Calibri"/>
            </a:endParaRPr>
          </a:p>
          <a:p>
            <a:r>
              <a:rPr lang="en-US" sz="1400">
                <a:ea typeface="Calibri"/>
                <a:cs typeface="Calibri"/>
              </a:rPr>
              <a:t>Most cited domains: https://</a:t>
            </a:r>
            <a:r>
              <a:rPr lang="en-US" sz="1400" err="1">
                <a:ea typeface="Calibri"/>
                <a:cs typeface="Calibri"/>
              </a:rPr>
              <a:t>discoveredlabs.com</a:t>
            </a:r>
            <a:r>
              <a:rPr lang="en-US" sz="1400">
                <a:ea typeface="Calibri"/>
                <a:cs typeface="Calibri"/>
              </a:rPr>
              <a:t>/blog/reddit-as-an-aeo-signal-source-how-llms-pull-brand-mentions-to-drive-ai-citations</a:t>
            </a:r>
          </a:p>
        </p:txBody>
      </p:sp>
      <p:sp>
        <p:nvSpPr>
          <p:cNvPr id="4" name="Slide Number Placeholder 3">
            <a:extLst>
              <a:ext uri="{FF2B5EF4-FFF2-40B4-BE49-F238E27FC236}">
                <a16:creationId xmlns:a16="http://schemas.microsoft.com/office/drawing/2014/main" id="{EDA69C78-4689-FC78-7695-6269EE00662D}"/>
              </a:ext>
            </a:extLst>
          </p:cNvPr>
          <p:cNvSpPr>
            <a:spLocks noGrp="1"/>
          </p:cNvSpPr>
          <p:nvPr>
            <p:ph type="sldNum" sz="quarter" idx="5"/>
          </p:nvPr>
        </p:nvSpPr>
        <p:spPr/>
        <p:txBody>
          <a:bodyPr/>
          <a:lstStyle/>
          <a:p>
            <a:fld id="{39B3A16F-2403-3C41-979C-FD16A953347B}" type="slidenum">
              <a:rPr lang="en-US" smtClean="0"/>
              <a:t>23</a:t>
            </a:fld>
            <a:endParaRPr lang="en-US"/>
          </a:p>
        </p:txBody>
      </p:sp>
    </p:spTree>
    <p:extLst>
      <p:ext uri="{BB962C8B-B14F-4D97-AF65-F5344CB8AC3E}">
        <p14:creationId xmlns:p14="http://schemas.microsoft.com/office/powerpoint/2010/main" val="2211016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7DFAF-06B1-E9B2-0DD0-EEFA5FCB6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2A4D9-888B-DACA-B991-FC07F5F355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E06D10-E9DB-2DB8-84F5-EF13232F8B2D}"/>
              </a:ext>
            </a:extLst>
          </p:cNvPr>
          <p:cNvSpPr>
            <a:spLocks noGrp="1"/>
          </p:cNvSpPr>
          <p:nvPr>
            <p:ph type="body" idx="1"/>
          </p:nvPr>
        </p:nvSpPr>
        <p:spPr/>
        <p:txBody>
          <a:bodyPr/>
          <a:lstStyle/>
          <a:p>
            <a:endParaRPr lang="en-US" sz="1400">
              <a:ea typeface="Calibri"/>
              <a:cs typeface="Calibri"/>
            </a:endParaRPr>
          </a:p>
        </p:txBody>
      </p:sp>
      <p:sp>
        <p:nvSpPr>
          <p:cNvPr id="4" name="Slide Number Placeholder 3">
            <a:extLst>
              <a:ext uri="{FF2B5EF4-FFF2-40B4-BE49-F238E27FC236}">
                <a16:creationId xmlns:a16="http://schemas.microsoft.com/office/drawing/2014/main" id="{FBBE0C41-3F00-90FB-9E0C-65278C5B7D2D}"/>
              </a:ext>
            </a:extLst>
          </p:cNvPr>
          <p:cNvSpPr>
            <a:spLocks noGrp="1"/>
          </p:cNvSpPr>
          <p:nvPr>
            <p:ph type="sldNum" sz="quarter" idx="5"/>
          </p:nvPr>
        </p:nvSpPr>
        <p:spPr/>
        <p:txBody>
          <a:bodyPr/>
          <a:lstStyle/>
          <a:p>
            <a:fld id="{39B3A16F-2403-3C41-979C-FD16A953347B}" type="slidenum">
              <a:rPr lang="en-US" smtClean="0"/>
              <a:t>24</a:t>
            </a:fld>
            <a:endParaRPr lang="en-US"/>
          </a:p>
        </p:txBody>
      </p:sp>
    </p:spTree>
    <p:extLst>
      <p:ext uri="{BB962C8B-B14F-4D97-AF65-F5344CB8AC3E}">
        <p14:creationId xmlns:p14="http://schemas.microsoft.com/office/powerpoint/2010/main" val="3390801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64B80-5A84-2A7A-3228-AEEC3D05B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8C8BA-BBE6-4E3F-F33D-76296B241F4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C13F6E-3CC6-3D2F-5408-068EBF8E51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https://</a:t>
            </a:r>
            <a:r>
              <a:rPr lang="en-US" sz="1400" err="1"/>
              <a:t>www.seerinteractive.com</a:t>
            </a:r>
            <a:r>
              <a:rPr lang="en-US" sz="1400"/>
              <a:t>/insights/aio-impact-on-google-ctr-september-2025-update</a:t>
            </a:r>
          </a:p>
          <a:p>
            <a:endParaRPr lang="en-US" sz="1400"/>
          </a:p>
        </p:txBody>
      </p:sp>
      <p:sp>
        <p:nvSpPr>
          <p:cNvPr id="4" name="Slide Number Placeholder 3">
            <a:extLst>
              <a:ext uri="{FF2B5EF4-FFF2-40B4-BE49-F238E27FC236}">
                <a16:creationId xmlns:a16="http://schemas.microsoft.com/office/drawing/2014/main" id="{46D81D54-589F-0853-7FE8-B7A20C7D6B77}"/>
              </a:ext>
            </a:extLst>
          </p:cNvPr>
          <p:cNvSpPr>
            <a:spLocks noGrp="1"/>
          </p:cNvSpPr>
          <p:nvPr>
            <p:ph type="sldNum" sz="quarter" idx="5"/>
          </p:nvPr>
        </p:nvSpPr>
        <p:spPr/>
        <p:txBody>
          <a:bodyPr/>
          <a:lstStyle/>
          <a:p>
            <a:fld id="{39B3A16F-2403-3C41-979C-FD16A953347B}" type="slidenum">
              <a:rPr lang="en-US" smtClean="0"/>
              <a:t>25</a:t>
            </a:fld>
            <a:endParaRPr lang="en-US"/>
          </a:p>
        </p:txBody>
      </p:sp>
    </p:spTree>
    <p:extLst>
      <p:ext uri="{BB962C8B-B14F-4D97-AF65-F5344CB8AC3E}">
        <p14:creationId xmlns:p14="http://schemas.microsoft.com/office/powerpoint/2010/main" val="3753000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6237-F37C-5AF5-D2C6-CA3A74088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6B520-2B33-6D36-EC04-B05A72B5E2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1974EF-2E0D-D3AF-142C-2E3A7577ACC6}"/>
              </a:ext>
            </a:extLst>
          </p:cNvPr>
          <p:cNvSpPr>
            <a:spLocks noGrp="1"/>
          </p:cNvSpPr>
          <p:nvPr>
            <p:ph type="body" idx="1"/>
          </p:nvPr>
        </p:nvSpPr>
        <p:spPr/>
        <p:txBody>
          <a:bodyPr/>
          <a:lstStyle/>
          <a:p>
            <a:endParaRPr lang="en-US" sz="1400">
              <a:ea typeface="Calibri"/>
              <a:cs typeface="Calibri"/>
            </a:endParaRPr>
          </a:p>
        </p:txBody>
      </p:sp>
      <p:sp>
        <p:nvSpPr>
          <p:cNvPr id="4" name="Slide Number Placeholder 3">
            <a:extLst>
              <a:ext uri="{FF2B5EF4-FFF2-40B4-BE49-F238E27FC236}">
                <a16:creationId xmlns:a16="http://schemas.microsoft.com/office/drawing/2014/main" id="{E5FBB992-0CCA-8BB7-BD70-10241368AA10}"/>
              </a:ext>
            </a:extLst>
          </p:cNvPr>
          <p:cNvSpPr>
            <a:spLocks noGrp="1"/>
          </p:cNvSpPr>
          <p:nvPr>
            <p:ph type="sldNum" sz="quarter" idx="5"/>
          </p:nvPr>
        </p:nvSpPr>
        <p:spPr/>
        <p:txBody>
          <a:bodyPr/>
          <a:lstStyle/>
          <a:p>
            <a:fld id="{39B3A16F-2403-3C41-979C-FD16A953347B}" type="slidenum">
              <a:rPr lang="en-US" smtClean="0"/>
              <a:t>26</a:t>
            </a:fld>
            <a:endParaRPr lang="en-US"/>
          </a:p>
        </p:txBody>
      </p:sp>
    </p:spTree>
    <p:extLst>
      <p:ext uri="{BB962C8B-B14F-4D97-AF65-F5344CB8AC3E}">
        <p14:creationId xmlns:p14="http://schemas.microsoft.com/office/powerpoint/2010/main" val="27704929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8305-335F-8986-7977-FD93E5627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66B55-F8AA-CE3D-64C2-4FC6FEF445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8FC80F-F7CA-C936-E9B2-BB4194407E0C}"/>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43562932-0B10-F71B-9334-F91C59498DE8}"/>
              </a:ext>
            </a:extLst>
          </p:cNvPr>
          <p:cNvSpPr>
            <a:spLocks noGrp="1"/>
          </p:cNvSpPr>
          <p:nvPr>
            <p:ph type="sldNum" sz="quarter" idx="5"/>
          </p:nvPr>
        </p:nvSpPr>
        <p:spPr/>
        <p:txBody>
          <a:bodyPr/>
          <a:lstStyle/>
          <a:p>
            <a:fld id="{39B3A16F-2403-3C41-979C-FD16A953347B}" type="slidenum">
              <a:rPr lang="en-US" smtClean="0"/>
              <a:t>27</a:t>
            </a:fld>
            <a:endParaRPr lang="en-US"/>
          </a:p>
        </p:txBody>
      </p:sp>
    </p:spTree>
    <p:extLst>
      <p:ext uri="{BB962C8B-B14F-4D97-AF65-F5344CB8AC3E}">
        <p14:creationId xmlns:p14="http://schemas.microsoft.com/office/powerpoint/2010/main" val="3727907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B3A16F-2403-3C41-979C-FD16A953347B}" type="slidenum">
              <a:rPr lang="en-US" smtClean="0"/>
              <a:t>28</a:t>
            </a:fld>
            <a:endParaRPr lang="en-US"/>
          </a:p>
        </p:txBody>
      </p:sp>
    </p:spTree>
    <p:extLst>
      <p:ext uri="{BB962C8B-B14F-4D97-AF65-F5344CB8AC3E}">
        <p14:creationId xmlns:p14="http://schemas.microsoft.com/office/powerpoint/2010/main" val="2658818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C9BF-F577-9240-16B9-300D756D3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9FC29-CFC0-F5E6-14E3-A0C8479773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2C41A9-2AF2-C8DA-EF0D-840DD81A86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FD72CB-0885-B4B4-1EED-0D18A405DD17}"/>
              </a:ext>
            </a:extLst>
          </p:cNvPr>
          <p:cNvSpPr>
            <a:spLocks noGrp="1"/>
          </p:cNvSpPr>
          <p:nvPr>
            <p:ph type="sldNum" sz="quarter" idx="5"/>
          </p:nvPr>
        </p:nvSpPr>
        <p:spPr/>
        <p:txBody>
          <a:bodyPr/>
          <a:lstStyle/>
          <a:p>
            <a:fld id="{39B3A16F-2403-3C41-979C-FD16A953347B}" type="slidenum">
              <a:rPr lang="en-US" smtClean="0"/>
              <a:t>29</a:t>
            </a:fld>
            <a:endParaRPr lang="en-US"/>
          </a:p>
        </p:txBody>
      </p:sp>
    </p:spTree>
    <p:extLst>
      <p:ext uri="{BB962C8B-B14F-4D97-AF65-F5344CB8AC3E}">
        <p14:creationId xmlns:p14="http://schemas.microsoft.com/office/powerpoint/2010/main" val="13994851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6B198-E329-05CC-A0E3-32747B780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83134-2010-E78F-977C-1EF149CA12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5806DA-151B-9FF6-1103-85B9585F17D8}"/>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2650B762-9C44-FBF3-9C6F-2A94BF708B43}"/>
              </a:ext>
            </a:extLst>
          </p:cNvPr>
          <p:cNvSpPr>
            <a:spLocks noGrp="1"/>
          </p:cNvSpPr>
          <p:nvPr>
            <p:ph type="sldNum" sz="quarter" idx="5"/>
          </p:nvPr>
        </p:nvSpPr>
        <p:spPr/>
        <p:txBody>
          <a:bodyPr/>
          <a:lstStyle/>
          <a:p>
            <a:fld id="{39B3A16F-2403-3C41-979C-FD16A953347B}" type="slidenum">
              <a:rPr lang="en-US" smtClean="0"/>
              <a:t>30</a:t>
            </a:fld>
            <a:endParaRPr lang="en-US"/>
          </a:p>
        </p:txBody>
      </p:sp>
    </p:spTree>
    <p:extLst>
      <p:ext uri="{BB962C8B-B14F-4D97-AF65-F5344CB8AC3E}">
        <p14:creationId xmlns:p14="http://schemas.microsoft.com/office/powerpoint/2010/main" val="36425945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5220-BEB7-2BAE-D812-A3F091422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5C0BE-7502-D927-C844-460F9C77F0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0FCFE3-3091-62FD-92DF-FB16138943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AF3150-345E-319F-4268-028734B6E260}"/>
              </a:ext>
            </a:extLst>
          </p:cNvPr>
          <p:cNvSpPr>
            <a:spLocks noGrp="1"/>
          </p:cNvSpPr>
          <p:nvPr>
            <p:ph type="sldNum" sz="quarter" idx="5"/>
          </p:nvPr>
        </p:nvSpPr>
        <p:spPr/>
        <p:txBody>
          <a:bodyPr/>
          <a:lstStyle/>
          <a:p>
            <a:fld id="{DEF92216-29F5-4FA0-AC69-C3C4EE294894}" type="slidenum">
              <a:rPr lang="en-US" smtClean="0"/>
              <a:t>31</a:t>
            </a:fld>
            <a:endParaRPr lang="en-US"/>
          </a:p>
        </p:txBody>
      </p:sp>
    </p:spTree>
    <p:extLst>
      <p:ext uri="{BB962C8B-B14F-4D97-AF65-F5344CB8AC3E}">
        <p14:creationId xmlns:p14="http://schemas.microsoft.com/office/powerpoint/2010/main" val="1623392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826F-2C6B-6807-3D23-6C2F2499F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C512D-E798-7B73-4407-15B9893C3E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B7E8F7-7FA6-B30D-ADB3-4545B15DF12B}"/>
              </a:ext>
            </a:extLst>
          </p:cNvPr>
          <p:cNvSpPr>
            <a:spLocks noGrp="1"/>
          </p:cNvSpPr>
          <p:nvPr>
            <p:ph type="body" idx="1"/>
          </p:nvPr>
        </p:nvSpPr>
        <p:spPr/>
        <p:txBody>
          <a:bodyPr/>
          <a:lstStyle/>
          <a:p>
            <a:r>
              <a:rPr lang="en-US"/>
              <a:t>Mike (Scott as backup)</a:t>
            </a:r>
          </a:p>
        </p:txBody>
      </p:sp>
      <p:sp>
        <p:nvSpPr>
          <p:cNvPr id="4" name="Slide Number Placeholder 3">
            <a:extLst>
              <a:ext uri="{FF2B5EF4-FFF2-40B4-BE49-F238E27FC236}">
                <a16:creationId xmlns:a16="http://schemas.microsoft.com/office/drawing/2014/main" id="{CA5CE181-B1C3-D09F-EB91-D0D5BEC3ABFC}"/>
              </a:ext>
            </a:extLst>
          </p:cNvPr>
          <p:cNvSpPr>
            <a:spLocks noGrp="1"/>
          </p:cNvSpPr>
          <p:nvPr>
            <p:ph type="sldNum" sz="quarter" idx="5"/>
          </p:nvPr>
        </p:nvSpPr>
        <p:spPr/>
        <p:txBody>
          <a:bodyPr/>
          <a:lstStyle/>
          <a:p>
            <a:fld id="{DEF92216-29F5-4FA0-AC69-C3C4EE294894}" type="slidenum">
              <a:rPr lang="en-US" smtClean="0"/>
              <a:t>32</a:t>
            </a:fld>
            <a:endParaRPr lang="en-US"/>
          </a:p>
        </p:txBody>
      </p:sp>
    </p:spTree>
    <p:extLst>
      <p:ext uri="{BB962C8B-B14F-4D97-AF65-F5344CB8AC3E}">
        <p14:creationId xmlns:p14="http://schemas.microsoft.com/office/powerpoint/2010/main" val="20305247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B76E1-571F-6B3E-B373-C35F7A2B6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2C57F-34D5-1C3D-D8B0-85136242D6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505E5F-9348-9B07-04AC-527764A1BFCB}"/>
              </a:ext>
            </a:extLst>
          </p:cNvPr>
          <p:cNvSpPr>
            <a:spLocks noGrp="1"/>
          </p:cNvSpPr>
          <p:nvPr>
            <p:ph type="body" idx="1"/>
          </p:nvPr>
        </p:nvSpPr>
        <p:spPr/>
        <p:txBody>
          <a:bodyPr/>
          <a:lstStyle/>
          <a:p>
            <a:r>
              <a:rPr lang="en-US"/>
              <a:t>Mike (Scott as backup)</a:t>
            </a:r>
          </a:p>
        </p:txBody>
      </p:sp>
      <p:sp>
        <p:nvSpPr>
          <p:cNvPr id="4" name="Slide Number Placeholder 3">
            <a:extLst>
              <a:ext uri="{FF2B5EF4-FFF2-40B4-BE49-F238E27FC236}">
                <a16:creationId xmlns:a16="http://schemas.microsoft.com/office/drawing/2014/main" id="{7C6B7172-9376-88AA-7AC3-0A22EB0809F9}"/>
              </a:ext>
            </a:extLst>
          </p:cNvPr>
          <p:cNvSpPr>
            <a:spLocks noGrp="1"/>
          </p:cNvSpPr>
          <p:nvPr>
            <p:ph type="sldNum" sz="quarter" idx="5"/>
          </p:nvPr>
        </p:nvSpPr>
        <p:spPr/>
        <p:txBody>
          <a:bodyPr/>
          <a:lstStyle/>
          <a:p>
            <a:fld id="{DEF92216-29F5-4FA0-AC69-C3C4EE294894}" type="slidenum">
              <a:rPr lang="en-US" smtClean="0"/>
              <a:t>33</a:t>
            </a:fld>
            <a:endParaRPr lang="en-US"/>
          </a:p>
        </p:txBody>
      </p:sp>
    </p:spTree>
    <p:extLst>
      <p:ext uri="{BB962C8B-B14F-4D97-AF65-F5344CB8AC3E}">
        <p14:creationId xmlns:p14="http://schemas.microsoft.com/office/powerpoint/2010/main" val="27951764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52D33-8A29-E930-F29C-9D68DBF09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6B36D-DF9E-147C-6460-CAB391B4A4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21A5BD-E1C2-33BD-925B-3D662CC304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D47669-51A0-FCEF-00A1-F57BA8804EEE}"/>
              </a:ext>
            </a:extLst>
          </p:cNvPr>
          <p:cNvSpPr>
            <a:spLocks noGrp="1"/>
          </p:cNvSpPr>
          <p:nvPr>
            <p:ph type="sldNum" sz="quarter" idx="5"/>
          </p:nvPr>
        </p:nvSpPr>
        <p:spPr/>
        <p:txBody>
          <a:bodyPr/>
          <a:lstStyle/>
          <a:p>
            <a:fld id="{DEF92216-29F5-4FA0-AC69-C3C4EE294894}" type="slidenum">
              <a:rPr lang="en-US" smtClean="0"/>
              <a:t>34</a:t>
            </a:fld>
            <a:endParaRPr lang="en-US"/>
          </a:p>
        </p:txBody>
      </p:sp>
    </p:spTree>
    <p:extLst>
      <p:ext uri="{BB962C8B-B14F-4D97-AF65-F5344CB8AC3E}">
        <p14:creationId xmlns:p14="http://schemas.microsoft.com/office/powerpoint/2010/main" val="14052416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E4A16-C164-570F-6090-759F77DCA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AEB43-CA24-B200-10D6-693D06F570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3F8E37-C4DA-6992-07DB-70DE81EF80C8}"/>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44EC3F8D-4466-9E9F-1BA4-351A5033E0AE}"/>
              </a:ext>
            </a:extLst>
          </p:cNvPr>
          <p:cNvSpPr>
            <a:spLocks noGrp="1"/>
          </p:cNvSpPr>
          <p:nvPr>
            <p:ph type="sldNum" sz="quarter" idx="5"/>
          </p:nvPr>
        </p:nvSpPr>
        <p:spPr/>
        <p:txBody>
          <a:bodyPr/>
          <a:lstStyle/>
          <a:p>
            <a:fld id="{39B3A16F-2403-3C41-979C-FD16A953347B}" type="slidenum">
              <a:rPr lang="en-US" smtClean="0"/>
              <a:t>35</a:t>
            </a:fld>
            <a:endParaRPr lang="en-US"/>
          </a:p>
        </p:txBody>
      </p:sp>
    </p:spTree>
    <p:extLst>
      <p:ext uri="{BB962C8B-B14F-4D97-AF65-F5344CB8AC3E}">
        <p14:creationId xmlns:p14="http://schemas.microsoft.com/office/powerpoint/2010/main" val="39187833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D1BA-2DA1-8D88-72BB-F1D92B27F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03AFF-7991-5DB3-D995-30364B78EE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3A12D-CBBD-6CDA-9147-3053A72D57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D7B0C3-2D92-736F-D44A-50F694ABBE6B}"/>
              </a:ext>
            </a:extLst>
          </p:cNvPr>
          <p:cNvSpPr>
            <a:spLocks noGrp="1"/>
          </p:cNvSpPr>
          <p:nvPr>
            <p:ph type="sldNum" sz="quarter" idx="5"/>
          </p:nvPr>
        </p:nvSpPr>
        <p:spPr/>
        <p:txBody>
          <a:bodyPr/>
          <a:lstStyle/>
          <a:p>
            <a:fld id="{39B3A16F-2403-3C41-979C-FD16A953347B}" type="slidenum">
              <a:rPr lang="en-US" smtClean="0"/>
              <a:t>36</a:t>
            </a:fld>
            <a:endParaRPr lang="en-US"/>
          </a:p>
        </p:txBody>
      </p:sp>
    </p:spTree>
    <p:extLst>
      <p:ext uri="{BB962C8B-B14F-4D97-AF65-F5344CB8AC3E}">
        <p14:creationId xmlns:p14="http://schemas.microsoft.com/office/powerpoint/2010/main" val="35361021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CEE7-7EA2-BC6F-8E47-7EC0D8D12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3C090-ED73-91A0-4DF6-A19493A6D4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610FB3-BF2E-BC91-34CF-7CB103996FBE}"/>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F702E86B-4D7E-54BA-6115-6A4DD4884DFE}"/>
              </a:ext>
            </a:extLst>
          </p:cNvPr>
          <p:cNvSpPr>
            <a:spLocks noGrp="1"/>
          </p:cNvSpPr>
          <p:nvPr>
            <p:ph type="sldNum" sz="quarter" idx="5"/>
          </p:nvPr>
        </p:nvSpPr>
        <p:spPr/>
        <p:txBody>
          <a:bodyPr/>
          <a:lstStyle/>
          <a:p>
            <a:fld id="{39B3A16F-2403-3C41-979C-FD16A953347B}" type="slidenum">
              <a:rPr lang="en-US" smtClean="0"/>
              <a:t>37</a:t>
            </a:fld>
            <a:endParaRPr lang="en-US"/>
          </a:p>
        </p:txBody>
      </p:sp>
    </p:spTree>
    <p:extLst>
      <p:ext uri="{BB962C8B-B14F-4D97-AF65-F5344CB8AC3E}">
        <p14:creationId xmlns:p14="http://schemas.microsoft.com/office/powerpoint/2010/main" val="11976541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53B7-134A-7091-1824-28D943AFA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4B54F-7B81-B628-1BBB-2CB8655057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4491BB-CFE9-7E42-125C-31FA15271350}"/>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A9B0A507-B8DD-0579-D106-E06433E60BD7}"/>
              </a:ext>
            </a:extLst>
          </p:cNvPr>
          <p:cNvSpPr>
            <a:spLocks noGrp="1"/>
          </p:cNvSpPr>
          <p:nvPr>
            <p:ph type="sldNum" sz="quarter" idx="5"/>
          </p:nvPr>
        </p:nvSpPr>
        <p:spPr/>
        <p:txBody>
          <a:bodyPr/>
          <a:lstStyle/>
          <a:p>
            <a:fld id="{39B3A16F-2403-3C41-979C-FD16A953347B}" type="slidenum">
              <a:rPr lang="en-US" smtClean="0"/>
              <a:t>38</a:t>
            </a:fld>
            <a:endParaRPr lang="en-US"/>
          </a:p>
        </p:txBody>
      </p:sp>
    </p:spTree>
    <p:extLst>
      <p:ext uri="{BB962C8B-B14F-4D97-AF65-F5344CB8AC3E}">
        <p14:creationId xmlns:p14="http://schemas.microsoft.com/office/powerpoint/2010/main" val="1462754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BEE9-05D6-177F-4554-19F44102C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02721-5C88-535F-453F-D1935EEFC9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651E7B-4183-4932-30DF-32B68E8A2B51}"/>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5E5D0065-1131-DA5C-BC86-243B2D7312EB}"/>
              </a:ext>
            </a:extLst>
          </p:cNvPr>
          <p:cNvSpPr>
            <a:spLocks noGrp="1"/>
          </p:cNvSpPr>
          <p:nvPr>
            <p:ph type="sldNum" sz="quarter" idx="5"/>
          </p:nvPr>
        </p:nvSpPr>
        <p:spPr/>
        <p:txBody>
          <a:bodyPr/>
          <a:lstStyle/>
          <a:p>
            <a:fld id="{39B3A16F-2403-3C41-979C-FD16A953347B}" type="slidenum">
              <a:rPr lang="en-US" smtClean="0"/>
              <a:t>39</a:t>
            </a:fld>
            <a:endParaRPr lang="en-US"/>
          </a:p>
        </p:txBody>
      </p:sp>
    </p:spTree>
    <p:extLst>
      <p:ext uri="{BB962C8B-B14F-4D97-AF65-F5344CB8AC3E}">
        <p14:creationId xmlns:p14="http://schemas.microsoft.com/office/powerpoint/2010/main" val="3534009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D1BA-2DA1-8D88-72BB-F1D92B27F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03AFF-7991-5DB3-D995-30364B78EE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3A12D-CBBD-6CDA-9147-3053A72D57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D7B0C3-2D92-736F-D44A-50F694ABBE6B}"/>
              </a:ext>
            </a:extLst>
          </p:cNvPr>
          <p:cNvSpPr>
            <a:spLocks noGrp="1"/>
          </p:cNvSpPr>
          <p:nvPr>
            <p:ph type="sldNum" sz="quarter" idx="5"/>
          </p:nvPr>
        </p:nvSpPr>
        <p:spPr/>
        <p:txBody>
          <a:bodyPr/>
          <a:lstStyle/>
          <a:p>
            <a:fld id="{39B3A16F-2403-3C41-979C-FD16A953347B}" type="slidenum">
              <a:rPr lang="en-US" smtClean="0"/>
              <a:t>40</a:t>
            </a:fld>
            <a:endParaRPr lang="en-US"/>
          </a:p>
        </p:txBody>
      </p:sp>
    </p:spTree>
    <p:extLst>
      <p:ext uri="{BB962C8B-B14F-4D97-AF65-F5344CB8AC3E}">
        <p14:creationId xmlns:p14="http://schemas.microsoft.com/office/powerpoint/2010/main" val="35361021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F9B9-599A-4BB2-1EBB-141677589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3D13B-4874-D838-30F5-CB6158FD56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E9C83B-F6F0-79E9-30D9-DF8DF713371D}"/>
              </a:ext>
            </a:extLst>
          </p:cNvPr>
          <p:cNvSpPr>
            <a:spLocks noGrp="1"/>
          </p:cNvSpPr>
          <p:nvPr>
            <p:ph type="body" idx="1"/>
          </p:nvPr>
        </p:nvSpPr>
        <p:spPr/>
        <p:txBody>
          <a:bodyPr/>
          <a:lstStyle/>
          <a:p>
            <a:endParaRPr lang="en-US" sz="1400"/>
          </a:p>
        </p:txBody>
      </p:sp>
      <p:sp>
        <p:nvSpPr>
          <p:cNvPr id="4" name="Slide Number Placeholder 3">
            <a:extLst>
              <a:ext uri="{FF2B5EF4-FFF2-40B4-BE49-F238E27FC236}">
                <a16:creationId xmlns:a16="http://schemas.microsoft.com/office/drawing/2014/main" id="{06C0A6DB-C0CD-2E9F-EF45-24F19BF515BB}"/>
              </a:ext>
            </a:extLst>
          </p:cNvPr>
          <p:cNvSpPr>
            <a:spLocks noGrp="1"/>
          </p:cNvSpPr>
          <p:nvPr>
            <p:ph type="sldNum" sz="quarter" idx="5"/>
          </p:nvPr>
        </p:nvSpPr>
        <p:spPr/>
        <p:txBody>
          <a:bodyPr/>
          <a:lstStyle/>
          <a:p>
            <a:fld id="{39B3A16F-2403-3C41-979C-FD16A953347B}" type="slidenum">
              <a:rPr lang="en-US" smtClean="0"/>
              <a:t>42</a:t>
            </a:fld>
            <a:endParaRPr lang="en-US"/>
          </a:p>
        </p:txBody>
      </p:sp>
    </p:spTree>
    <p:extLst>
      <p:ext uri="{BB962C8B-B14F-4D97-AF65-F5344CB8AC3E}">
        <p14:creationId xmlns:p14="http://schemas.microsoft.com/office/powerpoint/2010/main" val="24373525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365B-F2A2-AFA1-8ED8-733B91C76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F4407-68AC-5001-8676-A4F8D70ACD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CA334C-0685-0A9E-D3F0-AD31488D3A9D}"/>
              </a:ext>
            </a:extLst>
          </p:cNvPr>
          <p:cNvSpPr>
            <a:spLocks noGrp="1"/>
          </p:cNvSpPr>
          <p:nvPr>
            <p:ph type="body" idx="1"/>
          </p:nvPr>
        </p:nvSpPr>
        <p:spPr/>
        <p:txBody>
          <a:bodyPr/>
          <a:lstStyle/>
          <a:p>
            <a:r>
              <a:rPr lang="en-US"/>
              <a:t>Scott</a:t>
            </a:r>
          </a:p>
        </p:txBody>
      </p:sp>
      <p:sp>
        <p:nvSpPr>
          <p:cNvPr id="4" name="Slide Number Placeholder 3">
            <a:extLst>
              <a:ext uri="{FF2B5EF4-FFF2-40B4-BE49-F238E27FC236}">
                <a16:creationId xmlns:a16="http://schemas.microsoft.com/office/drawing/2014/main" id="{D1E9B59C-0AC7-E447-A1C2-412E16C16656}"/>
              </a:ext>
            </a:extLst>
          </p:cNvPr>
          <p:cNvSpPr>
            <a:spLocks noGrp="1"/>
          </p:cNvSpPr>
          <p:nvPr>
            <p:ph type="sldNum" sz="quarter" idx="5"/>
          </p:nvPr>
        </p:nvSpPr>
        <p:spPr/>
        <p:txBody>
          <a:bodyPr/>
          <a:lstStyle/>
          <a:p>
            <a:fld id="{DEF92216-29F5-4FA0-AC69-C3C4EE294894}" type="slidenum">
              <a:rPr lang="en-US" smtClean="0"/>
              <a:t>44</a:t>
            </a:fld>
            <a:endParaRPr lang="en-US"/>
          </a:p>
        </p:txBody>
      </p:sp>
    </p:spTree>
    <p:extLst>
      <p:ext uri="{BB962C8B-B14F-4D97-AF65-F5344CB8AC3E}">
        <p14:creationId xmlns:p14="http://schemas.microsoft.com/office/powerpoint/2010/main" val="4041095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164C3-80F3-7D3D-5571-35B299C26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29B04-E3C2-5CD2-78CA-1F5380421C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C88518-3296-7775-2725-FD515D344B40}"/>
              </a:ext>
            </a:extLst>
          </p:cNvPr>
          <p:cNvSpPr>
            <a:spLocks noGrp="1"/>
          </p:cNvSpPr>
          <p:nvPr>
            <p:ph type="body" idx="1"/>
          </p:nvPr>
        </p:nvSpPr>
        <p:spPr/>
        <p:txBody>
          <a:bodyPr/>
          <a:lstStyle/>
          <a:p>
            <a:r>
              <a:rPr lang="en-US"/>
              <a:t>Scott</a:t>
            </a:r>
          </a:p>
        </p:txBody>
      </p:sp>
      <p:sp>
        <p:nvSpPr>
          <p:cNvPr id="4" name="Slide Number Placeholder 3">
            <a:extLst>
              <a:ext uri="{FF2B5EF4-FFF2-40B4-BE49-F238E27FC236}">
                <a16:creationId xmlns:a16="http://schemas.microsoft.com/office/drawing/2014/main" id="{810CC344-865D-A2A1-A45B-432282CF557D}"/>
              </a:ext>
            </a:extLst>
          </p:cNvPr>
          <p:cNvSpPr>
            <a:spLocks noGrp="1"/>
          </p:cNvSpPr>
          <p:nvPr>
            <p:ph type="sldNum" sz="quarter" idx="5"/>
          </p:nvPr>
        </p:nvSpPr>
        <p:spPr/>
        <p:txBody>
          <a:bodyPr/>
          <a:lstStyle/>
          <a:p>
            <a:fld id="{DEF92216-29F5-4FA0-AC69-C3C4EE294894}" type="slidenum">
              <a:rPr lang="en-US" smtClean="0"/>
              <a:t>45</a:t>
            </a:fld>
            <a:endParaRPr lang="en-US"/>
          </a:p>
        </p:txBody>
      </p:sp>
    </p:spTree>
    <p:extLst>
      <p:ext uri="{BB962C8B-B14F-4D97-AF65-F5344CB8AC3E}">
        <p14:creationId xmlns:p14="http://schemas.microsoft.com/office/powerpoint/2010/main" val="18202787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AEFD-349D-26B3-92C9-FC5E989AD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9ABF4-A5D9-940A-99E8-32BF2C3577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3A4677-25B0-955C-77DA-FEE75BBA85B6}"/>
              </a:ext>
            </a:extLst>
          </p:cNvPr>
          <p:cNvSpPr>
            <a:spLocks noGrp="1"/>
          </p:cNvSpPr>
          <p:nvPr>
            <p:ph type="body" idx="1"/>
          </p:nvPr>
        </p:nvSpPr>
        <p:spPr/>
        <p:txBody>
          <a:bodyPr/>
          <a:lstStyle/>
          <a:p>
            <a:r>
              <a:rPr lang="en-US"/>
              <a:t>Scott</a:t>
            </a:r>
          </a:p>
        </p:txBody>
      </p:sp>
      <p:sp>
        <p:nvSpPr>
          <p:cNvPr id="4" name="Slide Number Placeholder 3">
            <a:extLst>
              <a:ext uri="{FF2B5EF4-FFF2-40B4-BE49-F238E27FC236}">
                <a16:creationId xmlns:a16="http://schemas.microsoft.com/office/drawing/2014/main" id="{09C23EBC-4583-65EC-698E-C69C952F40BA}"/>
              </a:ext>
            </a:extLst>
          </p:cNvPr>
          <p:cNvSpPr>
            <a:spLocks noGrp="1"/>
          </p:cNvSpPr>
          <p:nvPr>
            <p:ph type="sldNum" sz="quarter" idx="5"/>
          </p:nvPr>
        </p:nvSpPr>
        <p:spPr/>
        <p:txBody>
          <a:bodyPr/>
          <a:lstStyle/>
          <a:p>
            <a:fld id="{DEF92216-29F5-4FA0-AC69-C3C4EE294894}" type="slidenum">
              <a:rPr lang="en-US" smtClean="0"/>
              <a:t>46</a:t>
            </a:fld>
            <a:endParaRPr lang="en-US"/>
          </a:p>
        </p:txBody>
      </p:sp>
    </p:spTree>
    <p:extLst>
      <p:ext uri="{BB962C8B-B14F-4D97-AF65-F5344CB8AC3E}">
        <p14:creationId xmlns:p14="http://schemas.microsoft.com/office/powerpoint/2010/main" val="32681876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8.jpeg"/><Relationship Id="rId4" Type="http://schemas.openxmlformats.org/officeDocument/2006/relationships/image" Target="../media/image7.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2907B2-5AE4-913B-6B6E-677058CB2361}"/>
              </a:ext>
            </a:extLst>
          </p:cNvPr>
          <p:cNvPicPr>
            <a:picLocks noChangeAspect="1"/>
          </p:cNvPicPr>
          <p:nvPr userDrawn="1"/>
        </p:nvPicPr>
        <p:blipFill>
          <a:blip r:embed="rId2">
            <a:extLst>
              <a:ext uri="{28A0092B-C50C-407E-A947-70E740481C1C}">
                <a14:useLocalDpi xmlns:a14="http://schemas.microsoft.com/office/drawing/2010/main" val="0"/>
              </a:ext>
            </a:extLst>
          </a:blip>
          <a:srcRect l="3" r="3"/>
          <a:stretch/>
        </p:blipFill>
        <p:spPr>
          <a:xfrm>
            <a:off x="0" y="0"/>
            <a:ext cx="12191365" cy="6858000"/>
          </a:xfrm>
          <a:prstGeom prst="rect">
            <a:avLst/>
          </a:prstGeom>
        </p:spPr>
      </p:pic>
      <p:sp>
        <p:nvSpPr>
          <p:cNvPr id="3" name="Subtitle 2">
            <a:extLst>
              <a:ext uri="{FF2B5EF4-FFF2-40B4-BE49-F238E27FC236}">
                <a16:creationId xmlns:a16="http://schemas.microsoft.com/office/drawing/2014/main" id="{777E9244-683A-4340-4813-C41B98D3DAB8}"/>
              </a:ext>
            </a:extLst>
          </p:cNvPr>
          <p:cNvSpPr>
            <a:spLocks noGrp="1"/>
          </p:cNvSpPr>
          <p:nvPr>
            <p:ph type="subTitle" idx="1" hasCustomPrompt="1"/>
          </p:nvPr>
        </p:nvSpPr>
        <p:spPr bwMode="gray">
          <a:xfrm>
            <a:off x="7498080" y="3026664"/>
            <a:ext cx="1133856" cy="548640"/>
          </a:xfrm>
        </p:spPr>
        <p:txBody>
          <a:bodyPr anchor="ctr" anchorCtr="0">
            <a:noAutofit/>
          </a:bodyPr>
          <a:lstStyle>
            <a:lvl1pPr marL="0" indent="0" algn="l">
              <a:spcBef>
                <a:spcPts val="0"/>
              </a:spcBef>
              <a:buNone/>
              <a:defRPr sz="1400" spc="200" baseline="0">
                <a:solidFill>
                  <a:schemeClr val="accent4"/>
                </a:solidFill>
                <a:latin typeface="Barlow SemiBold" panose="000007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BA1B94AE-89F2-D29E-0A0D-35D8CBFEF9BF}"/>
              </a:ext>
            </a:extLst>
          </p:cNvPr>
          <p:cNvSpPr>
            <a:spLocks noGrp="1"/>
          </p:cNvSpPr>
          <p:nvPr>
            <p:ph type="ctrTitle" hasCustomPrompt="1"/>
          </p:nvPr>
        </p:nvSpPr>
        <p:spPr bwMode="white">
          <a:xfrm>
            <a:off x="1435608" y="1408176"/>
            <a:ext cx="8074152" cy="1527048"/>
          </a:xfrm>
        </p:spPr>
        <p:txBody>
          <a:bodyPr anchor="ctr" anchorCtr="0">
            <a:noAutofit/>
          </a:bodyPr>
          <a:lstStyle>
            <a:lvl1pPr algn="l">
              <a:lnSpc>
                <a:spcPct val="90000"/>
              </a:lnSpc>
              <a:defRPr sz="4400">
                <a:solidFill>
                  <a:schemeClr val="bg1"/>
                </a:solidFill>
              </a:defRPr>
            </a:lvl1pPr>
          </a:lstStyle>
          <a:p>
            <a:r>
              <a:rPr lang="en-US"/>
              <a:t>CLICK TO ADD TITLE</a:t>
            </a:r>
          </a:p>
        </p:txBody>
      </p:sp>
      <p:sp>
        <p:nvSpPr>
          <p:cNvPr id="5" name="Text Placeholder 4">
            <a:extLst>
              <a:ext uri="{FF2B5EF4-FFF2-40B4-BE49-F238E27FC236}">
                <a16:creationId xmlns:a16="http://schemas.microsoft.com/office/drawing/2014/main" id="{102E25C9-8065-01EB-FE1D-F9FDAF6953F4}"/>
              </a:ext>
            </a:extLst>
          </p:cNvPr>
          <p:cNvSpPr>
            <a:spLocks noGrp="1"/>
          </p:cNvSpPr>
          <p:nvPr>
            <p:ph type="body" sz="quarter" idx="10" hasCustomPrompt="1"/>
          </p:nvPr>
        </p:nvSpPr>
        <p:spPr>
          <a:xfrm>
            <a:off x="1463675" y="3026664"/>
            <a:ext cx="5358384" cy="548640"/>
          </a:xfrm>
        </p:spPr>
        <p:txBody>
          <a:bodyPr anchor="ctr" anchorCtr="0"/>
          <a:lstStyle>
            <a:lvl1pPr marL="0" indent="0">
              <a:spcBef>
                <a:spcPts val="0"/>
              </a:spcBef>
              <a:buNone/>
              <a:defRPr sz="1400" spc="200" baseline="0">
                <a:solidFill>
                  <a:schemeClr val="accent4"/>
                </a:solidFill>
                <a:latin typeface="Barlow SemiBold" panose="00000700000000000000"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ADD SUBTITLE</a:t>
            </a:r>
          </a:p>
        </p:txBody>
      </p:sp>
    </p:spTree>
    <p:extLst>
      <p:ext uri="{BB962C8B-B14F-4D97-AF65-F5344CB8AC3E}">
        <p14:creationId xmlns:p14="http://schemas.microsoft.com/office/powerpoint/2010/main" val="2637505984"/>
      </p:ext>
    </p:extLst>
  </p:cSld>
  <p:clrMapOvr>
    <a:masterClrMapping/>
  </p:clrMapOvr>
  <p:extLst>
    <p:ext uri="{DCECCB84-F9BA-43D5-87BE-67443E8EF086}">
      <p15:sldGuideLst xmlns:p15="http://schemas.microsoft.com/office/powerpoint/2012/main">
        <p15:guide id="1" pos="3840">
          <p15:clr>
            <a:srgbClr val="FBAE40"/>
          </p15:clr>
        </p15:guide>
        <p15:guide id="2" pos="21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7D13127-35C5-DFE9-DDD8-B7281441C53F}"/>
              </a:ext>
            </a:extLst>
          </p:cNvPr>
          <p:cNvSpPr>
            <a:spLocks noGrp="1"/>
          </p:cNvSpPr>
          <p:nvPr>
            <p:ph type="pic" sz="quarter" idx="11" hasCustomPrompt="1"/>
          </p:nvPr>
        </p:nvSpPr>
        <p:spPr>
          <a:xfrm>
            <a:off x="0" y="0"/>
            <a:ext cx="12192000" cy="6858000"/>
          </a:xfrm>
        </p:spPr>
        <p:txBody>
          <a:bodyPr tIns="365760"/>
          <a:lstStyle>
            <a:lvl1pPr marL="0" indent="0" algn="ctr">
              <a:buNone/>
              <a:defRPr sz="1100">
                <a:solidFill>
                  <a:schemeClr val="bg1"/>
                </a:solidFill>
              </a:defRPr>
            </a:lvl1pPr>
          </a:lstStyle>
          <a:p>
            <a:r>
              <a:rPr lang="en-US"/>
              <a:t>1. Click icon to add photo 2. Crop image if needed &amp; set transparency to 20-40% 3. Right click Image and select send to back</a:t>
            </a:r>
          </a:p>
        </p:txBody>
      </p:sp>
      <p:sp>
        <p:nvSpPr>
          <p:cNvPr id="3" name="Subtitle 2">
            <a:extLst>
              <a:ext uri="{FF2B5EF4-FFF2-40B4-BE49-F238E27FC236}">
                <a16:creationId xmlns:a16="http://schemas.microsoft.com/office/drawing/2014/main" id="{777E9244-683A-4340-4813-C41B98D3DAB8}"/>
              </a:ext>
            </a:extLst>
          </p:cNvPr>
          <p:cNvSpPr>
            <a:spLocks noGrp="1"/>
          </p:cNvSpPr>
          <p:nvPr>
            <p:ph type="subTitle" idx="1" hasCustomPrompt="1"/>
          </p:nvPr>
        </p:nvSpPr>
        <p:spPr bwMode="gray">
          <a:xfrm>
            <a:off x="7498080" y="3026664"/>
            <a:ext cx="1133856" cy="548640"/>
          </a:xfrm>
        </p:spPr>
        <p:txBody>
          <a:bodyPr anchor="ctr" anchorCtr="0">
            <a:noAutofit/>
          </a:bodyPr>
          <a:lstStyle>
            <a:lvl1pPr marL="0" indent="0" algn="l">
              <a:spcBef>
                <a:spcPts val="0"/>
              </a:spcBef>
              <a:buNone/>
              <a:defRPr sz="1400" spc="200" baseline="0">
                <a:solidFill>
                  <a:schemeClr val="accent4"/>
                </a:solidFill>
                <a:latin typeface="Barlow SemiBold" panose="000007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BA1B94AE-89F2-D29E-0A0D-35D8CBFEF9BF}"/>
              </a:ext>
            </a:extLst>
          </p:cNvPr>
          <p:cNvSpPr>
            <a:spLocks noGrp="1"/>
          </p:cNvSpPr>
          <p:nvPr>
            <p:ph type="ctrTitle" hasCustomPrompt="1"/>
          </p:nvPr>
        </p:nvSpPr>
        <p:spPr bwMode="white">
          <a:xfrm>
            <a:off x="1435608" y="1408176"/>
            <a:ext cx="8074152" cy="1527048"/>
          </a:xfrm>
        </p:spPr>
        <p:txBody>
          <a:bodyPr anchor="ctr" anchorCtr="0">
            <a:noAutofit/>
          </a:bodyPr>
          <a:lstStyle>
            <a:lvl1pPr algn="l">
              <a:lnSpc>
                <a:spcPct val="90000"/>
              </a:lnSpc>
              <a:defRPr sz="4400">
                <a:solidFill>
                  <a:schemeClr val="bg1"/>
                </a:solidFill>
              </a:defRPr>
            </a:lvl1pPr>
          </a:lstStyle>
          <a:p>
            <a:r>
              <a:rPr lang="en-US"/>
              <a:t>CLICK TO ADD TITLE</a:t>
            </a:r>
          </a:p>
        </p:txBody>
      </p:sp>
      <p:sp>
        <p:nvSpPr>
          <p:cNvPr id="5" name="Text Placeholder 4">
            <a:extLst>
              <a:ext uri="{FF2B5EF4-FFF2-40B4-BE49-F238E27FC236}">
                <a16:creationId xmlns:a16="http://schemas.microsoft.com/office/drawing/2014/main" id="{102E25C9-8065-01EB-FE1D-F9FDAF6953F4}"/>
              </a:ext>
            </a:extLst>
          </p:cNvPr>
          <p:cNvSpPr>
            <a:spLocks noGrp="1"/>
          </p:cNvSpPr>
          <p:nvPr>
            <p:ph type="body" sz="quarter" idx="10" hasCustomPrompt="1"/>
          </p:nvPr>
        </p:nvSpPr>
        <p:spPr>
          <a:xfrm>
            <a:off x="1463675" y="3026664"/>
            <a:ext cx="5358384" cy="548640"/>
          </a:xfrm>
        </p:spPr>
        <p:txBody>
          <a:bodyPr anchor="ctr" anchorCtr="0"/>
          <a:lstStyle>
            <a:lvl1pPr marL="0" indent="0">
              <a:spcBef>
                <a:spcPts val="0"/>
              </a:spcBef>
              <a:buNone/>
              <a:defRPr sz="1400" spc="200" baseline="0">
                <a:solidFill>
                  <a:schemeClr val="accent4"/>
                </a:solidFill>
                <a:latin typeface="Barlow SemiBold" panose="00000700000000000000" pitchFamily="2" charset="0"/>
              </a:defRPr>
            </a:lvl1pPr>
            <a:lvl2pPr marL="0" indent="0">
              <a:buNone/>
              <a:defRPr/>
            </a:lvl2pPr>
            <a:lvl3pPr marL="0" indent="0">
              <a:buNone/>
              <a:defRPr/>
            </a:lvl3pPr>
            <a:lvl4pPr marL="0" indent="0">
              <a:buNone/>
              <a:defRPr/>
            </a:lvl4pPr>
            <a:lvl5pPr marL="0" indent="0">
              <a:buNone/>
              <a:defRPr/>
            </a:lvl5pPr>
          </a:lstStyle>
          <a:p>
            <a:pPr lvl="0"/>
            <a:r>
              <a:rPr lang="en-US"/>
              <a:t>CLICK TO ADD SUBTITLE</a:t>
            </a:r>
          </a:p>
        </p:txBody>
      </p:sp>
      <p:pic>
        <p:nvPicPr>
          <p:cNvPr id="13" name="Graphic 12">
            <a:extLst>
              <a:ext uri="{FF2B5EF4-FFF2-40B4-BE49-F238E27FC236}">
                <a16:creationId xmlns:a16="http://schemas.microsoft.com/office/drawing/2014/main" id="{6208F20D-19F2-8D28-E682-821EFD97024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2782"/>
            <a:ext cx="12196947" cy="6855218"/>
          </a:xfrm>
          <a:prstGeom prst="rect">
            <a:avLst/>
          </a:prstGeom>
        </p:spPr>
      </p:pic>
    </p:spTree>
    <p:extLst>
      <p:ext uri="{BB962C8B-B14F-4D97-AF65-F5344CB8AC3E}">
        <p14:creationId xmlns:p14="http://schemas.microsoft.com/office/powerpoint/2010/main" val="3148332066"/>
      </p:ext>
    </p:extLst>
  </p:cSld>
  <p:clrMapOvr>
    <a:masterClrMapping/>
  </p:clrMapOvr>
  <p:extLst>
    <p:ext uri="{DCECCB84-F9BA-43D5-87BE-67443E8EF086}">
      <p15:sldGuideLst xmlns:p15="http://schemas.microsoft.com/office/powerpoint/2012/main">
        <p15:guide id="1" pos="3840">
          <p15:clr>
            <a:srgbClr val="FBAE40"/>
          </p15:clr>
        </p15:guide>
        <p15:guide id="2" pos="218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3D6A0D-AD05-E05F-AE34-83C1D764B680}"/>
              </a:ext>
            </a:extLst>
          </p:cNvPr>
          <p:cNvPicPr>
            <a:picLocks noChangeAspect="1"/>
          </p:cNvPicPr>
          <p:nvPr userDrawn="1"/>
        </p:nvPicPr>
        <p:blipFill>
          <a:blip r:embed="rId2">
            <a:extLst>
              <a:ext uri="{28A0092B-C50C-407E-A947-70E740481C1C}">
                <a14:useLocalDpi xmlns:a14="http://schemas.microsoft.com/office/drawing/2010/main" val="0"/>
              </a:ext>
            </a:extLst>
          </a:blip>
          <a:srcRect l="3" r="3"/>
          <a:stretch/>
        </p:blipFill>
        <p:spPr>
          <a:xfrm>
            <a:off x="0" y="0"/>
            <a:ext cx="12191365" cy="6858000"/>
          </a:xfrm>
          <a:prstGeom prst="rect">
            <a:avLst/>
          </a:prstGeom>
        </p:spPr>
      </p:pic>
      <p:sp>
        <p:nvSpPr>
          <p:cNvPr id="3" name="Subtitle 2">
            <a:extLst>
              <a:ext uri="{FF2B5EF4-FFF2-40B4-BE49-F238E27FC236}">
                <a16:creationId xmlns:a16="http://schemas.microsoft.com/office/drawing/2014/main" id="{777E9244-683A-4340-4813-C41B98D3DAB8}"/>
              </a:ext>
            </a:extLst>
          </p:cNvPr>
          <p:cNvSpPr>
            <a:spLocks noGrp="1"/>
          </p:cNvSpPr>
          <p:nvPr>
            <p:ph type="subTitle" idx="1" hasCustomPrompt="1"/>
          </p:nvPr>
        </p:nvSpPr>
        <p:spPr bwMode="gray">
          <a:xfrm>
            <a:off x="8202168" y="3721608"/>
            <a:ext cx="1764792" cy="859536"/>
          </a:xfrm>
        </p:spPr>
        <p:txBody>
          <a:bodyPr anchor="ctr" anchorCtr="0">
            <a:noAutofit/>
          </a:bodyPr>
          <a:lstStyle>
            <a:lvl1pPr marL="0" indent="0" algn="ctr">
              <a:spcBef>
                <a:spcPts val="0"/>
              </a:spcBef>
              <a:buNone/>
              <a:defRPr sz="1400" spc="200" baseline="0">
                <a:solidFill>
                  <a:schemeClr val="accent4"/>
                </a:solidFill>
                <a:latin typeface="Barlow SemiBold" panose="000007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BA1B94AE-89F2-D29E-0A0D-35D8CBFEF9BF}"/>
              </a:ext>
            </a:extLst>
          </p:cNvPr>
          <p:cNvSpPr>
            <a:spLocks noGrp="1"/>
          </p:cNvSpPr>
          <p:nvPr>
            <p:ph type="ctrTitle" hasCustomPrompt="1"/>
          </p:nvPr>
        </p:nvSpPr>
        <p:spPr bwMode="white">
          <a:xfrm>
            <a:off x="2231136" y="2331720"/>
            <a:ext cx="7735824" cy="1271016"/>
          </a:xfrm>
        </p:spPr>
        <p:txBody>
          <a:bodyPr anchor="ctr" anchorCtr="0">
            <a:noAutofit/>
          </a:bodyPr>
          <a:lstStyle>
            <a:lvl1pPr algn="ctr">
              <a:lnSpc>
                <a:spcPct val="100000"/>
              </a:lnSpc>
              <a:defRPr sz="8000" spc="200" baseline="0">
                <a:solidFill>
                  <a:schemeClr val="bg1"/>
                </a:solidFill>
                <a:latin typeface="Barlow ExtraBold" panose="00000900000000000000" pitchFamily="2" charset="0"/>
              </a:defRPr>
            </a:lvl1pPr>
          </a:lstStyle>
          <a:p>
            <a:r>
              <a:rPr lang="en-US"/>
              <a:t>ADD TITLE</a:t>
            </a:r>
          </a:p>
        </p:txBody>
      </p:sp>
      <p:sp>
        <p:nvSpPr>
          <p:cNvPr id="6" name="Text Placeholder 5">
            <a:extLst>
              <a:ext uri="{FF2B5EF4-FFF2-40B4-BE49-F238E27FC236}">
                <a16:creationId xmlns:a16="http://schemas.microsoft.com/office/drawing/2014/main" id="{DE4FE5DD-498D-66F4-91AC-64FA27997186}"/>
              </a:ext>
            </a:extLst>
          </p:cNvPr>
          <p:cNvSpPr>
            <a:spLocks noGrp="1"/>
          </p:cNvSpPr>
          <p:nvPr>
            <p:ph type="body" sz="quarter" idx="10" hasCustomPrompt="1"/>
          </p:nvPr>
        </p:nvSpPr>
        <p:spPr>
          <a:xfrm>
            <a:off x="2514600" y="3721608"/>
            <a:ext cx="5358384" cy="859536"/>
          </a:xfrm>
        </p:spPr>
        <p:txBody>
          <a:bodyPr anchor="ctr" anchorCtr="0"/>
          <a:lstStyle>
            <a:lvl1pPr marL="0" indent="0">
              <a:spcBef>
                <a:spcPts val="0"/>
              </a:spcBef>
              <a:buNone/>
              <a:defRPr sz="1400" spc="200" baseline="0">
                <a:solidFill>
                  <a:schemeClr val="accent4"/>
                </a:solidFill>
                <a:latin typeface="Barlow SemiBold" panose="00000700000000000000" pitchFamily="2" charset="0"/>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HEADER TITLE</a:t>
            </a:r>
          </a:p>
        </p:txBody>
      </p:sp>
    </p:spTree>
    <p:extLst>
      <p:ext uri="{BB962C8B-B14F-4D97-AF65-F5344CB8AC3E}">
        <p14:creationId xmlns:p14="http://schemas.microsoft.com/office/powerpoint/2010/main" val="4214051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069431-BD5C-2FE0-6CB4-D08B58DF736C}"/>
              </a:ext>
            </a:extLst>
          </p:cNvPr>
          <p:cNvPicPr>
            <a:picLocks noChangeAspect="1"/>
          </p:cNvPicPr>
          <p:nvPr userDrawn="1"/>
        </p:nvPicPr>
        <p:blipFill>
          <a:blip r:embed="rId2">
            <a:extLst>
              <a:ext uri="{28A0092B-C50C-407E-A947-70E740481C1C}">
                <a14:useLocalDpi xmlns:a14="http://schemas.microsoft.com/office/drawing/2010/main" val="0"/>
              </a:ext>
            </a:extLst>
          </a:blip>
          <a:srcRect l="5" r="5"/>
          <a:stretch/>
        </p:blipFill>
        <p:spPr>
          <a:xfrm>
            <a:off x="0" y="0"/>
            <a:ext cx="12190777" cy="6858000"/>
          </a:xfrm>
          <a:prstGeom prst="rect">
            <a:avLst/>
          </a:prstGeom>
        </p:spPr>
      </p:pic>
      <p:sp>
        <p:nvSpPr>
          <p:cNvPr id="3" name="Subtitle 2">
            <a:extLst>
              <a:ext uri="{FF2B5EF4-FFF2-40B4-BE49-F238E27FC236}">
                <a16:creationId xmlns:a16="http://schemas.microsoft.com/office/drawing/2014/main" id="{777E9244-683A-4340-4813-C41B98D3DAB8}"/>
              </a:ext>
            </a:extLst>
          </p:cNvPr>
          <p:cNvSpPr>
            <a:spLocks noGrp="1"/>
          </p:cNvSpPr>
          <p:nvPr>
            <p:ph type="subTitle" idx="1" hasCustomPrompt="1"/>
          </p:nvPr>
        </p:nvSpPr>
        <p:spPr bwMode="gray">
          <a:xfrm>
            <a:off x="1086612" y="5733288"/>
            <a:ext cx="2029968" cy="365760"/>
          </a:xfrm>
        </p:spPr>
        <p:txBody>
          <a:bodyPr anchor="ctr" anchorCtr="0">
            <a:noAutofit/>
          </a:bodyPr>
          <a:lstStyle>
            <a:lvl1pPr marL="0" indent="0" algn="l">
              <a:spcBef>
                <a:spcPts val="0"/>
              </a:spcBef>
              <a:buNone/>
              <a:defRPr sz="1200" spc="200" baseline="0">
                <a:solidFill>
                  <a:schemeClr val="accent4"/>
                </a:solidFill>
                <a:latin typeface="Barlow SemiBold" panose="000007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a:t>
            </a:r>
          </a:p>
        </p:txBody>
      </p:sp>
      <p:sp>
        <p:nvSpPr>
          <p:cNvPr id="2" name="Title 1">
            <a:extLst>
              <a:ext uri="{FF2B5EF4-FFF2-40B4-BE49-F238E27FC236}">
                <a16:creationId xmlns:a16="http://schemas.microsoft.com/office/drawing/2014/main" id="{BA1B94AE-89F2-D29E-0A0D-35D8CBFEF9BF}"/>
              </a:ext>
            </a:extLst>
          </p:cNvPr>
          <p:cNvSpPr>
            <a:spLocks noGrp="1"/>
          </p:cNvSpPr>
          <p:nvPr>
            <p:ph type="ctrTitle" hasCustomPrompt="1"/>
          </p:nvPr>
        </p:nvSpPr>
        <p:spPr bwMode="white">
          <a:xfrm>
            <a:off x="1050036" y="2185416"/>
            <a:ext cx="6574536" cy="2761488"/>
          </a:xfrm>
        </p:spPr>
        <p:txBody>
          <a:bodyPr anchor="t" anchorCtr="0">
            <a:noAutofit/>
          </a:bodyPr>
          <a:lstStyle>
            <a:lvl1pPr algn="l">
              <a:lnSpc>
                <a:spcPct val="90000"/>
              </a:lnSpc>
              <a:defRPr sz="6000" spc="200" baseline="0">
                <a:solidFill>
                  <a:schemeClr val="bg1"/>
                </a:solidFill>
              </a:defRPr>
            </a:lvl1pPr>
          </a:lstStyle>
          <a:p>
            <a:r>
              <a:rPr lang="en-US"/>
              <a:t>CLICK TO ADD TITLE</a:t>
            </a:r>
          </a:p>
        </p:txBody>
      </p:sp>
      <p:sp>
        <p:nvSpPr>
          <p:cNvPr id="6" name="Text Placeholder 5">
            <a:extLst>
              <a:ext uri="{FF2B5EF4-FFF2-40B4-BE49-F238E27FC236}">
                <a16:creationId xmlns:a16="http://schemas.microsoft.com/office/drawing/2014/main" id="{DE4FE5DD-498D-66F4-91AC-64FA27997186}"/>
              </a:ext>
            </a:extLst>
          </p:cNvPr>
          <p:cNvSpPr>
            <a:spLocks noGrp="1"/>
          </p:cNvSpPr>
          <p:nvPr>
            <p:ph type="body" sz="quarter" idx="10" hasCustomPrompt="1"/>
          </p:nvPr>
        </p:nvSpPr>
        <p:spPr>
          <a:xfrm>
            <a:off x="1086612" y="1682496"/>
            <a:ext cx="6573838" cy="496888"/>
          </a:xfrm>
        </p:spPr>
        <p:txBody>
          <a:bodyPr anchor="b" anchorCtr="0"/>
          <a:lstStyle>
            <a:lvl1pPr marL="0" indent="0">
              <a:spcBef>
                <a:spcPts val="0"/>
              </a:spcBef>
              <a:buNone/>
              <a:defRPr sz="1400" spc="200" baseline="0">
                <a:solidFill>
                  <a:schemeClr val="accent4"/>
                </a:solidFill>
                <a:latin typeface="Barlow SemiBold" panose="00000700000000000000" pitchFamily="2" charset="0"/>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HEADER TITLE</a:t>
            </a:r>
          </a:p>
        </p:txBody>
      </p:sp>
    </p:spTree>
    <p:extLst>
      <p:ext uri="{BB962C8B-B14F-4D97-AF65-F5344CB8AC3E}">
        <p14:creationId xmlns:p14="http://schemas.microsoft.com/office/powerpoint/2010/main" val="3623619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512064"/>
            <a:ext cx="10488168" cy="1152144"/>
          </a:xfrm>
        </p:spPr>
        <p:txBody>
          <a:bodyPr anchor="t" anchorCtr="0">
            <a:noAutofit/>
          </a:bodyPr>
          <a:lstStyle>
            <a:lvl1pPr>
              <a:lnSpc>
                <a:spcPct val="95000"/>
              </a:lnSpc>
              <a:defRPr sz="4000" spc="150" baseline="0">
                <a:solidFill>
                  <a:schemeClr val="tx1"/>
                </a:solidFill>
              </a:defRPr>
            </a:lvl1pPr>
          </a:lstStyle>
          <a:p>
            <a:r>
              <a:rPr lang="en-US"/>
              <a:t>CLICK TO ADD HEADLINE</a:t>
            </a:r>
          </a:p>
        </p:txBody>
      </p:sp>
      <p:sp>
        <p:nvSpPr>
          <p:cNvPr id="3" name="Content Placeholder 2">
            <a:extLst>
              <a:ext uri="{FF2B5EF4-FFF2-40B4-BE49-F238E27FC236}">
                <a16:creationId xmlns:a16="http://schemas.microsoft.com/office/drawing/2014/main" id="{C76BD7CF-5C08-5219-C414-453E498155F1}"/>
              </a:ext>
            </a:extLst>
          </p:cNvPr>
          <p:cNvSpPr>
            <a:spLocks noGrp="1"/>
          </p:cNvSpPr>
          <p:nvPr>
            <p:ph idx="1"/>
          </p:nvPr>
        </p:nvSpPr>
        <p:spPr>
          <a:xfrm>
            <a:off x="731520" y="1920875"/>
            <a:ext cx="10771632" cy="4088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0" name="Text Placeholder 9">
            <a:extLst>
              <a:ext uri="{FF2B5EF4-FFF2-40B4-BE49-F238E27FC236}">
                <a16:creationId xmlns:a16="http://schemas.microsoft.com/office/drawing/2014/main" id="{3B70F118-C5FE-A082-DB92-5517AA4A0BE3}"/>
              </a:ext>
            </a:extLst>
          </p:cNvPr>
          <p:cNvSpPr>
            <a:spLocks noGrp="1"/>
          </p:cNvSpPr>
          <p:nvPr>
            <p:ph type="body" sz="quarter" idx="13" hasCustomPrompt="1"/>
          </p:nvPr>
        </p:nvSpPr>
        <p:spPr>
          <a:xfrm>
            <a:off x="704088" y="1122934"/>
            <a:ext cx="10349992" cy="518541"/>
          </a:xfrm>
        </p:spPr>
        <p:txBody>
          <a:bodyPr>
            <a:noAutofit/>
          </a:bodyPr>
          <a:lstStyle>
            <a:lvl1pPr marL="0" indent="0">
              <a:spcBef>
                <a:spcPts val="0"/>
              </a:spcBef>
              <a:buNone/>
              <a:defRPr sz="2000" b="1" spc="150" baseline="0">
                <a:solidFill>
                  <a:schemeClr val="bg1">
                    <a:lumMod val="65000"/>
                  </a:schemeClr>
                </a:solidFill>
                <a:latin typeface="+mj-lt"/>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SUBTITLE</a:t>
            </a:r>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714375" y="6089904"/>
            <a:ext cx="10378440" cy="274320"/>
          </a:xfrm>
        </p:spPr>
        <p:txBody>
          <a:bodyPr anchor="b" anchorCtr="0">
            <a:noAutofit/>
          </a:bodyPr>
          <a:lstStyle>
            <a:lvl1pPr marL="0" indent="0">
              <a:lnSpc>
                <a:spcPct val="120000"/>
              </a:lnSpc>
              <a:spcBef>
                <a:spcPts val="0"/>
              </a:spcBef>
              <a:buNone/>
              <a:defRPr sz="700">
                <a:solidFill>
                  <a:schemeClr val="bg1">
                    <a:lumMod val="50000"/>
                  </a:schemeClr>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Tree>
    <p:extLst>
      <p:ext uri="{BB962C8B-B14F-4D97-AF65-F5344CB8AC3E}">
        <p14:creationId xmlns:p14="http://schemas.microsoft.com/office/powerpoint/2010/main" val="1786313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512064"/>
            <a:ext cx="10488168" cy="1152144"/>
          </a:xfrm>
        </p:spPr>
        <p:txBody>
          <a:bodyPr anchor="t" anchorCtr="0">
            <a:noAutofit/>
          </a:bodyPr>
          <a:lstStyle>
            <a:lvl1pPr>
              <a:lnSpc>
                <a:spcPct val="95000"/>
              </a:lnSpc>
              <a:defRPr sz="4000" spc="150" baseline="0">
                <a:solidFill>
                  <a:schemeClr val="tx1"/>
                </a:solidFill>
              </a:defRPr>
            </a:lvl1pPr>
          </a:lstStyle>
          <a:p>
            <a:r>
              <a:rPr lang="en-US"/>
              <a:t>CLICK TO ADD HEADLINE</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0" name="Text Placeholder 9">
            <a:extLst>
              <a:ext uri="{FF2B5EF4-FFF2-40B4-BE49-F238E27FC236}">
                <a16:creationId xmlns:a16="http://schemas.microsoft.com/office/drawing/2014/main" id="{3B70F118-C5FE-A082-DB92-5517AA4A0BE3}"/>
              </a:ext>
            </a:extLst>
          </p:cNvPr>
          <p:cNvSpPr>
            <a:spLocks noGrp="1"/>
          </p:cNvSpPr>
          <p:nvPr>
            <p:ph type="body" sz="quarter" idx="13" hasCustomPrompt="1"/>
          </p:nvPr>
        </p:nvSpPr>
        <p:spPr>
          <a:xfrm>
            <a:off x="704088" y="1126744"/>
            <a:ext cx="10351008" cy="521208"/>
          </a:xfrm>
        </p:spPr>
        <p:txBody>
          <a:bodyPr>
            <a:noAutofit/>
          </a:bodyPr>
          <a:lstStyle>
            <a:lvl1pPr marL="0" indent="0">
              <a:spcBef>
                <a:spcPts val="0"/>
              </a:spcBef>
              <a:buNone/>
              <a:defRPr sz="2000" b="1" spc="150" baseline="0">
                <a:solidFill>
                  <a:schemeClr val="bg1">
                    <a:lumMod val="65000"/>
                  </a:schemeClr>
                </a:solidFill>
                <a:latin typeface="+mj-lt"/>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SUBTITLE</a:t>
            </a:r>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714375" y="6089904"/>
            <a:ext cx="10378440" cy="274320"/>
          </a:xfrm>
        </p:spPr>
        <p:txBody>
          <a:bodyPr anchor="b" anchorCtr="0">
            <a:noAutofit/>
          </a:bodyPr>
          <a:lstStyle>
            <a:lvl1pPr marL="0" indent="0">
              <a:lnSpc>
                <a:spcPct val="120000"/>
              </a:lnSpc>
              <a:spcBef>
                <a:spcPts val="0"/>
              </a:spcBef>
              <a:buNone/>
              <a:defRPr sz="700">
                <a:solidFill>
                  <a:schemeClr val="bg1">
                    <a:lumMod val="50000"/>
                  </a:schemeClr>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Tree>
    <p:extLst>
      <p:ext uri="{BB962C8B-B14F-4D97-AF65-F5344CB8AC3E}">
        <p14:creationId xmlns:p14="http://schemas.microsoft.com/office/powerpoint/2010/main" val="121074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585215"/>
            <a:ext cx="10530728" cy="439353"/>
          </a:xfrm>
        </p:spPr>
        <p:txBody>
          <a:bodyPr anchor="t" anchorCtr="0">
            <a:noAutofit/>
          </a:bodyPr>
          <a:lstStyle>
            <a:lvl1pPr>
              <a:lnSpc>
                <a:spcPct val="100000"/>
              </a:lnSpc>
              <a:defRPr sz="2400" spc="150" baseline="0">
                <a:solidFill>
                  <a:schemeClr val="tx1"/>
                </a:solidFill>
              </a:defRPr>
            </a:lvl1pPr>
          </a:lstStyle>
          <a:p>
            <a:r>
              <a:rPr lang="en-US"/>
              <a:t>CLICK TO ADD HEADLINE</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714375" y="6089904"/>
            <a:ext cx="10378440" cy="274320"/>
          </a:xfrm>
        </p:spPr>
        <p:txBody>
          <a:bodyPr anchor="b" anchorCtr="0">
            <a:noAutofit/>
          </a:bodyPr>
          <a:lstStyle>
            <a:lvl1pPr marL="0" indent="0">
              <a:lnSpc>
                <a:spcPct val="120000"/>
              </a:lnSpc>
              <a:spcBef>
                <a:spcPts val="0"/>
              </a:spcBef>
              <a:buNone/>
              <a:defRPr sz="700">
                <a:solidFill>
                  <a:schemeClr val="bg1">
                    <a:lumMod val="50000"/>
                  </a:schemeClr>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
        <p:nvSpPr>
          <p:cNvPr id="7" name="Text Placeholder 6">
            <a:extLst>
              <a:ext uri="{FF2B5EF4-FFF2-40B4-BE49-F238E27FC236}">
                <a16:creationId xmlns:a16="http://schemas.microsoft.com/office/drawing/2014/main" id="{E955872F-B3B8-5FDF-43A0-45ED1EDC34CF}"/>
              </a:ext>
            </a:extLst>
          </p:cNvPr>
          <p:cNvSpPr>
            <a:spLocks noGrp="1"/>
          </p:cNvSpPr>
          <p:nvPr>
            <p:ph type="body" sz="quarter" idx="15" hasCustomPrompt="1"/>
          </p:nvPr>
        </p:nvSpPr>
        <p:spPr>
          <a:xfrm>
            <a:off x="685800" y="1033713"/>
            <a:ext cx="6089904" cy="557784"/>
          </a:xfrm>
        </p:spPr>
        <p:txBody>
          <a:bodyPr/>
          <a:lstStyle>
            <a:lvl1pPr marL="0" indent="0">
              <a:lnSpc>
                <a:spcPct val="120000"/>
              </a:lnSpc>
              <a:spcBef>
                <a:spcPts val="0"/>
              </a:spcBef>
              <a:buNone/>
              <a:defRPr sz="1200" b="1">
                <a:solidFill>
                  <a:schemeClr val="bg1">
                    <a:lumMod val="65000"/>
                  </a:schemeClr>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ADD SUBTITLE</a:t>
            </a:r>
          </a:p>
        </p:txBody>
      </p:sp>
    </p:spTree>
    <p:extLst>
      <p:ext uri="{BB962C8B-B14F-4D97-AF65-F5344CB8AC3E}">
        <p14:creationId xmlns:p14="http://schemas.microsoft.com/office/powerpoint/2010/main" val="282807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3" descr="A blue background with a white border&#10;&#10;Description automatically generated with medium confidence">
            <a:extLst>
              <a:ext uri="{FF2B5EF4-FFF2-40B4-BE49-F238E27FC236}">
                <a16:creationId xmlns:a16="http://schemas.microsoft.com/office/drawing/2014/main" id="{9C734B27-E97E-CB43-D51B-743E750A8CF2}"/>
              </a:ext>
            </a:extLst>
          </p:cNvPr>
          <p:cNvPicPr>
            <a:picLocks noChangeAspect="1"/>
          </p:cNvPicPr>
          <p:nvPr userDrawn="1"/>
        </p:nvPicPr>
        <p:blipFill rotWithShape="1">
          <a:blip r:embed="rId2"/>
          <a:srcRect t="14827"/>
          <a:stretch/>
        </p:blipFill>
        <p:spPr>
          <a:xfrm>
            <a:off x="0" y="0"/>
            <a:ext cx="12192000" cy="6858000"/>
          </a:xfrm>
          <a:prstGeom prst="rect">
            <a:avLst/>
          </a:prstGeom>
        </p:spPr>
      </p:pic>
      <p:sp>
        <p:nvSpPr>
          <p:cNvPr id="2" name="Title 1">
            <a:extLst>
              <a:ext uri="{FF2B5EF4-FFF2-40B4-BE49-F238E27FC236}">
                <a16:creationId xmlns:a16="http://schemas.microsoft.com/office/drawing/2014/main" id="{22138032-054E-E399-9A21-65FB76826278}"/>
              </a:ext>
            </a:extLst>
          </p:cNvPr>
          <p:cNvSpPr>
            <a:spLocks noGrp="1"/>
          </p:cNvSpPr>
          <p:nvPr>
            <p:ph type="title" hasCustomPrompt="1"/>
          </p:nvPr>
        </p:nvSpPr>
        <p:spPr bwMode="gray">
          <a:xfrm>
            <a:off x="831850" y="1760537"/>
            <a:ext cx="10515600" cy="1897062"/>
          </a:xfrm>
        </p:spPr>
        <p:txBody>
          <a:bodyPr anchor="b" anchorCtr="0"/>
          <a:lstStyle>
            <a:lvl1pPr algn="ctr">
              <a:defRPr sz="6000" spc="200" baseline="0">
                <a:solidFill>
                  <a:schemeClr val="bg1"/>
                </a:solidFill>
              </a:defRPr>
            </a:lvl1pPr>
          </a:lstStyle>
          <a:p>
            <a:r>
              <a:rPr lang="en-US"/>
              <a:t>CLICK TO ADD SECTION TITLE</a:t>
            </a:r>
          </a:p>
        </p:txBody>
      </p:sp>
      <p:sp>
        <p:nvSpPr>
          <p:cNvPr id="3" name="Text Placeholder 2">
            <a:extLst>
              <a:ext uri="{FF2B5EF4-FFF2-40B4-BE49-F238E27FC236}">
                <a16:creationId xmlns:a16="http://schemas.microsoft.com/office/drawing/2014/main" id="{94813CEB-931E-B331-65D0-800539A1B795}"/>
              </a:ext>
            </a:extLst>
          </p:cNvPr>
          <p:cNvSpPr>
            <a:spLocks noGrp="1"/>
          </p:cNvSpPr>
          <p:nvPr>
            <p:ph type="body" idx="1" hasCustomPrompt="1"/>
          </p:nvPr>
        </p:nvSpPr>
        <p:spPr bwMode="gray">
          <a:xfrm>
            <a:off x="831850" y="3695700"/>
            <a:ext cx="10515600" cy="581026"/>
          </a:xfrm>
        </p:spPr>
        <p:txBody>
          <a:bodyPr>
            <a:normAutofit/>
          </a:bodyPr>
          <a:lstStyle>
            <a:lvl1pPr marL="0" indent="0" algn="ctr">
              <a:spcBef>
                <a:spcPts val="0"/>
              </a:spcBef>
              <a:buNone/>
              <a:defRPr sz="1800" spc="200" baseline="0">
                <a:solidFill>
                  <a:schemeClr val="bg1"/>
                </a:solidFill>
                <a:latin typeface="Barlow Medium" panose="000006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6" name="Slide Number Placeholder 5">
            <a:extLst>
              <a:ext uri="{FF2B5EF4-FFF2-40B4-BE49-F238E27FC236}">
                <a16:creationId xmlns:a16="http://schemas.microsoft.com/office/drawing/2014/main" id="{33628E5F-9425-6809-8CAC-928E469066A4}"/>
              </a:ext>
            </a:extLst>
          </p:cNvPr>
          <p:cNvSpPr>
            <a:spLocks noGrp="1"/>
          </p:cNvSpPr>
          <p:nvPr>
            <p:ph type="sldNum" sz="quarter" idx="12"/>
          </p:nvPr>
        </p:nvSpPr>
        <p:spPr/>
        <p:txBody>
          <a:bodyPr/>
          <a:lstStyle/>
          <a:p>
            <a:fld id="{6D05E8BB-FF85-4620-9298-8F3F48811131}" type="slidenum">
              <a:rPr lang="en-US" smtClean="0"/>
              <a:t>‹#›</a:t>
            </a:fld>
            <a:endParaRPr lang="en-US"/>
          </a:p>
        </p:txBody>
      </p:sp>
    </p:spTree>
    <p:extLst>
      <p:ext uri="{BB962C8B-B14F-4D97-AF65-F5344CB8AC3E}">
        <p14:creationId xmlns:p14="http://schemas.microsoft.com/office/powerpoint/2010/main" val="3811048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6CC2EE-0982-C8D7-3054-9FDB24E554E0}"/>
              </a:ext>
            </a:extLst>
          </p:cNvPr>
          <p:cNvSpPr>
            <a:spLocks noGrp="1"/>
          </p:cNvSpPr>
          <p:nvPr>
            <p:ph type="sldNum" sz="quarter" idx="12"/>
          </p:nvPr>
        </p:nvSpPr>
        <p:spPr/>
        <p:txBody>
          <a:bodyPr/>
          <a:lstStyle/>
          <a:p>
            <a:fld id="{6D05E8BB-FF85-4620-9298-8F3F48811131}" type="slidenum">
              <a:rPr lang="en-US" smtClean="0"/>
              <a:t>‹#›</a:t>
            </a:fld>
            <a:endParaRPr lang="en-US"/>
          </a:p>
        </p:txBody>
      </p:sp>
    </p:spTree>
    <p:extLst>
      <p:ext uri="{BB962C8B-B14F-4D97-AF65-F5344CB8AC3E}">
        <p14:creationId xmlns:p14="http://schemas.microsoft.com/office/powerpoint/2010/main" val="2207389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pic>
        <p:nvPicPr>
          <p:cNvPr id="10" name="Picture 9" descr="A white surface with black dots&#10;&#10;Description automatically generated">
            <a:extLst>
              <a:ext uri="{FF2B5EF4-FFF2-40B4-BE49-F238E27FC236}">
                <a16:creationId xmlns:a16="http://schemas.microsoft.com/office/drawing/2014/main" id="{5A48EC89-098C-BCFC-9D5B-871D7E3C9C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ln w="9525">
            <a:solidFill>
              <a:schemeClr val="tx1"/>
            </a:solidFill>
          </a:ln>
        </p:spPr>
      </p:pic>
      <p:pic>
        <p:nvPicPr>
          <p:cNvPr id="3" name="Picture 2" descr="A yellow surface with a black border&#10;&#10;Description automatically generated with medium confidence">
            <a:extLst>
              <a:ext uri="{FF2B5EF4-FFF2-40B4-BE49-F238E27FC236}">
                <a16:creationId xmlns:a16="http://schemas.microsoft.com/office/drawing/2014/main" id="{83459E73-573A-FBEE-226C-9038C0BDB0E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57643"/>
          <a:stretch/>
        </p:blipFill>
        <p:spPr>
          <a:xfrm>
            <a:off x="8056690" y="1222046"/>
            <a:ext cx="3383281" cy="4492952"/>
          </a:xfrm>
          <a:prstGeom prst="rect">
            <a:avLst/>
          </a:prstGeom>
        </p:spPr>
      </p:pic>
      <p:pic>
        <p:nvPicPr>
          <p:cNvPr id="4" name="Picture 3" descr="A green background with white dots&#10;&#10;Description automatically generated">
            <a:extLst>
              <a:ext uri="{FF2B5EF4-FFF2-40B4-BE49-F238E27FC236}">
                <a16:creationId xmlns:a16="http://schemas.microsoft.com/office/drawing/2014/main" id="{FEC197D9-0231-6F36-983D-C78E87961DF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5514" r="32129"/>
          <a:stretch/>
        </p:blipFill>
        <p:spPr>
          <a:xfrm>
            <a:off x="4413155" y="1222046"/>
            <a:ext cx="3383282" cy="4492952"/>
          </a:xfrm>
          <a:prstGeom prst="rect">
            <a:avLst/>
          </a:prstGeom>
        </p:spPr>
      </p:pic>
      <p:pic>
        <p:nvPicPr>
          <p:cNvPr id="5" name="Picture 4" descr="A blue sky with white clouds&#10;&#10;Description automatically generated">
            <a:extLst>
              <a:ext uri="{FF2B5EF4-FFF2-40B4-BE49-F238E27FC236}">
                <a16:creationId xmlns:a16="http://schemas.microsoft.com/office/drawing/2014/main" id="{CF183830-AB44-CCC9-3040-784D7F27176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30429" t="-1" r="27658" b="1052"/>
          <a:stretch/>
        </p:blipFill>
        <p:spPr>
          <a:xfrm>
            <a:off x="769619" y="1222049"/>
            <a:ext cx="3383280" cy="4492952"/>
          </a:xfrm>
          <a:prstGeom prst="rect">
            <a:avLst/>
          </a:prstGeom>
        </p:spPr>
      </p:pic>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585216"/>
            <a:ext cx="10530728" cy="338328"/>
          </a:xfrm>
        </p:spPr>
        <p:txBody>
          <a:bodyPr anchor="t" anchorCtr="0">
            <a:noAutofit/>
          </a:bodyPr>
          <a:lstStyle>
            <a:lvl1pPr>
              <a:lnSpc>
                <a:spcPct val="100000"/>
              </a:lnSpc>
              <a:defRPr sz="1600" spc="150" baseline="0">
                <a:solidFill>
                  <a:schemeClr val="tx1"/>
                </a:solidFill>
              </a:defRPr>
            </a:lvl1pPr>
          </a:lstStyle>
          <a:p>
            <a:r>
              <a:rPr lang="en-US"/>
              <a:t>CLICK TO ADD HEADLINE</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4" name="Text Placeholder 13">
            <a:extLst>
              <a:ext uri="{FF2B5EF4-FFF2-40B4-BE49-F238E27FC236}">
                <a16:creationId xmlns:a16="http://schemas.microsoft.com/office/drawing/2014/main" id="{37D959A5-A1C4-48F7-5213-7694DA537FA4}"/>
              </a:ext>
            </a:extLst>
          </p:cNvPr>
          <p:cNvSpPr>
            <a:spLocks noGrp="1"/>
          </p:cNvSpPr>
          <p:nvPr>
            <p:ph type="body" sz="quarter" idx="13"/>
          </p:nvPr>
        </p:nvSpPr>
        <p:spPr>
          <a:xfrm>
            <a:off x="1051560" y="1574799"/>
            <a:ext cx="2819398" cy="3774441"/>
          </a:xfrm>
        </p:spPr>
        <p:txBody>
          <a:bodyPr lIns="45720" rIns="45720"/>
          <a:lstStyle>
            <a:lvl1pPr marL="228600" indent="-228600">
              <a:spcBef>
                <a:spcPts val="1200"/>
              </a:spcBef>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38350C6F-0CA4-F574-6EEA-EAD8139DB1F0}"/>
              </a:ext>
            </a:extLst>
          </p:cNvPr>
          <p:cNvSpPr>
            <a:spLocks noGrp="1"/>
          </p:cNvSpPr>
          <p:nvPr>
            <p:ph type="body" sz="quarter" idx="14"/>
          </p:nvPr>
        </p:nvSpPr>
        <p:spPr>
          <a:xfrm>
            <a:off x="4695094" y="1574799"/>
            <a:ext cx="2819402" cy="3775075"/>
          </a:xfrm>
        </p:spPr>
        <p:txBody>
          <a:bodyPr lIns="45720" rIns="45720"/>
          <a:lstStyle>
            <a:lvl1pPr marL="228600" indent="-228600">
              <a:spcBef>
                <a:spcPts val="1200"/>
              </a:spcBef>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5B3268E2-E545-E796-9AE8-199EFA595230}"/>
              </a:ext>
            </a:extLst>
          </p:cNvPr>
          <p:cNvSpPr>
            <a:spLocks noGrp="1"/>
          </p:cNvSpPr>
          <p:nvPr>
            <p:ph type="body" sz="quarter" idx="15"/>
          </p:nvPr>
        </p:nvSpPr>
        <p:spPr>
          <a:xfrm>
            <a:off x="8338631" y="1574800"/>
            <a:ext cx="2819399" cy="3851275"/>
          </a:xfrm>
        </p:spPr>
        <p:txBody>
          <a:bodyPr lIns="45720" rIns="45720"/>
          <a:lstStyle>
            <a:lvl1pPr marL="228600" indent="-228600">
              <a:spcBef>
                <a:spcPts val="1200"/>
              </a:spcBef>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endParaRPr lang="en-US"/>
          </a:p>
        </p:txBody>
      </p:sp>
    </p:spTree>
    <p:extLst>
      <p:ext uri="{BB962C8B-B14F-4D97-AF65-F5344CB8AC3E}">
        <p14:creationId xmlns:p14="http://schemas.microsoft.com/office/powerpoint/2010/main" val="4182327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859536"/>
            <a:ext cx="10488168" cy="1152144"/>
          </a:xfrm>
        </p:spPr>
        <p:txBody>
          <a:bodyPr anchor="t" anchorCtr="0">
            <a:noAutofit/>
          </a:bodyPr>
          <a:lstStyle>
            <a:lvl1pPr>
              <a:lnSpc>
                <a:spcPct val="95000"/>
              </a:lnSpc>
              <a:defRPr spc="150" baseline="0">
                <a:solidFill>
                  <a:schemeClr val="tx1"/>
                </a:solidFill>
              </a:defRPr>
            </a:lvl1pPr>
          </a:lstStyle>
          <a:p>
            <a:r>
              <a:rPr lang="en-US"/>
              <a:t>CLICK TO ADD TITLE</a:t>
            </a:r>
          </a:p>
        </p:txBody>
      </p:sp>
      <p:sp>
        <p:nvSpPr>
          <p:cNvPr id="3" name="Content Placeholder 2">
            <a:extLst>
              <a:ext uri="{FF2B5EF4-FFF2-40B4-BE49-F238E27FC236}">
                <a16:creationId xmlns:a16="http://schemas.microsoft.com/office/drawing/2014/main" id="{C76BD7CF-5C08-5219-C414-453E498155F1}"/>
              </a:ext>
            </a:extLst>
          </p:cNvPr>
          <p:cNvSpPr>
            <a:spLocks noGrp="1"/>
          </p:cNvSpPr>
          <p:nvPr>
            <p:ph idx="1"/>
          </p:nvPr>
        </p:nvSpPr>
        <p:spPr>
          <a:xfrm>
            <a:off x="731520" y="2103120"/>
            <a:ext cx="10771632" cy="3905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0" name="Text Placeholder 9">
            <a:extLst>
              <a:ext uri="{FF2B5EF4-FFF2-40B4-BE49-F238E27FC236}">
                <a16:creationId xmlns:a16="http://schemas.microsoft.com/office/drawing/2014/main" id="{3B70F118-C5FE-A082-DB92-5517AA4A0BE3}"/>
              </a:ext>
            </a:extLst>
          </p:cNvPr>
          <p:cNvSpPr>
            <a:spLocks noGrp="1"/>
          </p:cNvSpPr>
          <p:nvPr>
            <p:ph type="body" sz="quarter" idx="13" hasCustomPrompt="1"/>
          </p:nvPr>
        </p:nvSpPr>
        <p:spPr>
          <a:xfrm>
            <a:off x="685800" y="1408176"/>
            <a:ext cx="10349992" cy="466344"/>
          </a:xfrm>
        </p:spPr>
        <p:txBody>
          <a:bodyPr>
            <a:noAutofit/>
          </a:bodyPr>
          <a:lstStyle>
            <a:lvl1pPr marL="0" indent="0">
              <a:spcBef>
                <a:spcPts val="0"/>
              </a:spcBef>
              <a:buNone/>
              <a:defRPr sz="1600">
                <a:solidFill>
                  <a:schemeClr val="accent2"/>
                </a:solidFill>
                <a:latin typeface="Work Sans SemiBold" pitchFamily="2" charset="0"/>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subtitle</a:t>
            </a:r>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685800" y="6089904"/>
            <a:ext cx="10378440" cy="274320"/>
          </a:xfrm>
        </p:spPr>
        <p:txBody>
          <a:bodyPr anchor="b" anchorCtr="0">
            <a:noAutofit/>
          </a:bodyPr>
          <a:lstStyle>
            <a:lvl1pPr marL="0" indent="0">
              <a:lnSpc>
                <a:spcPct val="120000"/>
              </a:lnSpc>
              <a:spcBef>
                <a:spcPts val="0"/>
              </a:spcBef>
              <a:buNone/>
              <a:defRPr sz="700">
                <a:solidFill>
                  <a:schemeClr val="accent3"/>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
        <p:nvSpPr>
          <p:cNvPr id="5" name="Text Placeholder 4">
            <a:extLst>
              <a:ext uri="{FF2B5EF4-FFF2-40B4-BE49-F238E27FC236}">
                <a16:creationId xmlns:a16="http://schemas.microsoft.com/office/drawing/2014/main" id="{AA1F36C9-3CFC-F8BA-2CBF-4CCDDE74EF5D}"/>
              </a:ext>
            </a:extLst>
          </p:cNvPr>
          <p:cNvSpPr>
            <a:spLocks noGrp="1"/>
          </p:cNvSpPr>
          <p:nvPr>
            <p:ph type="body" sz="quarter" idx="15" hasCustomPrompt="1"/>
          </p:nvPr>
        </p:nvSpPr>
        <p:spPr>
          <a:xfrm>
            <a:off x="694944" y="576072"/>
            <a:ext cx="10433304" cy="265176"/>
          </a:xfrm>
        </p:spPr>
        <p:txBody>
          <a:bodyPr anchor="ctr" anchorCtr="0"/>
          <a:lstStyle>
            <a:lvl1pPr marL="0" indent="0">
              <a:spcBef>
                <a:spcPts val="0"/>
              </a:spcBef>
              <a:buNone/>
              <a:defRPr sz="1400">
                <a:solidFill>
                  <a:schemeClr val="accent4"/>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SECTION TITLE</a:t>
            </a:r>
          </a:p>
        </p:txBody>
      </p:sp>
    </p:spTree>
    <p:extLst>
      <p:ext uri="{BB962C8B-B14F-4D97-AF65-F5344CB8AC3E}">
        <p14:creationId xmlns:p14="http://schemas.microsoft.com/office/powerpoint/2010/main" val="2009779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859536"/>
            <a:ext cx="10488168" cy="1152144"/>
          </a:xfrm>
        </p:spPr>
        <p:txBody>
          <a:bodyPr anchor="t" anchorCtr="0">
            <a:noAutofit/>
          </a:bodyPr>
          <a:lstStyle>
            <a:lvl1pPr>
              <a:lnSpc>
                <a:spcPct val="95000"/>
              </a:lnSpc>
              <a:defRPr spc="150" baseline="0">
                <a:solidFill>
                  <a:schemeClr val="tx1"/>
                </a:solidFill>
              </a:defRPr>
            </a:lvl1pPr>
          </a:lstStyle>
          <a:p>
            <a:r>
              <a:rPr lang="en-US"/>
              <a:t>CLICK TO ADD HEADLINE</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0" name="Text Placeholder 9">
            <a:extLst>
              <a:ext uri="{FF2B5EF4-FFF2-40B4-BE49-F238E27FC236}">
                <a16:creationId xmlns:a16="http://schemas.microsoft.com/office/drawing/2014/main" id="{3B70F118-C5FE-A082-DB92-5517AA4A0BE3}"/>
              </a:ext>
            </a:extLst>
          </p:cNvPr>
          <p:cNvSpPr>
            <a:spLocks noGrp="1"/>
          </p:cNvSpPr>
          <p:nvPr>
            <p:ph type="body" sz="quarter" idx="13" hasCustomPrompt="1"/>
          </p:nvPr>
        </p:nvSpPr>
        <p:spPr>
          <a:xfrm>
            <a:off x="704088" y="1426464"/>
            <a:ext cx="10351008" cy="603504"/>
          </a:xfrm>
        </p:spPr>
        <p:txBody>
          <a:bodyPr>
            <a:noAutofit/>
          </a:bodyPr>
          <a:lstStyle>
            <a:lvl1pPr marL="0" indent="0">
              <a:spcBef>
                <a:spcPts val="0"/>
              </a:spcBef>
              <a:buNone/>
              <a:defRPr sz="1400">
                <a:solidFill>
                  <a:schemeClr val="accent2"/>
                </a:solidFill>
                <a:latin typeface="Work Sans SemiBold" pitchFamily="2" charset="0"/>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subtitle</a:t>
            </a:r>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714375" y="6089904"/>
            <a:ext cx="10378440" cy="274320"/>
          </a:xfrm>
        </p:spPr>
        <p:txBody>
          <a:bodyPr anchor="b" anchorCtr="0">
            <a:noAutofit/>
          </a:bodyPr>
          <a:lstStyle>
            <a:lvl1pPr marL="0" indent="0">
              <a:lnSpc>
                <a:spcPct val="120000"/>
              </a:lnSpc>
              <a:spcBef>
                <a:spcPts val="0"/>
              </a:spcBef>
              <a:buNone/>
              <a:defRPr sz="700">
                <a:solidFill>
                  <a:schemeClr val="accent3"/>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
        <p:nvSpPr>
          <p:cNvPr id="4" name="Text Placeholder 3">
            <a:extLst>
              <a:ext uri="{FF2B5EF4-FFF2-40B4-BE49-F238E27FC236}">
                <a16:creationId xmlns:a16="http://schemas.microsoft.com/office/drawing/2014/main" id="{157AB716-381C-D1EC-F4BC-8DE591811FD4}"/>
              </a:ext>
            </a:extLst>
          </p:cNvPr>
          <p:cNvSpPr>
            <a:spLocks noGrp="1"/>
          </p:cNvSpPr>
          <p:nvPr>
            <p:ph type="body" sz="quarter" idx="15" hasCustomPrompt="1"/>
          </p:nvPr>
        </p:nvSpPr>
        <p:spPr>
          <a:xfrm>
            <a:off x="702564" y="576072"/>
            <a:ext cx="10433304" cy="265176"/>
          </a:xfrm>
        </p:spPr>
        <p:txBody>
          <a:bodyPr anchor="b" anchorCtr="0"/>
          <a:lstStyle>
            <a:lvl1pPr marL="0" indent="0">
              <a:lnSpc>
                <a:spcPct val="110000"/>
              </a:lnSpc>
              <a:spcBef>
                <a:spcPts val="0"/>
              </a:spcBef>
              <a:spcAft>
                <a:spcPts val="0"/>
              </a:spcAft>
              <a:buNone/>
              <a:defRPr sz="1200" spc="150" baseline="0">
                <a:solidFill>
                  <a:schemeClr val="accent1"/>
                </a:solidFill>
                <a:latin typeface="+mj-lt"/>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stStyle>
          <a:p>
            <a:pPr lvl="0"/>
            <a:r>
              <a:rPr lang="en-US"/>
              <a:t>CLICK TO ADD SECTION TITLE</a:t>
            </a:r>
          </a:p>
        </p:txBody>
      </p:sp>
    </p:spTree>
    <p:extLst>
      <p:ext uri="{BB962C8B-B14F-4D97-AF65-F5344CB8AC3E}">
        <p14:creationId xmlns:p14="http://schemas.microsoft.com/office/powerpoint/2010/main" val="3774474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7B0B0-D35D-AEEC-16BB-7305C8F1ECE9}"/>
              </a:ext>
            </a:extLst>
          </p:cNvPr>
          <p:cNvSpPr>
            <a:spLocks noGrp="1"/>
          </p:cNvSpPr>
          <p:nvPr>
            <p:ph type="title" hasCustomPrompt="1"/>
          </p:nvPr>
        </p:nvSpPr>
        <p:spPr>
          <a:xfrm>
            <a:off x="685800" y="512064"/>
            <a:ext cx="10488168" cy="1152144"/>
          </a:xfrm>
        </p:spPr>
        <p:txBody>
          <a:bodyPr anchor="t" anchorCtr="0">
            <a:noAutofit/>
          </a:bodyPr>
          <a:lstStyle>
            <a:lvl1pPr>
              <a:lnSpc>
                <a:spcPct val="95000"/>
              </a:lnSpc>
              <a:defRPr spc="150" baseline="0">
                <a:solidFill>
                  <a:schemeClr val="tx1"/>
                </a:solidFill>
              </a:defRPr>
            </a:lvl1pPr>
          </a:lstStyle>
          <a:p>
            <a:r>
              <a:rPr lang="en-US"/>
              <a:t>CLICK TO ADD HEADLINE</a:t>
            </a:r>
          </a:p>
        </p:txBody>
      </p:sp>
      <p:sp>
        <p:nvSpPr>
          <p:cNvPr id="3" name="Content Placeholder 2">
            <a:extLst>
              <a:ext uri="{FF2B5EF4-FFF2-40B4-BE49-F238E27FC236}">
                <a16:creationId xmlns:a16="http://schemas.microsoft.com/office/drawing/2014/main" id="{C76BD7CF-5C08-5219-C414-453E498155F1}"/>
              </a:ext>
            </a:extLst>
          </p:cNvPr>
          <p:cNvSpPr>
            <a:spLocks noGrp="1"/>
          </p:cNvSpPr>
          <p:nvPr>
            <p:ph idx="1"/>
          </p:nvPr>
        </p:nvSpPr>
        <p:spPr>
          <a:xfrm>
            <a:off x="731520" y="2103120"/>
            <a:ext cx="10771632" cy="3905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F61ED1-CDFE-76B6-B672-B745F01F15E5}"/>
              </a:ext>
            </a:extLst>
          </p:cNvPr>
          <p:cNvSpPr>
            <a:spLocks noGrp="1"/>
          </p:cNvSpPr>
          <p:nvPr>
            <p:ph type="sldNum" sz="quarter" idx="12"/>
          </p:nvPr>
        </p:nvSpPr>
        <p:spPr/>
        <p:txBody>
          <a:bodyPr/>
          <a:lstStyle/>
          <a:p>
            <a:fld id="{6D05E8BB-FF85-4620-9298-8F3F48811131}" type="slidenum">
              <a:rPr lang="en-US" smtClean="0"/>
              <a:t>‹#›</a:t>
            </a:fld>
            <a:endParaRPr lang="en-US"/>
          </a:p>
        </p:txBody>
      </p:sp>
      <p:sp>
        <p:nvSpPr>
          <p:cNvPr id="10" name="Text Placeholder 9">
            <a:extLst>
              <a:ext uri="{FF2B5EF4-FFF2-40B4-BE49-F238E27FC236}">
                <a16:creationId xmlns:a16="http://schemas.microsoft.com/office/drawing/2014/main" id="{3B70F118-C5FE-A082-DB92-5517AA4A0BE3}"/>
              </a:ext>
            </a:extLst>
          </p:cNvPr>
          <p:cNvSpPr>
            <a:spLocks noGrp="1"/>
          </p:cNvSpPr>
          <p:nvPr>
            <p:ph type="body" sz="quarter" idx="13" hasCustomPrompt="1"/>
          </p:nvPr>
        </p:nvSpPr>
        <p:spPr>
          <a:xfrm>
            <a:off x="704088" y="1426464"/>
            <a:ext cx="10349992" cy="599186"/>
          </a:xfrm>
        </p:spPr>
        <p:txBody>
          <a:bodyPr>
            <a:noAutofit/>
          </a:bodyPr>
          <a:lstStyle>
            <a:lvl1pPr marL="0" indent="0">
              <a:spcBef>
                <a:spcPts val="0"/>
              </a:spcBef>
              <a:buNone/>
              <a:defRPr sz="1400">
                <a:solidFill>
                  <a:schemeClr val="accent2"/>
                </a:solidFill>
                <a:latin typeface="Work Sans SemiBold" pitchFamily="2" charset="0"/>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subtitle</a:t>
            </a:r>
          </a:p>
        </p:txBody>
      </p:sp>
      <p:sp>
        <p:nvSpPr>
          <p:cNvPr id="8" name="Text Placeholder 7">
            <a:extLst>
              <a:ext uri="{FF2B5EF4-FFF2-40B4-BE49-F238E27FC236}">
                <a16:creationId xmlns:a16="http://schemas.microsoft.com/office/drawing/2014/main" id="{7F0047D9-12B7-C303-0EFD-061924FF5D77}"/>
              </a:ext>
            </a:extLst>
          </p:cNvPr>
          <p:cNvSpPr>
            <a:spLocks noGrp="1"/>
          </p:cNvSpPr>
          <p:nvPr>
            <p:ph type="body" sz="quarter" idx="14" hasCustomPrompt="1"/>
          </p:nvPr>
        </p:nvSpPr>
        <p:spPr>
          <a:xfrm>
            <a:off x="714375" y="6089904"/>
            <a:ext cx="10378440" cy="274320"/>
          </a:xfrm>
        </p:spPr>
        <p:txBody>
          <a:bodyPr anchor="b" anchorCtr="0">
            <a:noAutofit/>
          </a:bodyPr>
          <a:lstStyle>
            <a:lvl1pPr marL="0" indent="0">
              <a:lnSpc>
                <a:spcPct val="120000"/>
              </a:lnSpc>
              <a:spcBef>
                <a:spcPts val="0"/>
              </a:spcBef>
              <a:buNone/>
              <a:defRPr sz="700">
                <a:solidFill>
                  <a:schemeClr val="accent3"/>
                </a:solidFill>
              </a:defRPr>
            </a:lvl1pPr>
            <a:lvl2pPr marL="457200" indent="0">
              <a:buNone/>
              <a:defRPr/>
            </a:lvl2pPr>
            <a:lvl3pPr marL="868680" indent="0">
              <a:buNone/>
              <a:defRPr/>
            </a:lvl3pPr>
            <a:lvl4pPr marL="1261872" indent="0">
              <a:buNone/>
              <a:defRPr/>
            </a:lvl4pPr>
            <a:lvl5pPr marL="1645920" indent="0">
              <a:buNone/>
              <a:defRPr/>
            </a:lvl5pPr>
          </a:lstStyle>
          <a:p>
            <a:pPr lvl="0"/>
            <a:r>
              <a:rPr lang="en-US"/>
              <a:t>Click to add sources</a:t>
            </a:r>
          </a:p>
        </p:txBody>
      </p:sp>
    </p:spTree>
    <p:extLst>
      <p:ext uri="{BB962C8B-B14F-4D97-AF65-F5344CB8AC3E}">
        <p14:creationId xmlns:p14="http://schemas.microsoft.com/office/powerpoint/2010/main" val="2348899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 Full Page">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B1BE81B-501C-4A4D-B42D-8D5BDB485BD1}"/>
              </a:ext>
            </a:extLst>
          </p:cNvPr>
          <p:cNvSpPr>
            <a:spLocks noGrp="1"/>
          </p:cNvSpPr>
          <p:nvPr>
            <p:ph idx="1"/>
          </p:nvPr>
        </p:nvSpPr>
        <p:spPr>
          <a:xfrm>
            <a:off x="540487" y="1329133"/>
            <a:ext cx="10786732" cy="4702766"/>
          </a:xfrm>
          <a:prstGeom prst="rect">
            <a:avLst/>
          </a:prstGeom>
        </p:spPr>
        <p:txBody>
          <a:bodyPr>
            <a:noAutofit/>
          </a:bodyPr>
          <a:lstStyle>
            <a:lvl1pPr>
              <a:lnSpc>
                <a:spcPct val="100000"/>
              </a:lnSpc>
              <a:defRPr sz="1400" b="0" i="0">
                <a:latin typeface="Avenir Next" panose="020B0503020202020204" pitchFamily="34" charset="0"/>
              </a:defRPr>
            </a:lvl1pPr>
            <a:lvl2pPr>
              <a:lnSpc>
                <a:spcPct val="100000"/>
              </a:lnSpc>
              <a:defRPr sz="1400" b="0" i="0">
                <a:latin typeface="Avenir Next" panose="020B0503020202020204" pitchFamily="34" charset="0"/>
              </a:defRPr>
            </a:lvl2pPr>
            <a:lvl3pPr>
              <a:lnSpc>
                <a:spcPct val="100000"/>
              </a:lnSpc>
              <a:defRPr sz="1400" b="0" i="0">
                <a:latin typeface="Avenir Next" panose="020B0503020202020204" pitchFamily="34" charset="0"/>
              </a:defRPr>
            </a:lvl3pPr>
            <a:lvl4pPr>
              <a:lnSpc>
                <a:spcPct val="100000"/>
              </a:lnSpc>
              <a:defRPr sz="1400" b="0" i="0">
                <a:latin typeface="Avenir Next" panose="020B0503020202020204" pitchFamily="34" charset="0"/>
              </a:defRPr>
            </a:lvl4pPr>
            <a:lvl5pPr>
              <a:lnSpc>
                <a:spcPct val="100000"/>
              </a:lnSpc>
              <a:defRPr sz="1400" b="0" i="0">
                <a:latin typeface="Avenir Next" panose="020B05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4D978CEB-9A64-826B-FFDA-08275035032F}"/>
              </a:ext>
            </a:extLst>
          </p:cNvPr>
          <p:cNvSpPr>
            <a:spLocks noGrp="1"/>
          </p:cNvSpPr>
          <p:nvPr>
            <p:ph type="title" hasCustomPrompt="1"/>
          </p:nvPr>
        </p:nvSpPr>
        <p:spPr>
          <a:xfrm>
            <a:off x="512136" y="482085"/>
            <a:ext cx="10820277" cy="265739"/>
          </a:xfrm>
          <a:prstGeom prst="rect">
            <a:avLst/>
          </a:prstGeom>
        </p:spPr>
        <p:txBody>
          <a:bodyPr>
            <a:noAutofit/>
          </a:bodyPr>
          <a:lstStyle>
            <a:lvl1pPr>
              <a:defRPr sz="1000" b="1" i="0" cap="all" baseline="0">
                <a:solidFill>
                  <a:schemeClr val="accent1"/>
                </a:solidFill>
                <a:latin typeface="Ringside Wide Bold" panose="02000500000000000000" pitchFamily="2" charset="77"/>
                <a:cs typeface="Ringside Wide Bold" panose="02000500000000000000" pitchFamily="2" charset="77"/>
              </a:defRPr>
            </a:lvl1pPr>
          </a:lstStyle>
          <a:p>
            <a:r>
              <a:rPr lang="en-US"/>
              <a:t>Section title</a:t>
            </a:r>
          </a:p>
        </p:txBody>
      </p:sp>
      <p:sp>
        <p:nvSpPr>
          <p:cNvPr id="3" name="Text Placeholder 3">
            <a:extLst>
              <a:ext uri="{FF2B5EF4-FFF2-40B4-BE49-F238E27FC236}">
                <a16:creationId xmlns:a16="http://schemas.microsoft.com/office/drawing/2014/main" id="{34318273-C028-E8B2-3998-80B9E7B3916D}"/>
              </a:ext>
            </a:extLst>
          </p:cNvPr>
          <p:cNvSpPr>
            <a:spLocks noGrp="1"/>
          </p:cNvSpPr>
          <p:nvPr>
            <p:ph type="body" sz="quarter" idx="13" hasCustomPrompt="1"/>
          </p:nvPr>
        </p:nvSpPr>
        <p:spPr>
          <a:xfrm>
            <a:off x="510116" y="727767"/>
            <a:ext cx="10844701" cy="360363"/>
          </a:xfrm>
          <a:prstGeom prst="rect">
            <a:avLst/>
          </a:prstGeom>
        </p:spPr>
        <p:txBody>
          <a:bodyPr>
            <a:noAutofit/>
          </a:bodyPr>
          <a:lstStyle>
            <a:lvl1pPr marL="0" indent="0">
              <a:buNone/>
              <a:defRPr sz="2000" b="1" i="0">
                <a:solidFill>
                  <a:schemeClr val="accent2"/>
                </a:solidFill>
                <a:latin typeface="Playfair Display" pitchFamily="2" charset="77"/>
              </a:defRPr>
            </a:lvl1pPr>
          </a:lstStyle>
          <a:p>
            <a:pPr lvl="0"/>
            <a:r>
              <a:rPr lang="en-US"/>
              <a:t>slide title</a:t>
            </a:r>
          </a:p>
        </p:txBody>
      </p:sp>
      <p:sp>
        <p:nvSpPr>
          <p:cNvPr id="4" name="Slide Number Placeholder 1">
            <a:extLst>
              <a:ext uri="{FF2B5EF4-FFF2-40B4-BE49-F238E27FC236}">
                <a16:creationId xmlns:a16="http://schemas.microsoft.com/office/drawing/2014/main" id="{2505E3C4-D36B-1250-A41D-7394DD620BE7}"/>
              </a:ext>
            </a:extLst>
          </p:cNvPr>
          <p:cNvSpPr>
            <a:spLocks noGrp="1"/>
          </p:cNvSpPr>
          <p:nvPr>
            <p:ph type="sldNum" sz="quarter" idx="4"/>
          </p:nvPr>
        </p:nvSpPr>
        <p:spPr>
          <a:xfrm>
            <a:off x="11381504" y="6327429"/>
            <a:ext cx="435864" cy="365125"/>
          </a:xfrm>
          <a:prstGeom prst="rect">
            <a:avLst/>
          </a:prstGeom>
        </p:spPr>
        <p:txBody>
          <a:bodyPr vert="horz" lIns="91440" tIns="45720" rIns="91440" bIns="45720" rtlCol="0" anchor="ctr"/>
          <a:lstStyle>
            <a:lvl1pPr algn="r">
              <a:defRPr sz="1200" b="1" i="0">
                <a:solidFill>
                  <a:schemeClr val="accent1"/>
                </a:solidFill>
                <a:latin typeface="Garamond" panose="02020404030301010803" pitchFamily="18" charset="0"/>
              </a:defRPr>
            </a:lvl1pPr>
          </a:lstStyle>
          <a:p>
            <a:fld id="{ED47D9D2-1C31-4C47-A687-7F3FAAAF0239}" type="slidenum">
              <a:rPr lang="en-US" smtClean="0"/>
              <a:pPr/>
              <a:t>‹#›</a:t>
            </a:fld>
            <a:endParaRPr lang="en-US"/>
          </a:p>
        </p:txBody>
      </p:sp>
      <p:sp>
        <p:nvSpPr>
          <p:cNvPr id="5" name="Rectangle 4">
            <a:extLst>
              <a:ext uri="{FF2B5EF4-FFF2-40B4-BE49-F238E27FC236}">
                <a16:creationId xmlns:a16="http://schemas.microsoft.com/office/drawing/2014/main" id="{4D99BCCC-5670-F4E9-96E1-8541BF96C55B}"/>
              </a:ext>
            </a:extLst>
          </p:cNvPr>
          <p:cNvSpPr/>
          <p:nvPr userDrawn="1"/>
        </p:nvSpPr>
        <p:spPr>
          <a:xfrm>
            <a:off x="1" y="1204332"/>
            <a:ext cx="178420" cy="444933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35274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912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09600" y="1123696"/>
            <a:ext cx="5384800" cy="4989299"/>
          </a:xfrm>
        </p:spPr>
        <p:txBody>
          <a:bodyPr/>
          <a:lstStyle>
            <a:lvl1pPr>
              <a:defRPr sz="3200">
                <a:latin typeface="Calibri" panose="020F0502020204030204" pitchFamily="34" charset="0"/>
                <a:cs typeface="Calibri" panose="020F0502020204030204" pitchFamily="34" charset="0"/>
              </a:defRPr>
            </a:lvl1pPr>
            <a:lvl2pPr>
              <a:defRPr sz="2667">
                <a:latin typeface="Calibri" panose="020F0502020204030204" pitchFamily="34" charset="0"/>
                <a:cs typeface="Calibri" panose="020F0502020204030204" pitchFamily="34" charset="0"/>
              </a:defRPr>
            </a:lvl2pPr>
            <a:lvl3pPr>
              <a:defRPr sz="2400">
                <a:latin typeface="Calibri" panose="020F0502020204030204" pitchFamily="34" charset="0"/>
                <a:cs typeface="Calibri" panose="020F0502020204030204" pitchFamily="34" charset="0"/>
              </a:defRPr>
            </a:lvl3pPr>
            <a:lvl4pPr>
              <a:defRPr sz="2133">
                <a:latin typeface="Calibri" panose="020F0502020204030204" pitchFamily="34" charset="0"/>
                <a:cs typeface="Calibri" panose="020F0502020204030204" pitchFamily="34" charset="0"/>
              </a:defRPr>
            </a:lvl4pPr>
            <a:lvl5pPr>
              <a:defRPr sz="2133">
                <a:latin typeface="Calibri" panose="020F0502020204030204" pitchFamily="34" charset="0"/>
                <a:cs typeface="Calibri" panose="020F0502020204030204" pitchFamily="34" charset="0"/>
              </a:defRPr>
            </a:lvl5pPr>
            <a:lvl6pPr>
              <a:defRPr sz="2400"/>
            </a:lvl6pPr>
            <a:lvl7pPr>
              <a:defRPr sz="2400"/>
            </a:lvl7pPr>
            <a:lvl8pPr>
              <a:defRPr sz="2400"/>
            </a:lvl8pPr>
            <a:lvl9pPr>
              <a:defRPr sz="24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97600" y="1117600"/>
            <a:ext cx="5384800" cy="4989299"/>
          </a:xfrm>
        </p:spPr>
        <p:txBody>
          <a:bodyPr/>
          <a:lstStyle>
            <a:lvl1pPr>
              <a:defRPr sz="3200">
                <a:latin typeface="Calibri" panose="020F0502020204030204" pitchFamily="34" charset="0"/>
                <a:cs typeface="Calibri" panose="020F0502020204030204" pitchFamily="34" charset="0"/>
              </a:defRPr>
            </a:lvl1pPr>
            <a:lvl2pPr>
              <a:defRPr sz="2667">
                <a:latin typeface="Calibri" panose="020F0502020204030204" pitchFamily="34" charset="0"/>
                <a:cs typeface="Calibri" panose="020F0502020204030204" pitchFamily="34" charset="0"/>
              </a:defRPr>
            </a:lvl2pPr>
            <a:lvl3pPr>
              <a:defRPr sz="2400">
                <a:latin typeface="Calibri" panose="020F0502020204030204" pitchFamily="34" charset="0"/>
                <a:cs typeface="Calibri" panose="020F0502020204030204" pitchFamily="34" charset="0"/>
              </a:defRPr>
            </a:lvl3pPr>
            <a:lvl4pPr>
              <a:defRPr sz="2133">
                <a:latin typeface="Calibri" panose="020F0502020204030204" pitchFamily="34" charset="0"/>
                <a:cs typeface="Calibri" panose="020F0502020204030204" pitchFamily="34" charset="0"/>
              </a:defRPr>
            </a:lvl4pPr>
            <a:lvl5pPr>
              <a:defRPr sz="2133">
                <a:latin typeface="Calibri" panose="020F0502020204030204" pitchFamily="34" charset="0"/>
                <a:cs typeface="Calibri" panose="020F0502020204030204" pitchFamily="34" charset="0"/>
              </a:defRPr>
            </a:lvl5pPr>
            <a:lvl6pPr>
              <a:defRPr sz="2400"/>
            </a:lvl6pPr>
            <a:lvl7pPr>
              <a:defRPr sz="2400"/>
            </a:lvl7pPr>
            <a:lvl8pPr>
              <a:defRPr sz="2400"/>
            </a:lvl8pPr>
            <a:lvl9pPr>
              <a:defRPr sz="24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endParaRPr lang="en-US"/>
          </a:p>
        </p:txBody>
      </p:sp>
      <p:sp>
        <p:nvSpPr>
          <p:cNvPr id="10" name="Title 1"/>
          <p:cNvSpPr>
            <a:spLocks noGrp="1"/>
          </p:cNvSpPr>
          <p:nvPr>
            <p:ph type="title" hasCustomPrompt="1"/>
          </p:nvPr>
        </p:nvSpPr>
        <p:spPr>
          <a:xfrm>
            <a:off x="609600" y="97536"/>
            <a:ext cx="10972800" cy="914400"/>
          </a:xfrm>
          <a:noFill/>
        </p:spPr>
        <p:txBody>
          <a:bodyPr/>
          <a:lstStyle>
            <a:lvl1pPr>
              <a:defRPr sz="4267"/>
            </a:lvl1pPr>
          </a:lstStyle>
          <a:p>
            <a:r>
              <a:rPr lang="en-US"/>
              <a:t>Click to Edit Title</a:t>
            </a:r>
          </a:p>
        </p:txBody>
      </p:sp>
      <p:sp>
        <p:nvSpPr>
          <p:cNvPr id="6" name="Slide Number Placeholder 5">
            <a:extLst>
              <a:ext uri="{FF2B5EF4-FFF2-40B4-BE49-F238E27FC236}">
                <a16:creationId xmlns:a16="http://schemas.microsoft.com/office/drawing/2014/main" id="{A785448F-79A1-C1A9-67E2-FBC304449C1D}"/>
              </a:ext>
            </a:extLst>
          </p:cNvPr>
          <p:cNvSpPr>
            <a:spLocks noGrp="1"/>
          </p:cNvSpPr>
          <p:nvPr>
            <p:ph type="sldNum" sz="quarter" idx="4"/>
          </p:nvPr>
        </p:nvSpPr>
        <p:spPr>
          <a:xfrm>
            <a:off x="11429707" y="6227455"/>
            <a:ext cx="527709" cy="457200"/>
          </a:xfrm>
          <a:prstGeom prst="rect">
            <a:avLst/>
          </a:prstGeom>
        </p:spPr>
        <p:txBody>
          <a:bodyPr anchor="ctr" anchorCtr="0"/>
          <a:lstStyle>
            <a:lvl1pPr algn="r">
              <a:defRPr sz="1067" b="0">
                <a:solidFill>
                  <a:schemeClr val="accent1"/>
                </a:solidFill>
              </a:defRPr>
            </a:lvl1pPr>
          </a:lstStyle>
          <a:p>
            <a:fld id="{6DAB3F6F-6A30-410C-8DAB-3E7769D71CBC}" type="slidenum">
              <a:rPr lang="en-US" smtClean="0"/>
              <a:pPr/>
              <a:t>‹#›</a:t>
            </a:fld>
            <a:endParaRPr lang="en-US"/>
          </a:p>
        </p:txBody>
      </p:sp>
    </p:spTree>
    <p:extLst>
      <p:ext uri="{BB962C8B-B14F-4D97-AF65-F5344CB8AC3E}">
        <p14:creationId xmlns:p14="http://schemas.microsoft.com/office/powerpoint/2010/main" val="2827418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89A987C-2202-040E-4143-D170C03FFB26}"/>
              </a:ext>
            </a:extLst>
          </p:cNvPr>
          <p:cNvSpPr>
            <a:spLocks noGrp="1"/>
          </p:cNvSpPr>
          <p:nvPr>
            <p:ph type="pic" sz="quarter" idx="13"/>
          </p:nvPr>
        </p:nvSpPr>
        <p:spPr>
          <a:xfrm>
            <a:off x="0" y="0"/>
            <a:ext cx="12192000" cy="6858000"/>
          </a:xfrm>
        </p:spPr>
        <p:txBody>
          <a:bodyPr/>
          <a:lstStyle/>
          <a:p>
            <a:endParaRPr lang="en-US"/>
          </a:p>
        </p:txBody>
      </p:sp>
    </p:spTree>
    <p:extLst>
      <p:ext uri="{BB962C8B-B14F-4D97-AF65-F5344CB8AC3E}">
        <p14:creationId xmlns:p14="http://schemas.microsoft.com/office/powerpoint/2010/main" val="36075150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8577072" cy="832104"/>
          </a:xfrm>
        </p:spPr>
        <p:txBody>
          <a:bodyPr anchor="t" anchorCtr="0"/>
          <a:lstStyle>
            <a:lvl1pPr>
              <a:defRPr sz="6600"/>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75488" y="297370"/>
            <a:ext cx="2441448" cy="155448"/>
          </a:xfrm>
        </p:spPr>
        <p:txBody>
          <a:bodyPr anchor="ctr" anchorCtr="0">
            <a:noAutofit/>
          </a:bodyPr>
          <a:lstStyle>
            <a:lvl1pPr marL="0" indent="0">
              <a:lnSpc>
                <a:spcPct val="100000"/>
              </a:lnSpc>
              <a:spcBef>
                <a:spcPts val="0"/>
              </a:spcBef>
              <a:buNone/>
              <a:defRPr sz="750" b="1">
                <a:solidFill>
                  <a:schemeClr val="accent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2900" y="304541"/>
            <a:ext cx="123825" cy="144087"/>
          </a:xfrm>
          <a:prstGeom prst="rect">
            <a:avLst/>
          </a:prstGeom>
        </p:spPr>
      </p:pic>
      <p:sp>
        <p:nvSpPr>
          <p:cNvPr id="12" name="Text Placeholder 11">
            <a:extLst>
              <a:ext uri="{FF2B5EF4-FFF2-40B4-BE49-F238E27FC236}">
                <a16:creationId xmlns:a16="http://schemas.microsoft.com/office/drawing/2014/main" id="{E09B8689-E54E-A682-27A9-920BA3FD7C09}"/>
              </a:ext>
            </a:extLst>
          </p:cNvPr>
          <p:cNvSpPr>
            <a:spLocks noGrp="1"/>
          </p:cNvSpPr>
          <p:nvPr>
            <p:ph type="body" sz="quarter" idx="14" hasCustomPrompt="1"/>
          </p:nvPr>
        </p:nvSpPr>
        <p:spPr>
          <a:xfrm>
            <a:off x="256032" y="4187952"/>
            <a:ext cx="4517136" cy="2386584"/>
          </a:xfrm>
        </p:spPr>
        <p:txBody>
          <a:bodyPr anchor="b" anchorCtr="0"/>
          <a:lstStyle>
            <a:lvl1pPr>
              <a:lnSpc>
                <a:spcPct val="130000"/>
              </a:lnSpc>
              <a:spcBef>
                <a:spcPts val="1000"/>
              </a:spcBef>
              <a:defRPr/>
            </a:lvl1pPr>
          </a:lstStyle>
          <a:p>
            <a:pPr lvl="0"/>
            <a:r>
              <a:rPr lang="en-US"/>
              <a:t>Click to add text</a:t>
            </a:r>
          </a:p>
        </p:txBody>
      </p:sp>
    </p:spTree>
    <p:extLst>
      <p:ext uri="{BB962C8B-B14F-4D97-AF65-F5344CB8AC3E}">
        <p14:creationId xmlns:p14="http://schemas.microsoft.com/office/powerpoint/2010/main" val="32380360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8577072" cy="832104"/>
          </a:xfrm>
        </p:spPr>
        <p:txBody>
          <a:bodyPr anchor="t" anchorCtr="0"/>
          <a:lstStyle>
            <a:lvl1pPr>
              <a:defRPr sz="6600"/>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6888" y="297370"/>
            <a:ext cx="2670048" cy="155448"/>
          </a:xfrm>
        </p:spPr>
        <p:txBody>
          <a:bodyPr anchor="ctr" anchorCtr="0">
            <a:noAutofit/>
          </a:bodyPr>
          <a:lstStyle>
            <a:lvl1pPr marL="0" indent="0">
              <a:lnSpc>
                <a:spcPct val="100000"/>
              </a:lnSpc>
              <a:spcBef>
                <a:spcPts val="0"/>
              </a:spcBef>
              <a:buNone/>
              <a:defRPr sz="750" b="1">
                <a:solidFill>
                  <a:schemeClr val="accent1"/>
                </a:solidFill>
              </a:defRPr>
            </a:lvl1pPr>
          </a:lstStyle>
          <a:p>
            <a:pPr lvl="0"/>
            <a:r>
              <a:rPr lang="en-US" sz="750"/>
              <a:t>CLICK TO ADD TEXT</a:t>
            </a:r>
            <a:endParaRPr lang="en-US"/>
          </a:p>
        </p:txBody>
      </p:sp>
      <p:sp>
        <p:nvSpPr>
          <p:cNvPr id="12" name="Text Placeholder 11">
            <a:extLst>
              <a:ext uri="{FF2B5EF4-FFF2-40B4-BE49-F238E27FC236}">
                <a16:creationId xmlns:a16="http://schemas.microsoft.com/office/drawing/2014/main" id="{E09B8689-E54E-A682-27A9-920BA3FD7C09}"/>
              </a:ext>
            </a:extLst>
          </p:cNvPr>
          <p:cNvSpPr>
            <a:spLocks noGrp="1"/>
          </p:cNvSpPr>
          <p:nvPr>
            <p:ph type="body" sz="quarter" idx="14" hasCustomPrompt="1"/>
          </p:nvPr>
        </p:nvSpPr>
        <p:spPr>
          <a:xfrm>
            <a:off x="245958" y="2168769"/>
            <a:ext cx="11667744" cy="3901291"/>
          </a:xfrm>
        </p:spPr>
        <p:txBody>
          <a:bodyPr anchor="t" anchorCtr="0"/>
          <a:lstStyle>
            <a:lvl1pPr>
              <a:lnSpc>
                <a:spcPct val="110000"/>
              </a:lnSpc>
              <a:spcBef>
                <a:spcPts val="0"/>
              </a:spcBef>
              <a:defRPr/>
            </a:lvl1pPr>
          </a:lstStyle>
          <a:p>
            <a:pPr lvl="0"/>
            <a:r>
              <a:rPr lang="en-US"/>
              <a:t>Click to add text</a:t>
            </a:r>
          </a:p>
        </p:txBody>
      </p:sp>
      <p:sp>
        <p:nvSpPr>
          <p:cNvPr id="4" name="Text Placeholder 3">
            <a:extLst>
              <a:ext uri="{FF2B5EF4-FFF2-40B4-BE49-F238E27FC236}">
                <a16:creationId xmlns:a16="http://schemas.microsoft.com/office/drawing/2014/main" id="{30B99ED2-839B-8D34-CA52-E31B8C6BC5F8}"/>
              </a:ext>
            </a:extLst>
          </p:cNvPr>
          <p:cNvSpPr>
            <a:spLocks noGrp="1"/>
          </p:cNvSpPr>
          <p:nvPr>
            <p:ph type="body" sz="quarter" idx="15"/>
          </p:nvPr>
        </p:nvSpPr>
        <p:spPr>
          <a:xfrm>
            <a:off x="263520" y="1299802"/>
            <a:ext cx="11652250" cy="550862"/>
          </a:xfrm>
        </p:spPr>
        <p:txBody>
          <a:bodyPr/>
          <a:lstStyle>
            <a:lvl1pPr>
              <a:lnSpc>
                <a:spcPct val="100000"/>
              </a:lnSpc>
              <a:spcBef>
                <a:spcPts val="0"/>
              </a:spcBef>
              <a:buNone/>
              <a:defRPr sz="1400"/>
            </a:lvl1pPr>
            <a:lvl2pPr>
              <a:buNone/>
              <a:defRPr/>
            </a:lvl2pPr>
          </a:lstStyle>
          <a:p>
            <a:pPr lvl="0"/>
            <a:r>
              <a:rPr lang="en-US"/>
              <a:t>Click to edit Master text styles</a:t>
            </a:r>
          </a:p>
        </p:txBody>
      </p:sp>
    </p:spTree>
    <p:extLst>
      <p:ext uri="{BB962C8B-B14F-4D97-AF65-F5344CB8AC3E}">
        <p14:creationId xmlns:p14="http://schemas.microsoft.com/office/powerpoint/2010/main" val="4805986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325659"/>
            <a:ext cx="8577072" cy="832104"/>
          </a:xfrm>
        </p:spPr>
        <p:txBody>
          <a:bodyPr anchor="t" anchorCtr="0"/>
          <a:lstStyle>
            <a:lvl1pPr>
              <a:defRPr sz="6600"/>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12" name="Text Placeholder 11">
            <a:extLst>
              <a:ext uri="{FF2B5EF4-FFF2-40B4-BE49-F238E27FC236}">
                <a16:creationId xmlns:a16="http://schemas.microsoft.com/office/drawing/2014/main" id="{E09B8689-E54E-A682-27A9-920BA3FD7C09}"/>
              </a:ext>
            </a:extLst>
          </p:cNvPr>
          <p:cNvSpPr>
            <a:spLocks noGrp="1"/>
          </p:cNvSpPr>
          <p:nvPr>
            <p:ph type="body" sz="quarter" idx="14" hasCustomPrompt="1"/>
          </p:nvPr>
        </p:nvSpPr>
        <p:spPr>
          <a:xfrm>
            <a:off x="245958" y="2167128"/>
            <a:ext cx="11667744" cy="3904488"/>
          </a:xfrm>
        </p:spPr>
        <p:txBody>
          <a:bodyPr anchor="t" anchorCtr="0"/>
          <a:lstStyle>
            <a:lvl1pPr>
              <a:lnSpc>
                <a:spcPct val="110000"/>
              </a:lnSpc>
              <a:spcBef>
                <a:spcPts val="0"/>
              </a:spcBef>
              <a:defRPr/>
            </a:lvl1pPr>
          </a:lstStyle>
          <a:p>
            <a:pPr lvl="0"/>
            <a:r>
              <a:rPr lang="en-US"/>
              <a:t>Click to add text</a:t>
            </a:r>
          </a:p>
        </p:txBody>
      </p:sp>
      <p:sp>
        <p:nvSpPr>
          <p:cNvPr id="4" name="Text Placeholder 3">
            <a:extLst>
              <a:ext uri="{FF2B5EF4-FFF2-40B4-BE49-F238E27FC236}">
                <a16:creationId xmlns:a16="http://schemas.microsoft.com/office/drawing/2014/main" id="{073AEB3E-7BCA-92CB-C896-B58FBC2EFB27}"/>
              </a:ext>
            </a:extLst>
          </p:cNvPr>
          <p:cNvSpPr>
            <a:spLocks noGrp="1"/>
          </p:cNvSpPr>
          <p:nvPr>
            <p:ph type="body" sz="quarter" idx="15"/>
          </p:nvPr>
        </p:nvSpPr>
        <p:spPr>
          <a:xfrm>
            <a:off x="263520" y="1084266"/>
            <a:ext cx="11649456" cy="548640"/>
          </a:xfrm>
        </p:spPr>
        <p:txBody>
          <a:bodyPr/>
          <a:lstStyle>
            <a:lvl1pPr>
              <a:lnSpc>
                <a:spcPct val="100000"/>
              </a:lnSpc>
              <a:spcBef>
                <a:spcPts val="0"/>
              </a:spcBef>
              <a:buNone/>
              <a:defRPr sz="1400"/>
            </a:lvl1pPr>
          </a:lstStyle>
          <a:p>
            <a:pPr lvl="0"/>
            <a:r>
              <a:rPr lang="en-US"/>
              <a:t>Click to edit Master text styles</a:t>
            </a:r>
          </a:p>
        </p:txBody>
      </p:sp>
    </p:spTree>
    <p:extLst>
      <p:ext uri="{BB962C8B-B14F-4D97-AF65-F5344CB8AC3E}">
        <p14:creationId xmlns:p14="http://schemas.microsoft.com/office/powerpoint/2010/main" val="2059444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49734386-DBB5-40F6-F492-3179364F4C85}"/>
              </a:ext>
            </a:extLst>
          </p:cNvPr>
          <p:cNvSpPr>
            <a:spLocks noGrp="1"/>
          </p:cNvSpPr>
          <p:nvPr>
            <p:ph sz="quarter" idx="16"/>
          </p:nvPr>
        </p:nvSpPr>
        <p:spPr>
          <a:xfrm>
            <a:off x="6858000" y="0"/>
            <a:ext cx="5334000" cy="6858000"/>
          </a:xfrm>
        </p:spPr>
        <p:txBody>
          <a:bodyPr/>
          <a:lstStyle>
            <a:lvl1pPr marL="0" indent="0">
              <a:buNone/>
              <a:defRPr/>
            </a:lvl1pPr>
          </a:lstStyle>
          <a:p>
            <a:pPr lvl="0"/>
            <a:endParaRPr lang="en-US"/>
          </a:p>
        </p:txBody>
      </p:sp>
      <p:sp>
        <p:nvSpPr>
          <p:cNvPr id="4" name="Rectangle 3">
            <a:extLst>
              <a:ext uri="{FF2B5EF4-FFF2-40B4-BE49-F238E27FC236}">
                <a16:creationId xmlns:a16="http://schemas.microsoft.com/office/drawing/2014/main" id="{BD33562B-ACFB-6212-BDBB-CDA314D6886F}"/>
              </a:ext>
            </a:extLst>
          </p:cNvPr>
          <p:cNvSpPr/>
          <p:nvPr userDrawn="1"/>
        </p:nvSpPr>
        <p:spPr>
          <a:xfrm>
            <a:off x="0" y="0"/>
            <a:ext cx="686714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5508244" cy="2767584"/>
          </a:xfrm>
        </p:spPr>
        <p:txBody>
          <a:bodyPr anchor="t" anchorCtr="0"/>
          <a:lstStyle>
            <a:lvl1pPr>
              <a:defRPr sz="6600">
                <a:solidFill>
                  <a:schemeClr val="bg1"/>
                </a:solidFill>
              </a:defRPr>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75488" y="297370"/>
            <a:ext cx="2441448" cy="155448"/>
          </a:xfrm>
        </p:spPr>
        <p:txBody>
          <a:bodyPr anchor="ctr" anchorCtr="0">
            <a:noAutofit/>
          </a:bodyPr>
          <a:lstStyle>
            <a:lvl1pPr marL="0" indent="0">
              <a:lnSpc>
                <a:spcPct val="100000"/>
              </a:lnSpc>
              <a:spcBef>
                <a:spcPts val="0"/>
              </a:spcBef>
              <a:buNone/>
              <a:defRPr sz="750" b="1">
                <a:solidFill>
                  <a:schemeClr val="bg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2900" y="304541"/>
            <a:ext cx="123825" cy="144087"/>
          </a:xfrm>
          <a:prstGeom prst="rect">
            <a:avLst/>
          </a:prstGeom>
        </p:spPr>
      </p:pic>
      <p:sp>
        <p:nvSpPr>
          <p:cNvPr id="12" name="Text Placeholder 11">
            <a:extLst>
              <a:ext uri="{FF2B5EF4-FFF2-40B4-BE49-F238E27FC236}">
                <a16:creationId xmlns:a16="http://schemas.microsoft.com/office/drawing/2014/main" id="{1AC8F1D6-6FEF-5906-0FBE-EA8F55CBCC4E}"/>
              </a:ext>
            </a:extLst>
          </p:cNvPr>
          <p:cNvSpPr>
            <a:spLocks noGrp="1"/>
          </p:cNvSpPr>
          <p:nvPr>
            <p:ph type="body" sz="quarter" idx="15" hasCustomPrompt="1"/>
          </p:nvPr>
        </p:nvSpPr>
        <p:spPr>
          <a:xfrm>
            <a:off x="256032" y="4187952"/>
            <a:ext cx="4517136" cy="2386584"/>
          </a:xfrm>
        </p:spPr>
        <p:txBody>
          <a:bodyPr anchor="b" anchorCtr="0"/>
          <a:lstStyle>
            <a:lvl1pPr>
              <a:lnSpc>
                <a:spcPct val="130000"/>
              </a:lnSpc>
              <a:defRPr>
                <a:solidFill>
                  <a:schemeClr val="bg1"/>
                </a:solidFill>
              </a:defRPr>
            </a:lvl1pPr>
          </a:lstStyle>
          <a:p>
            <a:pPr lvl="0"/>
            <a:r>
              <a:rPr lang="en-US"/>
              <a:t>Click to add text</a:t>
            </a:r>
          </a:p>
        </p:txBody>
      </p:sp>
    </p:spTree>
    <p:extLst>
      <p:ext uri="{BB962C8B-B14F-4D97-AF65-F5344CB8AC3E}">
        <p14:creationId xmlns:p14="http://schemas.microsoft.com/office/powerpoint/2010/main" val="23493982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49734386-DBB5-40F6-F492-3179364F4C85}"/>
              </a:ext>
            </a:extLst>
          </p:cNvPr>
          <p:cNvSpPr>
            <a:spLocks noGrp="1"/>
          </p:cNvSpPr>
          <p:nvPr>
            <p:ph sz="quarter" idx="16"/>
          </p:nvPr>
        </p:nvSpPr>
        <p:spPr>
          <a:xfrm>
            <a:off x="6858000" y="0"/>
            <a:ext cx="5334000" cy="6858000"/>
          </a:xfrm>
        </p:spPr>
        <p:txBody>
          <a:bodyPr/>
          <a:lstStyle>
            <a:lvl1pPr marL="0" indent="0">
              <a:buNone/>
              <a:defRPr/>
            </a:lvl1pPr>
          </a:lstStyle>
          <a:p>
            <a:pPr lvl="0"/>
            <a:endParaRPr lang="en-US"/>
          </a:p>
        </p:txBody>
      </p:sp>
      <p:sp>
        <p:nvSpPr>
          <p:cNvPr id="4" name="Rectangle 3">
            <a:extLst>
              <a:ext uri="{FF2B5EF4-FFF2-40B4-BE49-F238E27FC236}">
                <a16:creationId xmlns:a16="http://schemas.microsoft.com/office/drawing/2014/main" id="{BD33562B-ACFB-6212-BDBB-CDA314D6886F}"/>
              </a:ext>
            </a:extLst>
          </p:cNvPr>
          <p:cNvSpPr/>
          <p:nvPr userDrawn="1"/>
        </p:nvSpPr>
        <p:spPr>
          <a:xfrm>
            <a:off x="0" y="0"/>
            <a:ext cx="686714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5508244" cy="2767584"/>
          </a:xfrm>
        </p:spPr>
        <p:txBody>
          <a:bodyPr anchor="t" anchorCtr="0"/>
          <a:lstStyle>
            <a:lvl1pPr>
              <a:defRPr sz="6600">
                <a:solidFill>
                  <a:schemeClr val="bg1"/>
                </a:solidFill>
              </a:defRPr>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5745" y="297370"/>
            <a:ext cx="2671191" cy="155448"/>
          </a:xfrm>
        </p:spPr>
        <p:txBody>
          <a:bodyPr anchor="ctr" anchorCtr="0">
            <a:noAutofit/>
          </a:bodyPr>
          <a:lstStyle>
            <a:lvl1pPr marL="0" indent="0">
              <a:lnSpc>
                <a:spcPct val="100000"/>
              </a:lnSpc>
              <a:spcBef>
                <a:spcPts val="0"/>
              </a:spcBef>
              <a:buNone/>
              <a:defRPr sz="750" b="1">
                <a:solidFill>
                  <a:schemeClr val="bg1"/>
                </a:solidFill>
              </a:defRPr>
            </a:lvl1pPr>
          </a:lstStyle>
          <a:p>
            <a:pPr lvl="0"/>
            <a:r>
              <a:rPr lang="en-US" sz="750"/>
              <a:t>CLICK TO ADD TEXT</a:t>
            </a:r>
            <a:endParaRPr lang="en-US"/>
          </a:p>
        </p:txBody>
      </p:sp>
      <p:sp>
        <p:nvSpPr>
          <p:cNvPr id="12" name="Text Placeholder 11">
            <a:extLst>
              <a:ext uri="{FF2B5EF4-FFF2-40B4-BE49-F238E27FC236}">
                <a16:creationId xmlns:a16="http://schemas.microsoft.com/office/drawing/2014/main" id="{1AC8F1D6-6FEF-5906-0FBE-EA8F55CBCC4E}"/>
              </a:ext>
            </a:extLst>
          </p:cNvPr>
          <p:cNvSpPr>
            <a:spLocks noGrp="1"/>
          </p:cNvSpPr>
          <p:nvPr>
            <p:ph type="body" sz="quarter" idx="15" hasCustomPrompt="1"/>
          </p:nvPr>
        </p:nvSpPr>
        <p:spPr>
          <a:xfrm>
            <a:off x="256032" y="4187952"/>
            <a:ext cx="4517136" cy="2386584"/>
          </a:xfrm>
        </p:spPr>
        <p:txBody>
          <a:bodyPr anchor="b" anchorCtr="0"/>
          <a:lstStyle>
            <a:lvl1pPr>
              <a:lnSpc>
                <a:spcPct val="130000"/>
              </a:lnSpc>
              <a:defRPr>
                <a:solidFill>
                  <a:schemeClr val="bg1"/>
                </a:solidFill>
              </a:defRPr>
            </a:lvl1pPr>
          </a:lstStyle>
          <a:p>
            <a:pPr lvl="0"/>
            <a:r>
              <a:rPr lang="en-US"/>
              <a:t>Click to add text</a:t>
            </a:r>
          </a:p>
        </p:txBody>
      </p:sp>
    </p:spTree>
    <p:extLst>
      <p:ext uri="{BB962C8B-B14F-4D97-AF65-F5344CB8AC3E}">
        <p14:creationId xmlns:p14="http://schemas.microsoft.com/office/powerpoint/2010/main" val="1982472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49734386-DBB5-40F6-F492-3179364F4C85}"/>
              </a:ext>
            </a:extLst>
          </p:cNvPr>
          <p:cNvSpPr>
            <a:spLocks noGrp="1"/>
          </p:cNvSpPr>
          <p:nvPr>
            <p:ph sz="quarter" idx="16"/>
          </p:nvPr>
        </p:nvSpPr>
        <p:spPr>
          <a:xfrm>
            <a:off x="6858000" y="0"/>
            <a:ext cx="5334000" cy="6858000"/>
          </a:xfrm>
        </p:spPr>
        <p:txBody>
          <a:bodyPr/>
          <a:lstStyle>
            <a:lvl1pPr marL="0" indent="0">
              <a:buNone/>
              <a:defRPr/>
            </a:lvl1pPr>
          </a:lstStyle>
          <a:p>
            <a:pPr lvl="0"/>
            <a:endParaRPr lang="en-US"/>
          </a:p>
        </p:txBody>
      </p:sp>
      <p:sp>
        <p:nvSpPr>
          <p:cNvPr id="4" name="Rectangle 3">
            <a:extLst>
              <a:ext uri="{FF2B5EF4-FFF2-40B4-BE49-F238E27FC236}">
                <a16:creationId xmlns:a16="http://schemas.microsoft.com/office/drawing/2014/main" id="{BD33562B-ACFB-6212-BDBB-CDA314D6886F}"/>
              </a:ext>
            </a:extLst>
          </p:cNvPr>
          <p:cNvSpPr/>
          <p:nvPr userDrawn="1"/>
        </p:nvSpPr>
        <p:spPr>
          <a:xfrm>
            <a:off x="0" y="0"/>
            <a:ext cx="686714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329184"/>
            <a:ext cx="5508244" cy="2767584"/>
          </a:xfrm>
        </p:spPr>
        <p:txBody>
          <a:bodyPr anchor="t" anchorCtr="0"/>
          <a:lstStyle>
            <a:lvl1pPr>
              <a:defRPr sz="6600">
                <a:solidFill>
                  <a:schemeClr val="bg1"/>
                </a:solidFill>
              </a:defRPr>
            </a:lvl1pPr>
          </a:lstStyle>
          <a:p>
            <a:r>
              <a:rPr lang="en-US"/>
              <a:t>CLICK TO ADD TITLE TEXT</a:t>
            </a:r>
          </a:p>
        </p:txBody>
      </p:sp>
      <p:sp>
        <p:nvSpPr>
          <p:cNvPr id="5" name="Footer Placeholder 4">
            <a:extLst>
              <a:ext uri="{FF2B5EF4-FFF2-40B4-BE49-F238E27FC236}">
                <a16:creationId xmlns:a16="http://schemas.microsoft.com/office/drawing/2014/main" id="{88FB8F72-91F5-3C94-AC9D-ABDD69656A4E}"/>
              </a:ext>
            </a:extLst>
          </p:cNvPr>
          <p:cNvSpPr>
            <a:spLocks noGrp="1"/>
          </p:cNvSpPr>
          <p:nvPr>
            <p:ph type="ftr" sz="quarter" idx="11"/>
          </p:nvPr>
        </p:nvSpPr>
        <p:spPr>
          <a:xfrm>
            <a:off x="7351776" y="6537960"/>
            <a:ext cx="4352544" cy="256032"/>
          </a:xfrm>
          <a:prstGeom prst="rect">
            <a:avLst/>
          </a:prstGeom>
        </p:spPr>
        <p:txBody>
          <a:bodyPr/>
          <a:lstStyle>
            <a:lvl1pPr>
              <a:defRPr/>
            </a:lvl1pPr>
          </a:lstStyle>
          <a:p>
            <a:r>
              <a:rPr lang="en-US"/>
              <a:t>Edit source</a:t>
            </a:r>
          </a:p>
        </p:txBody>
      </p:sp>
      <p:sp>
        <p:nvSpPr>
          <p:cNvPr id="6" name="Slide Number Placeholder 5">
            <a:extLst>
              <a:ext uri="{FF2B5EF4-FFF2-40B4-BE49-F238E27FC236}">
                <a16:creationId xmlns:a16="http://schemas.microsoft.com/office/drawing/2014/main" id="{9773A258-D9BB-BAEE-2BCB-D68C45928BEC}"/>
              </a:ext>
            </a:extLst>
          </p:cNvPr>
          <p:cNvSpPr>
            <a:spLocks noGrp="1"/>
          </p:cNvSpPr>
          <p:nvPr>
            <p:ph type="sldNum" sz="quarter" idx="12"/>
          </p:nvPr>
        </p:nvSpPr>
        <p:spPr/>
        <p:txBody>
          <a:bodyPr/>
          <a:lstStyle/>
          <a:p>
            <a:fld id="{98F3EE46-22F2-40FF-849A-D81FB3452EE0}" type="slidenum">
              <a:rPr lang="en-US" smtClean="0"/>
              <a:t>‹#›</a:t>
            </a:fld>
            <a:endParaRPr lang="en-US"/>
          </a:p>
        </p:txBody>
      </p:sp>
      <p:sp>
        <p:nvSpPr>
          <p:cNvPr id="12" name="Text Placeholder 11">
            <a:extLst>
              <a:ext uri="{FF2B5EF4-FFF2-40B4-BE49-F238E27FC236}">
                <a16:creationId xmlns:a16="http://schemas.microsoft.com/office/drawing/2014/main" id="{1AC8F1D6-6FEF-5906-0FBE-EA8F55CBCC4E}"/>
              </a:ext>
            </a:extLst>
          </p:cNvPr>
          <p:cNvSpPr>
            <a:spLocks noGrp="1"/>
          </p:cNvSpPr>
          <p:nvPr>
            <p:ph type="body" sz="quarter" idx="15" hasCustomPrompt="1"/>
          </p:nvPr>
        </p:nvSpPr>
        <p:spPr>
          <a:xfrm>
            <a:off x="256032" y="4187952"/>
            <a:ext cx="4517136" cy="2386584"/>
          </a:xfrm>
        </p:spPr>
        <p:txBody>
          <a:bodyPr anchor="b" anchorCtr="0"/>
          <a:lstStyle>
            <a:lvl1pPr>
              <a:lnSpc>
                <a:spcPct val="130000"/>
              </a:lnSpc>
              <a:defRPr>
                <a:solidFill>
                  <a:schemeClr val="bg1"/>
                </a:solidFill>
              </a:defRPr>
            </a:lvl1pPr>
          </a:lstStyle>
          <a:p>
            <a:pPr lvl="0"/>
            <a:r>
              <a:rPr lang="en-US"/>
              <a:t>Click to add text</a:t>
            </a:r>
          </a:p>
        </p:txBody>
      </p:sp>
    </p:spTree>
    <p:extLst>
      <p:ext uri="{BB962C8B-B14F-4D97-AF65-F5344CB8AC3E}">
        <p14:creationId xmlns:p14="http://schemas.microsoft.com/office/powerpoint/2010/main" val="37944192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4DE4EC-5618-DB93-96F5-5932027240AE}"/>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8577072" cy="832104"/>
          </a:xfrm>
        </p:spPr>
        <p:txBody>
          <a:bodyPr anchor="t" anchorCtr="0"/>
          <a:lstStyle>
            <a:lvl1pPr>
              <a:defRPr sz="6600">
                <a:solidFill>
                  <a:schemeClr val="bg1"/>
                </a:solidFill>
              </a:defRPr>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75488" y="297370"/>
            <a:ext cx="2441448" cy="155448"/>
          </a:xfrm>
        </p:spPr>
        <p:txBody>
          <a:bodyPr anchor="ctr" anchorCtr="0">
            <a:noAutofit/>
          </a:bodyPr>
          <a:lstStyle>
            <a:lvl1pPr marL="0" indent="0">
              <a:lnSpc>
                <a:spcPct val="100000"/>
              </a:lnSpc>
              <a:spcBef>
                <a:spcPts val="0"/>
              </a:spcBef>
              <a:buNone/>
              <a:defRPr sz="750" b="1">
                <a:solidFill>
                  <a:schemeClr val="bg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2900" y="304541"/>
            <a:ext cx="123825" cy="144087"/>
          </a:xfrm>
          <a:prstGeom prst="rect">
            <a:avLst/>
          </a:prstGeom>
        </p:spPr>
      </p:pic>
      <p:sp>
        <p:nvSpPr>
          <p:cNvPr id="7" name="Footer Placeholder 6">
            <a:extLst>
              <a:ext uri="{FF2B5EF4-FFF2-40B4-BE49-F238E27FC236}">
                <a16:creationId xmlns:a16="http://schemas.microsoft.com/office/drawing/2014/main" id="{CA95BAFD-9FA3-1687-EB95-4D6DC3B14E59}"/>
              </a:ext>
            </a:extLst>
          </p:cNvPr>
          <p:cNvSpPr>
            <a:spLocks noGrp="1"/>
          </p:cNvSpPr>
          <p:nvPr>
            <p:ph type="ftr" sz="quarter" idx="14"/>
          </p:nvPr>
        </p:nvSpPr>
        <p:spPr/>
        <p:txBody>
          <a:bodyPr/>
          <a:lstStyle>
            <a:lvl1pPr>
              <a:defRPr>
                <a:solidFill>
                  <a:schemeClr val="bg1"/>
                </a:solidFill>
              </a:defRPr>
            </a:lvl1pPr>
          </a:lstStyle>
          <a:p>
            <a:r>
              <a:rPr lang="en-US"/>
              <a:t>Edit source</a:t>
            </a:r>
          </a:p>
        </p:txBody>
      </p:sp>
      <p:sp>
        <p:nvSpPr>
          <p:cNvPr id="10" name="Slide Number Placeholder 9">
            <a:extLst>
              <a:ext uri="{FF2B5EF4-FFF2-40B4-BE49-F238E27FC236}">
                <a16:creationId xmlns:a16="http://schemas.microsoft.com/office/drawing/2014/main" id="{9D3DC8AD-56C7-764F-4C7A-61D7236045C8}"/>
              </a:ext>
            </a:extLst>
          </p:cNvPr>
          <p:cNvSpPr>
            <a:spLocks noGrp="1"/>
          </p:cNvSpPr>
          <p:nvPr>
            <p:ph type="sldNum" sz="quarter" idx="15"/>
          </p:nvPr>
        </p:nvSpPr>
        <p:spPr/>
        <p:txBody>
          <a:bodyPr/>
          <a:lstStyle>
            <a:lvl1pPr>
              <a:defRPr>
                <a:solidFill>
                  <a:schemeClr val="bg1"/>
                </a:solidFill>
              </a:defRPr>
            </a:lvl1pPr>
          </a:lstStyle>
          <a:p>
            <a:fld id="{98F3EE46-22F2-40FF-849A-D81FB3452EE0}" type="slidenum">
              <a:rPr lang="en-US" smtClean="0"/>
              <a:pPr/>
              <a:t>‹#›</a:t>
            </a:fld>
            <a:endParaRPr lang="en-US"/>
          </a:p>
        </p:txBody>
      </p:sp>
      <p:sp>
        <p:nvSpPr>
          <p:cNvPr id="12" name="Content Placeholder 11">
            <a:extLst>
              <a:ext uri="{FF2B5EF4-FFF2-40B4-BE49-F238E27FC236}">
                <a16:creationId xmlns:a16="http://schemas.microsoft.com/office/drawing/2014/main" id="{6214A30E-AC9B-788F-296A-F8024D55E580}"/>
              </a:ext>
            </a:extLst>
          </p:cNvPr>
          <p:cNvSpPr>
            <a:spLocks noGrp="1"/>
          </p:cNvSpPr>
          <p:nvPr>
            <p:ph sz="quarter" idx="16"/>
          </p:nvPr>
        </p:nvSpPr>
        <p:spPr>
          <a:xfrm>
            <a:off x="1243584" y="1627632"/>
            <a:ext cx="9701784" cy="4050792"/>
          </a:xfrm>
        </p:spPr>
        <p:txBody>
          <a:bodyPr/>
          <a:lstStyle>
            <a:lvl1pPr marL="0" indent="0">
              <a:buNone/>
              <a:defRPr>
                <a:solidFill>
                  <a:schemeClr val="bg1"/>
                </a:solidFill>
              </a:defRPr>
            </a:lvl1pPr>
          </a:lstStyle>
          <a:p>
            <a:pPr lvl="0"/>
            <a:endParaRPr lang="en-US"/>
          </a:p>
        </p:txBody>
      </p:sp>
    </p:spTree>
    <p:extLst>
      <p:ext uri="{BB962C8B-B14F-4D97-AF65-F5344CB8AC3E}">
        <p14:creationId xmlns:p14="http://schemas.microsoft.com/office/powerpoint/2010/main" val="725578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4DE4EC-5618-DB93-96F5-5932027240AE}"/>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85216"/>
            <a:ext cx="8577072" cy="832104"/>
          </a:xfrm>
        </p:spPr>
        <p:txBody>
          <a:bodyPr anchor="t" anchorCtr="0"/>
          <a:lstStyle>
            <a:lvl1pPr>
              <a:defRPr sz="6600">
                <a:solidFill>
                  <a:schemeClr val="bg1"/>
                </a:solidFill>
              </a:defRPr>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6888" y="297370"/>
            <a:ext cx="2670048" cy="155448"/>
          </a:xfrm>
        </p:spPr>
        <p:txBody>
          <a:bodyPr anchor="ctr" anchorCtr="0">
            <a:noAutofit/>
          </a:bodyPr>
          <a:lstStyle>
            <a:lvl1pPr marL="0" indent="0">
              <a:lnSpc>
                <a:spcPct val="100000"/>
              </a:lnSpc>
              <a:spcBef>
                <a:spcPts val="0"/>
              </a:spcBef>
              <a:buNone/>
              <a:defRPr sz="750" b="1">
                <a:solidFill>
                  <a:schemeClr val="bg1"/>
                </a:solidFill>
              </a:defRPr>
            </a:lvl1pPr>
          </a:lstStyle>
          <a:p>
            <a:pPr lvl="0"/>
            <a:r>
              <a:rPr lang="en-US" sz="750"/>
              <a:t>CLICK TO ADD TEXT</a:t>
            </a:r>
            <a:endParaRPr lang="en-US"/>
          </a:p>
        </p:txBody>
      </p:sp>
      <p:sp>
        <p:nvSpPr>
          <p:cNvPr id="7" name="Footer Placeholder 6">
            <a:extLst>
              <a:ext uri="{FF2B5EF4-FFF2-40B4-BE49-F238E27FC236}">
                <a16:creationId xmlns:a16="http://schemas.microsoft.com/office/drawing/2014/main" id="{CA95BAFD-9FA3-1687-EB95-4D6DC3B14E59}"/>
              </a:ext>
            </a:extLst>
          </p:cNvPr>
          <p:cNvSpPr>
            <a:spLocks noGrp="1"/>
          </p:cNvSpPr>
          <p:nvPr>
            <p:ph type="ftr" sz="quarter" idx="14"/>
          </p:nvPr>
        </p:nvSpPr>
        <p:spPr/>
        <p:txBody>
          <a:bodyPr/>
          <a:lstStyle>
            <a:lvl1pPr>
              <a:defRPr>
                <a:solidFill>
                  <a:schemeClr val="bg1"/>
                </a:solidFill>
              </a:defRPr>
            </a:lvl1pPr>
          </a:lstStyle>
          <a:p>
            <a:r>
              <a:rPr lang="en-US"/>
              <a:t>Edit source</a:t>
            </a:r>
          </a:p>
        </p:txBody>
      </p:sp>
      <p:sp>
        <p:nvSpPr>
          <p:cNvPr id="10" name="Slide Number Placeholder 9">
            <a:extLst>
              <a:ext uri="{FF2B5EF4-FFF2-40B4-BE49-F238E27FC236}">
                <a16:creationId xmlns:a16="http://schemas.microsoft.com/office/drawing/2014/main" id="{9D3DC8AD-56C7-764F-4C7A-61D7236045C8}"/>
              </a:ext>
            </a:extLst>
          </p:cNvPr>
          <p:cNvSpPr>
            <a:spLocks noGrp="1"/>
          </p:cNvSpPr>
          <p:nvPr>
            <p:ph type="sldNum" sz="quarter" idx="15"/>
          </p:nvPr>
        </p:nvSpPr>
        <p:spPr/>
        <p:txBody>
          <a:bodyPr/>
          <a:lstStyle>
            <a:lvl1pPr>
              <a:defRPr>
                <a:solidFill>
                  <a:schemeClr val="bg1"/>
                </a:solidFill>
              </a:defRPr>
            </a:lvl1pPr>
          </a:lstStyle>
          <a:p>
            <a:fld id="{98F3EE46-22F2-40FF-849A-D81FB3452EE0}" type="slidenum">
              <a:rPr lang="en-US" smtClean="0"/>
              <a:pPr/>
              <a:t>‹#›</a:t>
            </a:fld>
            <a:endParaRPr lang="en-US"/>
          </a:p>
        </p:txBody>
      </p:sp>
      <p:sp>
        <p:nvSpPr>
          <p:cNvPr id="12" name="Content Placeholder 11">
            <a:extLst>
              <a:ext uri="{FF2B5EF4-FFF2-40B4-BE49-F238E27FC236}">
                <a16:creationId xmlns:a16="http://schemas.microsoft.com/office/drawing/2014/main" id="{6214A30E-AC9B-788F-296A-F8024D55E580}"/>
              </a:ext>
            </a:extLst>
          </p:cNvPr>
          <p:cNvSpPr>
            <a:spLocks noGrp="1"/>
          </p:cNvSpPr>
          <p:nvPr>
            <p:ph sz="quarter" idx="16"/>
          </p:nvPr>
        </p:nvSpPr>
        <p:spPr>
          <a:xfrm>
            <a:off x="1243584" y="1627632"/>
            <a:ext cx="9701784" cy="4050792"/>
          </a:xfrm>
        </p:spPr>
        <p:txBody>
          <a:bodyPr/>
          <a:lstStyle>
            <a:lvl1pPr marL="0" indent="0">
              <a:buNone/>
              <a:defRPr>
                <a:solidFill>
                  <a:schemeClr val="bg1"/>
                </a:solidFill>
              </a:defRPr>
            </a:lvl1pPr>
          </a:lstStyle>
          <a:p>
            <a:pPr lvl="0"/>
            <a:endParaRPr lang="en-US"/>
          </a:p>
        </p:txBody>
      </p:sp>
    </p:spTree>
    <p:extLst>
      <p:ext uri="{BB962C8B-B14F-4D97-AF65-F5344CB8AC3E}">
        <p14:creationId xmlns:p14="http://schemas.microsoft.com/office/powerpoint/2010/main" val="32872658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4DE4EC-5618-DB93-96F5-5932027240AE}"/>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329184"/>
            <a:ext cx="8577072" cy="832104"/>
          </a:xfrm>
        </p:spPr>
        <p:txBody>
          <a:bodyPr anchor="t" anchorCtr="0"/>
          <a:lstStyle>
            <a:lvl1pPr>
              <a:defRPr sz="6600">
                <a:solidFill>
                  <a:schemeClr val="bg1"/>
                </a:solidFill>
              </a:defRPr>
            </a:lvl1pPr>
          </a:lstStyle>
          <a:p>
            <a:r>
              <a:rPr lang="en-US"/>
              <a:t>CLICK TO ADD TITLE TEXT</a:t>
            </a:r>
          </a:p>
        </p:txBody>
      </p:sp>
      <p:sp>
        <p:nvSpPr>
          <p:cNvPr id="7" name="Footer Placeholder 6">
            <a:extLst>
              <a:ext uri="{FF2B5EF4-FFF2-40B4-BE49-F238E27FC236}">
                <a16:creationId xmlns:a16="http://schemas.microsoft.com/office/drawing/2014/main" id="{CA95BAFD-9FA3-1687-EB95-4D6DC3B14E59}"/>
              </a:ext>
            </a:extLst>
          </p:cNvPr>
          <p:cNvSpPr>
            <a:spLocks noGrp="1"/>
          </p:cNvSpPr>
          <p:nvPr>
            <p:ph type="ftr" sz="quarter" idx="14"/>
          </p:nvPr>
        </p:nvSpPr>
        <p:spPr/>
        <p:txBody>
          <a:bodyPr/>
          <a:lstStyle>
            <a:lvl1pPr>
              <a:defRPr>
                <a:solidFill>
                  <a:schemeClr val="bg1"/>
                </a:solidFill>
              </a:defRPr>
            </a:lvl1pPr>
          </a:lstStyle>
          <a:p>
            <a:r>
              <a:rPr lang="en-US"/>
              <a:t>Edit source</a:t>
            </a:r>
          </a:p>
        </p:txBody>
      </p:sp>
      <p:sp>
        <p:nvSpPr>
          <p:cNvPr id="10" name="Slide Number Placeholder 9">
            <a:extLst>
              <a:ext uri="{FF2B5EF4-FFF2-40B4-BE49-F238E27FC236}">
                <a16:creationId xmlns:a16="http://schemas.microsoft.com/office/drawing/2014/main" id="{9D3DC8AD-56C7-764F-4C7A-61D7236045C8}"/>
              </a:ext>
            </a:extLst>
          </p:cNvPr>
          <p:cNvSpPr>
            <a:spLocks noGrp="1"/>
          </p:cNvSpPr>
          <p:nvPr>
            <p:ph type="sldNum" sz="quarter" idx="15"/>
          </p:nvPr>
        </p:nvSpPr>
        <p:spPr/>
        <p:txBody>
          <a:bodyPr/>
          <a:lstStyle>
            <a:lvl1pPr>
              <a:defRPr>
                <a:solidFill>
                  <a:schemeClr val="bg1"/>
                </a:solidFill>
              </a:defRPr>
            </a:lvl1pPr>
          </a:lstStyle>
          <a:p>
            <a:fld id="{98F3EE46-22F2-40FF-849A-D81FB3452EE0}" type="slidenum">
              <a:rPr lang="en-US" smtClean="0"/>
              <a:pPr/>
              <a:t>‹#›</a:t>
            </a:fld>
            <a:endParaRPr lang="en-US"/>
          </a:p>
        </p:txBody>
      </p:sp>
      <p:sp>
        <p:nvSpPr>
          <p:cNvPr id="5" name="Content Placeholder 4">
            <a:extLst>
              <a:ext uri="{FF2B5EF4-FFF2-40B4-BE49-F238E27FC236}">
                <a16:creationId xmlns:a16="http://schemas.microsoft.com/office/drawing/2014/main" id="{6A57B944-41A7-BA5F-F0D5-43C823776242}"/>
              </a:ext>
            </a:extLst>
          </p:cNvPr>
          <p:cNvSpPr>
            <a:spLocks noGrp="1"/>
          </p:cNvSpPr>
          <p:nvPr>
            <p:ph sz="quarter" idx="16"/>
          </p:nvPr>
        </p:nvSpPr>
        <p:spPr>
          <a:xfrm>
            <a:off x="1243584" y="1627632"/>
            <a:ext cx="9701784" cy="4050792"/>
          </a:xfrm>
        </p:spPr>
        <p:txBody>
          <a:bodyPr/>
          <a:lstStyle>
            <a:lvl1pPr marL="0" indent="0">
              <a:buNone/>
              <a:defRPr>
                <a:solidFill>
                  <a:schemeClr val="bg1"/>
                </a:solidFill>
              </a:defRPr>
            </a:lvl1pPr>
          </a:lstStyle>
          <a:p>
            <a:pPr lvl="0"/>
            <a:endParaRPr lang="en-US"/>
          </a:p>
        </p:txBody>
      </p:sp>
    </p:spTree>
    <p:extLst>
      <p:ext uri="{BB962C8B-B14F-4D97-AF65-F5344CB8AC3E}">
        <p14:creationId xmlns:p14="http://schemas.microsoft.com/office/powerpoint/2010/main" val="847785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47116"/>
            <a:ext cx="8577072" cy="832104"/>
          </a:xfrm>
        </p:spPr>
        <p:txBody>
          <a:bodyPr anchor="t" anchorCtr="0"/>
          <a:lstStyle>
            <a:lvl1pPr>
              <a:defRPr sz="32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75488" y="297370"/>
            <a:ext cx="24414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2900" y="304541"/>
            <a:ext cx="123825" cy="144087"/>
          </a:xfrm>
          <a:prstGeom prst="rect">
            <a:avLst/>
          </a:prstGeom>
        </p:spPr>
      </p:pic>
      <p:sp>
        <p:nvSpPr>
          <p:cNvPr id="4" name="Content Placeholder 3">
            <a:extLst>
              <a:ext uri="{FF2B5EF4-FFF2-40B4-BE49-F238E27FC236}">
                <a16:creationId xmlns:a16="http://schemas.microsoft.com/office/drawing/2014/main" id="{FCB3528D-A3A1-9591-A6DB-7399CB045C88}"/>
              </a:ext>
            </a:extLst>
          </p:cNvPr>
          <p:cNvSpPr>
            <a:spLocks noGrp="1"/>
          </p:cNvSpPr>
          <p:nvPr>
            <p:ph sz="quarter" idx="14"/>
          </p:nvPr>
        </p:nvSpPr>
        <p:spPr>
          <a:xfrm>
            <a:off x="1244600" y="1625600"/>
            <a:ext cx="9702800" cy="4051300"/>
          </a:xfrm>
        </p:spPr>
        <p:txBody>
          <a:bodyPr/>
          <a:lstStyle>
            <a:lvl1pPr marL="0" indent="0">
              <a:buNone/>
              <a:defRPr/>
            </a:lvl1pPr>
          </a:lstStyle>
          <a:p>
            <a:pPr lvl="0"/>
            <a:endParaRPr lang="en-US"/>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p>
            <a:fld id="{98F3EE46-22F2-40FF-849A-D81FB3452EE0}" type="slidenum">
              <a:rPr lang="en-US" smtClean="0"/>
              <a:pPr/>
              <a:t>‹#›</a:t>
            </a:fld>
            <a:endParaRPr lang="en-US"/>
          </a:p>
        </p:txBody>
      </p:sp>
    </p:spTree>
    <p:extLst>
      <p:ext uri="{BB962C8B-B14F-4D97-AF65-F5344CB8AC3E}">
        <p14:creationId xmlns:p14="http://schemas.microsoft.com/office/powerpoint/2010/main" val="23615785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47116"/>
            <a:ext cx="8577072" cy="832104"/>
          </a:xfrm>
        </p:spPr>
        <p:txBody>
          <a:bodyPr anchor="t" anchorCtr="0"/>
          <a:lstStyle>
            <a:lvl1pPr>
              <a:defRPr sz="32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6888" y="297370"/>
            <a:ext cx="26700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sp>
        <p:nvSpPr>
          <p:cNvPr id="4" name="Content Placeholder 3">
            <a:extLst>
              <a:ext uri="{FF2B5EF4-FFF2-40B4-BE49-F238E27FC236}">
                <a16:creationId xmlns:a16="http://schemas.microsoft.com/office/drawing/2014/main" id="{FCB3528D-A3A1-9591-A6DB-7399CB045C88}"/>
              </a:ext>
            </a:extLst>
          </p:cNvPr>
          <p:cNvSpPr>
            <a:spLocks noGrp="1"/>
          </p:cNvSpPr>
          <p:nvPr>
            <p:ph sz="quarter" idx="14"/>
          </p:nvPr>
        </p:nvSpPr>
        <p:spPr>
          <a:xfrm>
            <a:off x="1244600" y="1625600"/>
            <a:ext cx="9702800" cy="4051300"/>
          </a:xfrm>
        </p:spPr>
        <p:txBody>
          <a:bodyPr/>
          <a:lstStyle>
            <a:lvl1pPr marL="0" indent="0">
              <a:buNone/>
              <a:defRPr/>
            </a:lvl1pPr>
          </a:lstStyle>
          <a:p>
            <a:pPr lvl="0"/>
            <a:endParaRPr lang="en-US"/>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p>
            <a:fld id="{98F3EE46-22F2-40FF-849A-D81FB3452EE0}" type="slidenum">
              <a:rPr lang="en-US" smtClean="0"/>
              <a:pPr/>
              <a:t>‹#›</a:t>
            </a:fld>
            <a:endParaRPr lang="en-US"/>
          </a:p>
        </p:txBody>
      </p:sp>
    </p:spTree>
    <p:extLst>
      <p:ext uri="{BB962C8B-B14F-4D97-AF65-F5344CB8AC3E}">
        <p14:creationId xmlns:p14="http://schemas.microsoft.com/office/powerpoint/2010/main" val="40325208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310896"/>
            <a:ext cx="8577072" cy="832104"/>
          </a:xfrm>
        </p:spPr>
        <p:txBody>
          <a:bodyPr anchor="t" anchorCtr="0"/>
          <a:lstStyle>
            <a:lvl1pPr>
              <a:defRPr sz="3200"/>
            </a:lvl1pPr>
          </a:lstStyle>
          <a:p>
            <a:r>
              <a:rPr lang="en-US"/>
              <a:t>CLICK TO ADD TITLE TEXT</a:t>
            </a:r>
          </a:p>
        </p:txBody>
      </p:sp>
      <p:sp>
        <p:nvSpPr>
          <p:cNvPr id="4" name="Content Placeholder 3">
            <a:extLst>
              <a:ext uri="{FF2B5EF4-FFF2-40B4-BE49-F238E27FC236}">
                <a16:creationId xmlns:a16="http://schemas.microsoft.com/office/drawing/2014/main" id="{FCB3528D-A3A1-9591-A6DB-7399CB045C88}"/>
              </a:ext>
            </a:extLst>
          </p:cNvPr>
          <p:cNvSpPr>
            <a:spLocks noGrp="1"/>
          </p:cNvSpPr>
          <p:nvPr>
            <p:ph sz="quarter" idx="14"/>
          </p:nvPr>
        </p:nvSpPr>
        <p:spPr>
          <a:xfrm>
            <a:off x="1244600" y="1625600"/>
            <a:ext cx="9702800" cy="4051300"/>
          </a:xfrm>
        </p:spPr>
        <p:txBody>
          <a:bodyPr/>
          <a:lstStyle>
            <a:lvl1pPr marL="0" indent="0">
              <a:buNone/>
              <a:defRPr/>
            </a:lvl1pPr>
          </a:lstStyle>
          <a:p>
            <a:pPr lvl="0"/>
            <a:endParaRPr lang="en-US"/>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p>
            <a:fld id="{98F3EE46-22F2-40FF-849A-D81FB3452EE0}" type="slidenum">
              <a:rPr lang="en-US" smtClean="0"/>
              <a:pPr/>
              <a:t>‹#›</a:t>
            </a:fld>
            <a:endParaRPr lang="en-US"/>
          </a:p>
        </p:txBody>
      </p:sp>
    </p:spTree>
    <p:extLst>
      <p:ext uri="{BB962C8B-B14F-4D97-AF65-F5344CB8AC3E}">
        <p14:creationId xmlns:p14="http://schemas.microsoft.com/office/powerpoint/2010/main" val="12295452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3748B3C-EA5F-4D35-6F33-0EE530AD3721}"/>
              </a:ext>
            </a:extLst>
          </p:cNvPr>
          <p:cNvSpPr>
            <a:spLocks noGrp="1"/>
          </p:cNvSpPr>
          <p:nvPr>
            <p:ph type="body" sz="quarter" idx="18" hasCustomPrompt="1"/>
          </p:nvPr>
        </p:nvSpPr>
        <p:spPr>
          <a:xfrm>
            <a:off x="9537192" y="0"/>
            <a:ext cx="2020824" cy="6858000"/>
          </a:xfrm>
          <a:solidFill>
            <a:srgbClr val="ECE8DD"/>
          </a:solidFill>
        </p:spPr>
        <p:txBody>
          <a:bodyPr lIns="182880" tIns="320040" rIns="182880"/>
          <a:lstStyle>
            <a:lvl1pPr marL="0" indent="0">
              <a:lnSpc>
                <a:spcPct val="110000"/>
              </a:lnSpc>
              <a:spcBef>
                <a:spcPts val="0"/>
              </a:spcBef>
              <a:buNone/>
              <a:defRPr sz="900"/>
            </a:lvl1pPr>
          </a:lstStyle>
          <a:p>
            <a:pPr lvl="0"/>
            <a:r>
              <a:rPr lang="en-US"/>
              <a:t>Text Here</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4507" y="297370"/>
            <a:ext cx="24414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sp>
        <p:nvSpPr>
          <p:cNvPr id="3" name="Rectangle 2">
            <a:extLst>
              <a:ext uri="{FF2B5EF4-FFF2-40B4-BE49-F238E27FC236}">
                <a16:creationId xmlns:a16="http://schemas.microsoft.com/office/drawing/2014/main" id="{DB42B402-B8DF-B8B9-7BA2-70E928A9A7F0}"/>
              </a:ext>
            </a:extLst>
          </p:cNvPr>
          <p:cNvSpPr/>
          <p:nvPr userDrawn="1"/>
        </p:nvSpPr>
        <p:spPr>
          <a:xfrm>
            <a:off x="11552663" y="0"/>
            <a:ext cx="639337"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547116"/>
            <a:ext cx="8577072" cy="832104"/>
          </a:xfrm>
        </p:spPr>
        <p:txBody>
          <a:bodyPr anchor="t" anchorCtr="0"/>
          <a:lstStyle>
            <a:lvl1pPr>
              <a:defRPr sz="3200"/>
            </a:lvl1pPr>
          </a:lstStyle>
          <a:p>
            <a:r>
              <a:rPr lang="en-US"/>
              <a:t>CLICK TO ADD TITLE TEXT</a:t>
            </a:r>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a:xfrm>
            <a:off x="5056632" y="6540500"/>
            <a:ext cx="4350649" cy="256032"/>
          </a:xfrm>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lvl1pPr>
              <a:defRPr>
                <a:solidFill>
                  <a:schemeClr val="bg1"/>
                </a:solidFill>
              </a:defRPr>
            </a:lvl1pPr>
          </a:lstStyle>
          <a:p>
            <a:fld id="{98F3EE46-22F2-40FF-849A-D81FB3452EE0}" type="slidenum">
              <a:rPr lang="en-US" smtClean="0"/>
              <a:pPr/>
              <a:t>‹#›</a:t>
            </a:fld>
            <a:endParaRPr lang="en-US"/>
          </a:p>
        </p:txBody>
      </p:sp>
      <p:sp>
        <p:nvSpPr>
          <p:cNvPr id="10" name="Text Placeholder 9">
            <a:extLst>
              <a:ext uri="{FF2B5EF4-FFF2-40B4-BE49-F238E27FC236}">
                <a16:creationId xmlns:a16="http://schemas.microsoft.com/office/drawing/2014/main" id="{DAD0C20B-BAA2-428C-4A13-72EDFA680BBD}"/>
              </a:ext>
            </a:extLst>
          </p:cNvPr>
          <p:cNvSpPr>
            <a:spLocks noGrp="1"/>
          </p:cNvSpPr>
          <p:nvPr>
            <p:ph type="body" sz="quarter" idx="17" hasCustomPrompt="1"/>
          </p:nvPr>
        </p:nvSpPr>
        <p:spPr>
          <a:xfrm rot="5400000">
            <a:off x="8911397" y="2935224"/>
            <a:ext cx="5751576" cy="390524"/>
          </a:xfrm>
        </p:spPr>
        <p:txBody>
          <a:bodyPr anchor="b" anchorCtr="0"/>
          <a:lstStyle>
            <a:lvl1pPr marL="0" indent="0">
              <a:lnSpc>
                <a:spcPct val="110000"/>
              </a:lnSpc>
              <a:spcBef>
                <a:spcPts val="0"/>
              </a:spcBef>
              <a:buNone/>
              <a:defRPr>
                <a:solidFill>
                  <a:schemeClr val="bg1"/>
                </a:solidFill>
                <a:latin typeface="+mj-lt"/>
              </a:defRPr>
            </a:lvl1pPr>
          </a:lstStyle>
          <a:p>
            <a:pPr lvl="0"/>
            <a:r>
              <a:rPr lang="en-US"/>
              <a:t>CLICK TO ADD TEXT</a:t>
            </a:r>
          </a:p>
        </p:txBody>
      </p:sp>
    </p:spTree>
    <p:extLst>
      <p:ext uri="{BB962C8B-B14F-4D97-AF65-F5344CB8AC3E}">
        <p14:creationId xmlns:p14="http://schemas.microsoft.com/office/powerpoint/2010/main" val="11613632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D50487-2F18-4113-68AD-7C8CFE34DFBD}"/>
              </a:ext>
            </a:extLst>
          </p:cNvPr>
          <p:cNvSpPr/>
          <p:nvPr userDrawn="1"/>
        </p:nvSpPr>
        <p:spPr>
          <a:xfrm>
            <a:off x="0" y="0"/>
            <a:ext cx="12192000" cy="6400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1069848"/>
            <a:ext cx="8577072" cy="832104"/>
          </a:xfrm>
        </p:spPr>
        <p:txBody>
          <a:bodyPr anchor="t" anchorCtr="0"/>
          <a:lstStyle>
            <a:lvl1pPr>
              <a:defRPr sz="32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246888" y="868680"/>
            <a:ext cx="24414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EDIT</a:t>
            </a:r>
            <a:endParaRPr lang="en-US"/>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p>
            <a:fld id="{98F3EE46-22F2-40FF-849A-D81FB3452EE0}" type="slidenum">
              <a:rPr lang="en-US" smtClean="0"/>
              <a:pPr/>
              <a:t>‹#›</a:t>
            </a:fld>
            <a:endParaRPr lang="en-US"/>
          </a:p>
        </p:txBody>
      </p:sp>
      <p:sp>
        <p:nvSpPr>
          <p:cNvPr id="11" name="Text Placeholder 10">
            <a:extLst>
              <a:ext uri="{FF2B5EF4-FFF2-40B4-BE49-F238E27FC236}">
                <a16:creationId xmlns:a16="http://schemas.microsoft.com/office/drawing/2014/main" id="{67361722-8B24-2B5F-3E6B-141E34F4733F}"/>
              </a:ext>
            </a:extLst>
          </p:cNvPr>
          <p:cNvSpPr>
            <a:spLocks noGrp="1"/>
          </p:cNvSpPr>
          <p:nvPr>
            <p:ph type="body" sz="quarter" idx="17" hasCustomPrompt="1"/>
          </p:nvPr>
        </p:nvSpPr>
        <p:spPr>
          <a:xfrm>
            <a:off x="247650" y="142876"/>
            <a:ext cx="8963025" cy="457200"/>
          </a:xfrm>
        </p:spPr>
        <p:txBody>
          <a:bodyPr anchor="b" anchorCtr="0"/>
          <a:lstStyle>
            <a:lvl1pPr marL="0" indent="0">
              <a:lnSpc>
                <a:spcPct val="110000"/>
              </a:lnSpc>
              <a:spcBef>
                <a:spcPts val="0"/>
              </a:spcBef>
              <a:buNone/>
              <a:defRPr>
                <a:solidFill>
                  <a:schemeClr val="bg1"/>
                </a:solidFill>
                <a:latin typeface="+mj-lt"/>
              </a:defRPr>
            </a:lvl1pPr>
          </a:lstStyle>
          <a:p>
            <a:pPr lvl="0"/>
            <a:r>
              <a:rPr lang="en-US"/>
              <a:t>CLICK TO ADD TEXT</a:t>
            </a:r>
          </a:p>
        </p:txBody>
      </p:sp>
    </p:spTree>
    <p:extLst>
      <p:ext uri="{BB962C8B-B14F-4D97-AF65-F5344CB8AC3E}">
        <p14:creationId xmlns:p14="http://schemas.microsoft.com/office/powerpoint/2010/main" val="1187570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B4EC061-AE24-BBF1-48FD-7E86807C79F3}"/>
              </a:ext>
            </a:extLst>
          </p:cNvPr>
          <p:cNvSpPr>
            <a:spLocks noGrp="1"/>
          </p:cNvSpPr>
          <p:nvPr>
            <p:ph type="body" sz="quarter" idx="18" hasCustomPrompt="1"/>
          </p:nvPr>
        </p:nvSpPr>
        <p:spPr>
          <a:xfrm>
            <a:off x="9537192" y="0"/>
            <a:ext cx="2020824" cy="6858000"/>
          </a:xfrm>
          <a:solidFill>
            <a:srgbClr val="ECE8DD"/>
          </a:solidFill>
        </p:spPr>
        <p:txBody>
          <a:bodyPr lIns="182880" tIns="320040" rIns="182880"/>
          <a:lstStyle>
            <a:lvl1pPr marL="0" indent="0">
              <a:lnSpc>
                <a:spcPct val="110000"/>
              </a:lnSpc>
              <a:spcBef>
                <a:spcPts val="0"/>
              </a:spcBef>
              <a:buNone/>
              <a:defRPr sz="900"/>
            </a:lvl1pPr>
          </a:lstStyle>
          <a:p>
            <a:pPr lvl="0"/>
            <a:r>
              <a:rPr lang="en-US" sz="900"/>
              <a:t>Text Here</a:t>
            </a:r>
            <a:endParaRPr lang="en-US"/>
          </a:p>
        </p:txBody>
      </p:sp>
      <p:sp>
        <p:nvSpPr>
          <p:cNvPr id="3" name="Rectangle 2">
            <a:extLst>
              <a:ext uri="{FF2B5EF4-FFF2-40B4-BE49-F238E27FC236}">
                <a16:creationId xmlns:a16="http://schemas.microsoft.com/office/drawing/2014/main" id="{1E8DE766-B7A7-E035-0FDB-54034D5D7666}"/>
              </a:ext>
            </a:extLst>
          </p:cNvPr>
          <p:cNvSpPr/>
          <p:nvPr userDrawn="1"/>
        </p:nvSpPr>
        <p:spPr>
          <a:xfrm>
            <a:off x="11552663" y="0"/>
            <a:ext cx="639337"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310896"/>
            <a:ext cx="8577072" cy="832104"/>
          </a:xfrm>
        </p:spPr>
        <p:txBody>
          <a:bodyPr anchor="t" anchorCtr="0"/>
          <a:lstStyle>
            <a:lvl1pPr>
              <a:defRPr sz="3200"/>
            </a:lvl1pPr>
          </a:lstStyle>
          <a:p>
            <a:r>
              <a:rPr lang="en-US"/>
              <a:t>CLICK TO ADD TITLE TEXT</a:t>
            </a:r>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a:xfrm>
            <a:off x="5060213" y="6540500"/>
            <a:ext cx="4350649" cy="256032"/>
          </a:xfrm>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lvl1pPr>
              <a:defRPr>
                <a:solidFill>
                  <a:schemeClr val="bg1"/>
                </a:solidFill>
              </a:defRPr>
            </a:lvl1pPr>
          </a:lstStyle>
          <a:p>
            <a:fld id="{98F3EE46-22F2-40FF-849A-D81FB3452EE0}" type="slidenum">
              <a:rPr lang="en-US" smtClean="0"/>
              <a:pPr/>
              <a:t>‹#›</a:t>
            </a:fld>
            <a:endParaRPr lang="en-US"/>
          </a:p>
        </p:txBody>
      </p:sp>
      <p:sp>
        <p:nvSpPr>
          <p:cNvPr id="8" name="Text Placeholder 7">
            <a:extLst>
              <a:ext uri="{FF2B5EF4-FFF2-40B4-BE49-F238E27FC236}">
                <a16:creationId xmlns:a16="http://schemas.microsoft.com/office/drawing/2014/main" id="{E0B9402F-E5CF-AFA7-757F-9D9093C998D0}"/>
              </a:ext>
            </a:extLst>
          </p:cNvPr>
          <p:cNvSpPr>
            <a:spLocks noGrp="1"/>
          </p:cNvSpPr>
          <p:nvPr>
            <p:ph type="body" sz="quarter" idx="17" hasCustomPrompt="1"/>
          </p:nvPr>
        </p:nvSpPr>
        <p:spPr>
          <a:xfrm rot="5400000">
            <a:off x="8915400" y="2935224"/>
            <a:ext cx="5751576" cy="393192"/>
          </a:xfrm>
        </p:spPr>
        <p:txBody>
          <a:bodyPr anchor="b" anchorCtr="0"/>
          <a:lstStyle>
            <a:lvl1pPr marL="0" indent="0">
              <a:lnSpc>
                <a:spcPct val="110000"/>
              </a:lnSpc>
              <a:spcBef>
                <a:spcPts val="0"/>
              </a:spcBef>
              <a:buNone/>
              <a:defRPr>
                <a:solidFill>
                  <a:schemeClr val="bg1"/>
                </a:solidFill>
                <a:latin typeface="+mj-lt"/>
              </a:defRPr>
            </a:lvl1pPr>
          </a:lstStyle>
          <a:p>
            <a:pPr lvl="0"/>
            <a:r>
              <a:rPr lang="en-US"/>
              <a:t>CLICK TO ADD TEXT </a:t>
            </a:r>
          </a:p>
        </p:txBody>
      </p:sp>
    </p:spTree>
    <p:extLst>
      <p:ext uri="{BB962C8B-B14F-4D97-AF65-F5344CB8AC3E}">
        <p14:creationId xmlns:p14="http://schemas.microsoft.com/office/powerpoint/2010/main" val="3840295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4BC5DA-A8AE-7DF5-F621-2E2C5F6EDCBC}"/>
              </a:ext>
            </a:extLst>
          </p:cNvPr>
          <p:cNvSpPr/>
          <p:nvPr userDrawn="1"/>
        </p:nvSpPr>
        <p:spPr>
          <a:xfrm>
            <a:off x="0" y="0"/>
            <a:ext cx="12192000" cy="64008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219456" y="886968"/>
            <a:ext cx="8577072" cy="832104"/>
          </a:xfrm>
        </p:spPr>
        <p:txBody>
          <a:bodyPr anchor="t" anchorCtr="0"/>
          <a:lstStyle>
            <a:lvl1pPr>
              <a:defRPr sz="3200"/>
            </a:lvl1pPr>
          </a:lstStyle>
          <a:p>
            <a:r>
              <a:rPr lang="en-US"/>
              <a:t>CLICK TO ADD TITLE TEXT</a:t>
            </a:r>
          </a:p>
        </p:txBody>
      </p:sp>
      <p:sp>
        <p:nvSpPr>
          <p:cNvPr id="5" name="Footer Placeholder 4">
            <a:extLst>
              <a:ext uri="{FF2B5EF4-FFF2-40B4-BE49-F238E27FC236}">
                <a16:creationId xmlns:a16="http://schemas.microsoft.com/office/drawing/2014/main" id="{9573C58B-1AF1-D302-02AD-43BD2FABFBAC}"/>
              </a:ext>
            </a:extLst>
          </p:cNvPr>
          <p:cNvSpPr>
            <a:spLocks noGrp="1"/>
          </p:cNvSpPr>
          <p:nvPr>
            <p:ph type="ftr" sz="quarter" idx="15"/>
          </p:nvPr>
        </p:nvSpPr>
        <p:spPr/>
        <p:txBody>
          <a:bodyPr/>
          <a:lstStyle/>
          <a:p>
            <a:r>
              <a:rPr lang="en-US"/>
              <a:t>Edit source</a:t>
            </a:r>
          </a:p>
        </p:txBody>
      </p:sp>
      <p:sp>
        <p:nvSpPr>
          <p:cNvPr id="6" name="Slide Number Placeholder 5">
            <a:extLst>
              <a:ext uri="{FF2B5EF4-FFF2-40B4-BE49-F238E27FC236}">
                <a16:creationId xmlns:a16="http://schemas.microsoft.com/office/drawing/2014/main" id="{A9D07AD7-ED73-5B1C-8CBD-2B9A02EBD8F5}"/>
              </a:ext>
            </a:extLst>
          </p:cNvPr>
          <p:cNvSpPr>
            <a:spLocks noGrp="1"/>
          </p:cNvSpPr>
          <p:nvPr>
            <p:ph type="sldNum" sz="quarter" idx="16"/>
          </p:nvPr>
        </p:nvSpPr>
        <p:spPr/>
        <p:txBody>
          <a:bodyPr/>
          <a:lstStyle/>
          <a:p>
            <a:fld id="{98F3EE46-22F2-40FF-849A-D81FB3452EE0}" type="slidenum">
              <a:rPr lang="en-US" smtClean="0"/>
              <a:pPr/>
              <a:t>‹#›</a:t>
            </a:fld>
            <a:endParaRPr lang="en-US"/>
          </a:p>
        </p:txBody>
      </p:sp>
      <p:sp>
        <p:nvSpPr>
          <p:cNvPr id="8" name="Text Placeholder 7">
            <a:extLst>
              <a:ext uri="{FF2B5EF4-FFF2-40B4-BE49-F238E27FC236}">
                <a16:creationId xmlns:a16="http://schemas.microsoft.com/office/drawing/2014/main" id="{FE8DD1F2-4572-ED8D-157A-77141A3D1C5D}"/>
              </a:ext>
            </a:extLst>
          </p:cNvPr>
          <p:cNvSpPr>
            <a:spLocks noGrp="1"/>
          </p:cNvSpPr>
          <p:nvPr>
            <p:ph type="body" sz="quarter" idx="17" hasCustomPrompt="1"/>
          </p:nvPr>
        </p:nvSpPr>
        <p:spPr>
          <a:xfrm>
            <a:off x="246888" y="146304"/>
            <a:ext cx="8961120" cy="457200"/>
          </a:xfrm>
        </p:spPr>
        <p:txBody>
          <a:bodyPr anchor="b" anchorCtr="0"/>
          <a:lstStyle>
            <a:lvl1pPr marL="0" indent="0">
              <a:lnSpc>
                <a:spcPct val="110000"/>
              </a:lnSpc>
              <a:spcBef>
                <a:spcPts val="0"/>
              </a:spcBef>
              <a:buNone/>
              <a:defRPr>
                <a:solidFill>
                  <a:schemeClr val="bg1"/>
                </a:solidFill>
                <a:latin typeface="+mj-lt"/>
              </a:defRPr>
            </a:lvl1pPr>
            <a:lvl2pPr marL="457200" indent="0">
              <a:buNone/>
              <a:defRPr/>
            </a:lvl2pPr>
          </a:lstStyle>
          <a:p>
            <a:pPr lvl="0"/>
            <a:r>
              <a:rPr lang="en-US"/>
              <a:t>CLICK TO ADD TEXT</a:t>
            </a:r>
          </a:p>
        </p:txBody>
      </p:sp>
    </p:spTree>
    <p:extLst>
      <p:ext uri="{BB962C8B-B14F-4D97-AF65-F5344CB8AC3E}">
        <p14:creationId xmlns:p14="http://schemas.microsoft.com/office/powerpoint/2010/main" val="20278723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90" y="347663"/>
            <a:ext cx="3929449"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756666"/>
            <a:ext cx="3250819" cy="1234059"/>
          </a:xfrm>
        </p:spPr>
        <p:txBody>
          <a:bodyPr anchor="t" anchorCtr="0"/>
          <a:lstStyle>
            <a:lvl1pPr>
              <a:defRPr sz="44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672338" y="468820"/>
            <a:ext cx="24414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475991"/>
            <a:ext cx="123825" cy="144087"/>
          </a:xfrm>
          <a:prstGeom prst="rect">
            <a:avLst/>
          </a:prstGeom>
        </p:spPr>
      </p:pic>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13" name="Footer Placeholder 12">
            <a:extLst>
              <a:ext uri="{FF2B5EF4-FFF2-40B4-BE49-F238E27FC236}">
                <a16:creationId xmlns:a16="http://schemas.microsoft.com/office/drawing/2014/main" id="{6DAE1B1C-D2F9-4BAE-D50C-9636FB2F210E}"/>
              </a:ext>
            </a:extLst>
          </p:cNvPr>
          <p:cNvSpPr>
            <a:spLocks noGrp="1"/>
          </p:cNvSpPr>
          <p:nvPr>
            <p:ph type="ftr" sz="quarter" idx="16"/>
          </p:nvPr>
        </p:nvSpPr>
        <p:spPr/>
        <p:txBody>
          <a:bodyPr/>
          <a:lstStyle>
            <a:lvl1pPr>
              <a:defRPr>
                <a:solidFill>
                  <a:schemeClr val="bg1"/>
                </a:solidFill>
              </a:defRPr>
            </a:lvl1pPr>
          </a:lstStyle>
          <a:p>
            <a:r>
              <a:rPr lang="en-US"/>
              <a:t>Edit source</a:t>
            </a:r>
          </a:p>
        </p:txBody>
      </p:sp>
      <p:sp>
        <p:nvSpPr>
          <p:cNvPr id="14" name="Slide Number Placeholder 13">
            <a:extLst>
              <a:ext uri="{FF2B5EF4-FFF2-40B4-BE49-F238E27FC236}">
                <a16:creationId xmlns:a16="http://schemas.microsoft.com/office/drawing/2014/main" id="{5BA7802F-1E1A-0E88-51EE-ABE6DD0F1D90}"/>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10916185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90" y="347663"/>
            <a:ext cx="3929449"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756666"/>
            <a:ext cx="3250819" cy="1234059"/>
          </a:xfrm>
        </p:spPr>
        <p:txBody>
          <a:bodyPr anchor="t" anchorCtr="0"/>
          <a:lstStyle>
            <a:lvl1pPr>
              <a:defRPr sz="44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41960" y="468820"/>
            <a:ext cx="2671826"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13" name="Footer Placeholder 12">
            <a:extLst>
              <a:ext uri="{FF2B5EF4-FFF2-40B4-BE49-F238E27FC236}">
                <a16:creationId xmlns:a16="http://schemas.microsoft.com/office/drawing/2014/main" id="{6DAE1B1C-D2F9-4BAE-D50C-9636FB2F210E}"/>
              </a:ext>
            </a:extLst>
          </p:cNvPr>
          <p:cNvSpPr>
            <a:spLocks noGrp="1"/>
          </p:cNvSpPr>
          <p:nvPr>
            <p:ph type="ftr" sz="quarter" idx="16"/>
          </p:nvPr>
        </p:nvSpPr>
        <p:spPr/>
        <p:txBody>
          <a:bodyPr/>
          <a:lstStyle>
            <a:lvl1pPr>
              <a:defRPr>
                <a:solidFill>
                  <a:schemeClr val="bg1"/>
                </a:solidFill>
              </a:defRPr>
            </a:lvl1pPr>
          </a:lstStyle>
          <a:p>
            <a:r>
              <a:rPr lang="en-US"/>
              <a:t>Edit source</a:t>
            </a:r>
          </a:p>
        </p:txBody>
      </p:sp>
      <p:sp>
        <p:nvSpPr>
          <p:cNvPr id="14" name="Slide Number Placeholder 13">
            <a:extLst>
              <a:ext uri="{FF2B5EF4-FFF2-40B4-BE49-F238E27FC236}">
                <a16:creationId xmlns:a16="http://schemas.microsoft.com/office/drawing/2014/main" id="{5BA7802F-1E1A-0E88-51EE-ABE6DD0F1D90}"/>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4936544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90" y="347663"/>
            <a:ext cx="3929449"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487585"/>
            <a:ext cx="3250819" cy="1234059"/>
          </a:xfrm>
        </p:spPr>
        <p:txBody>
          <a:bodyPr anchor="t" anchorCtr="0"/>
          <a:lstStyle>
            <a:lvl1pPr>
              <a:defRPr sz="4400"/>
            </a:lvl1pPr>
          </a:lstStyle>
          <a:p>
            <a:r>
              <a:rPr lang="en-US"/>
              <a:t>CLICK TO ADD TITLE TEXT</a:t>
            </a:r>
          </a:p>
        </p:txBody>
      </p:sp>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13" name="Footer Placeholder 12">
            <a:extLst>
              <a:ext uri="{FF2B5EF4-FFF2-40B4-BE49-F238E27FC236}">
                <a16:creationId xmlns:a16="http://schemas.microsoft.com/office/drawing/2014/main" id="{6DAE1B1C-D2F9-4BAE-D50C-9636FB2F210E}"/>
              </a:ext>
            </a:extLst>
          </p:cNvPr>
          <p:cNvSpPr>
            <a:spLocks noGrp="1"/>
          </p:cNvSpPr>
          <p:nvPr>
            <p:ph type="ftr" sz="quarter" idx="16"/>
          </p:nvPr>
        </p:nvSpPr>
        <p:spPr/>
        <p:txBody>
          <a:bodyPr/>
          <a:lstStyle>
            <a:lvl1pPr>
              <a:defRPr>
                <a:solidFill>
                  <a:schemeClr val="bg1"/>
                </a:solidFill>
              </a:defRPr>
            </a:lvl1pPr>
          </a:lstStyle>
          <a:p>
            <a:r>
              <a:rPr lang="en-US"/>
              <a:t>Edit source</a:t>
            </a:r>
          </a:p>
        </p:txBody>
      </p:sp>
      <p:sp>
        <p:nvSpPr>
          <p:cNvPr id="14" name="Slide Number Placeholder 13">
            <a:extLst>
              <a:ext uri="{FF2B5EF4-FFF2-40B4-BE49-F238E27FC236}">
                <a16:creationId xmlns:a16="http://schemas.microsoft.com/office/drawing/2014/main" id="{5BA7802F-1E1A-0E88-51EE-ABE6DD0F1D90}"/>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20508879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89" y="347663"/>
            <a:ext cx="11505491"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756666"/>
            <a:ext cx="3250819" cy="1234059"/>
          </a:xfrm>
        </p:spPr>
        <p:txBody>
          <a:bodyPr anchor="t" anchorCtr="0"/>
          <a:lstStyle>
            <a:lvl1pPr>
              <a:defRPr sz="44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672338" y="468820"/>
            <a:ext cx="24414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pic>
        <p:nvPicPr>
          <p:cNvPr id="9" name="Graphic 8">
            <a:extLst>
              <a:ext uri="{FF2B5EF4-FFF2-40B4-BE49-F238E27FC236}">
                <a16:creationId xmlns:a16="http://schemas.microsoft.com/office/drawing/2014/main" id="{DD7AD761-70AA-D963-6E0D-02A22F3EE2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475991"/>
            <a:ext cx="123825" cy="144087"/>
          </a:xfrm>
          <a:prstGeom prst="rect">
            <a:avLst/>
          </a:prstGeom>
        </p:spPr>
      </p:pic>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7" name="Slide Number Placeholder 6">
            <a:extLst>
              <a:ext uri="{FF2B5EF4-FFF2-40B4-BE49-F238E27FC236}">
                <a16:creationId xmlns:a16="http://schemas.microsoft.com/office/drawing/2014/main" id="{20DB4591-C199-1B93-81A4-834DA1F3D0EB}"/>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5911836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89" y="347663"/>
            <a:ext cx="11505491"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756666"/>
            <a:ext cx="3250819" cy="1234059"/>
          </a:xfrm>
        </p:spPr>
        <p:txBody>
          <a:bodyPr anchor="t" anchorCtr="0"/>
          <a:lstStyle>
            <a:lvl1pPr>
              <a:defRPr sz="4400"/>
            </a:lvl1pPr>
          </a:lstStyle>
          <a:p>
            <a:r>
              <a:rPr lang="en-US"/>
              <a:t>CLICK TO ADD TITLE TEXT</a:t>
            </a:r>
          </a:p>
        </p:txBody>
      </p:sp>
      <p:sp>
        <p:nvSpPr>
          <p:cNvPr id="8" name="Text Placeholder 7">
            <a:extLst>
              <a:ext uri="{FF2B5EF4-FFF2-40B4-BE49-F238E27FC236}">
                <a16:creationId xmlns:a16="http://schemas.microsoft.com/office/drawing/2014/main" id="{C38EFB18-09FE-C02A-85DE-666EF56E949D}"/>
              </a:ext>
            </a:extLst>
          </p:cNvPr>
          <p:cNvSpPr>
            <a:spLocks noGrp="1"/>
          </p:cNvSpPr>
          <p:nvPr>
            <p:ph type="body" sz="quarter" idx="13" hasCustomPrompt="1"/>
          </p:nvPr>
        </p:nvSpPr>
        <p:spPr>
          <a:xfrm>
            <a:off x="438912" y="468820"/>
            <a:ext cx="2670048" cy="155448"/>
          </a:xfrm>
        </p:spPr>
        <p:txBody>
          <a:bodyPr anchor="ctr" anchorCtr="0">
            <a:noAutofit/>
          </a:bodyPr>
          <a:lstStyle>
            <a:lvl1pPr marL="0" indent="0">
              <a:lnSpc>
                <a:spcPct val="100000"/>
              </a:lnSpc>
              <a:spcBef>
                <a:spcPts val="0"/>
              </a:spcBef>
              <a:buNone/>
              <a:defRPr sz="750" b="1">
                <a:solidFill>
                  <a:schemeClr val="tx1"/>
                </a:solidFill>
              </a:defRPr>
            </a:lvl1pPr>
          </a:lstStyle>
          <a:p>
            <a:pPr lvl="0"/>
            <a:r>
              <a:rPr lang="en-US" sz="750"/>
              <a:t>CLICK TO ADD TEXT</a:t>
            </a:r>
            <a:endParaRPr lang="en-US"/>
          </a:p>
        </p:txBody>
      </p:sp>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7" name="Slide Number Placeholder 6">
            <a:extLst>
              <a:ext uri="{FF2B5EF4-FFF2-40B4-BE49-F238E27FC236}">
                <a16:creationId xmlns:a16="http://schemas.microsoft.com/office/drawing/2014/main" id="{20DB4591-C199-1B93-81A4-834DA1F3D0EB}"/>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3795112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11095-9173-134D-093A-C4C56CCD4E16}"/>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998A2C-8A7C-FA4F-B20D-A8A5597A7436}"/>
              </a:ext>
            </a:extLst>
          </p:cNvPr>
          <p:cNvSpPr/>
          <p:nvPr userDrawn="1"/>
        </p:nvSpPr>
        <p:spPr>
          <a:xfrm>
            <a:off x="345989" y="347663"/>
            <a:ext cx="11505491" cy="6172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E9F85-83A6-75E7-57AB-9A0AB3F50CEE}"/>
              </a:ext>
            </a:extLst>
          </p:cNvPr>
          <p:cNvSpPr>
            <a:spLocks noGrp="1"/>
          </p:cNvSpPr>
          <p:nvPr>
            <p:ph type="title" hasCustomPrompt="1"/>
          </p:nvPr>
        </p:nvSpPr>
        <p:spPr>
          <a:xfrm>
            <a:off x="416306" y="484632"/>
            <a:ext cx="3250819" cy="1234059"/>
          </a:xfrm>
        </p:spPr>
        <p:txBody>
          <a:bodyPr anchor="t" anchorCtr="0"/>
          <a:lstStyle>
            <a:lvl1pPr>
              <a:defRPr sz="4400"/>
            </a:lvl1pPr>
          </a:lstStyle>
          <a:p>
            <a:r>
              <a:rPr lang="en-US"/>
              <a:t>CLICK TO ADD TITLE TEXT</a:t>
            </a:r>
          </a:p>
        </p:txBody>
      </p:sp>
      <p:sp>
        <p:nvSpPr>
          <p:cNvPr id="6" name="Text Placeholder 5">
            <a:extLst>
              <a:ext uri="{FF2B5EF4-FFF2-40B4-BE49-F238E27FC236}">
                <a16:creationId xmlns:a16="http://schemas.microsoft.com/office/drawing/2014/main" id="{ACCFD078-A0A8-9DDA-837C-8888134740BE}"/>
              </a:ext>
            </a:extLst>
          </p:cNvPr>
          <p:cNvSpPr>
            <a:spLocks noGrp="1"/>
          </p:cNvSpPr>
          <p:nvPr>
            <p:ph type="body" sz="quarter" idx="14" hasCustomPrompt="1"/>
          </p:nvPr>
        </p:nvSpPr>
        <p:spPr>
          <a:xfrm>
            <a:off x="514350" y="4333876"/>
            <a:ext cx="3581400" cy="1962150"/>
          </a:xfrm>
        </p:spPr>
        <p:txBody>
          <a:bodyPr lIns="91440" tIns="45720" rIns="91440" anchor="b" anchorCtr="0"/>
          <a:lstStyle>
            <a:lvl1pPr>
              <a:lnSpc>
                <a:spcPct val="130000"/>
              </a:lnSpc>
              <a:defRPr/>
            </a:lvl1pPr>
            <a:lvl2pPr marL="457200" indent="0">
              <a:buNone/>
              <a:defRPr/>
            </a:lvl2pPr>
          </a:lstStyle>
          <a:p>
            <a:pPr lvl="0"/>
            <a:r>
              <a:rPr lang="en-US"/>
              <a:t>Click to edit text</a:t>
            </a:r>
          </a:p>
        </p:txBody>
      </p:sp>
      <p:sp>
        <p:nvSpPr>
          <p:cNvPr id="12" name="Content Placeholder 11">
            <a:extLst>
              <a:ext uri="{FF2B5EF4-FFF2-40B4-BE49-F238E27FC236}">
                <a16:creationId xmlns:a16="http://schemas.microsoft.com/office/drawing/2014/main" id="{33E28732-AA35-8E0D-7ACB-DAD00650B579}"/>
              </a:ext>
            </a:extLst>
          </p:cNvPr>
          <p:cNvSpPr>
            <a:spLocks noGrp="1"/>
          </p:cNvSpPr>
          <p:nvPr>
            <p:ph sz="quarter" idx="15"/>
          </p:nvPr>
        </p:nvSpPr>
        <p:spPr>
          <a:xfrm>
            <a:off x="4972050" y="648607"/>
            <a:ext cx="6429375" cy="5543550"/>
          </a:xfrm>
        </p:spPr>
        <p:txBody>
          <a:bodyPr/>
          <a:lstStyle>
            <a:lvl1pPr marL="0" indent="0">
              <a:buNone/>
              <a:defRPr>
                <a:solidFill>
                  <a:schemeClr val="bg1"/>
                </a:solidFill>
              </a:defRPr>
            </a:lvl1pPr>
          </a:lstStyle>
          <a:p>
            <a:pPr lvl="0"/>
            <a:endParaRPr lang="en-US"/>
          </a:p>
        </p:txBody>
      </p:sp>
      <p:sp>
        <p:nvSpPr>
          <p:cNvPr id="7" name="Slide Number Placeholder 6">
            <a:extLst>
              <a:ext uri="{FF2B5EF4-FFF2-40B4-BE49-F238E27FC236}">
                <a16:creationId xmlns:a16="http://schemas.microsoft.com/office/drawing/2014/main" id="{20DB4591-C199-1B93-81A4-834DA1F3D0EB}"/>
              </a:ext>
            </a:extLst>
          </p:cNvPr>
          <p:cNvSpPr>
            <a:spLocks noGrp="1"/>
          </p:cNvSpPr>
          <p:nvPr>
            <p:ph type="sldNum" sz="quarter" idx="17"/>
          </p:nvPr>
        </p:nvSpPr>
        <p:spPr/>
        <p:txBody>
          <a:bodyPr/>
          <a:lstStyle>
            <a:lvl1pPr>
              <a:defRPr>
                <a:solidFill>
                  <a:schemeClr val="bg1"/>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21227915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DA852-942B-1967-CD89-586F20B7F02E}"/>
              </a:ext>
            </a:extLst>
          </p:cNvPr>
          <p:cNvSpPr>
            <a:spLocks noGrp="1"/>
          </p:cNvSpPr>
          <p:nvPr>
            <p:ph type="title" hasCustomPrompt="1"/>
          </p:nvPr>
        </p:nvSpPr>
        <p:spPr>
          <a:xfrm>
            <a:off x="539750" y="3911600"/>
            <a:ext cx="10515600" cy="2314575"/>
          </a:xfrm>
        </p:spPr>
        <p:txBody>
          <a:bodyPr anchor="b"/>
          <a:lstStyle>
            <a:lvl1pPr>
              <a:defRPr sz="6000"/>
            </a:lvl1pPr>
          </a:lstStyle>
          <a:p>
            <a:r>
              <a:rPr lang="en-US"/>
              <a:t>CLICK TO ADD TITLE TEXT</a:t>
            </a:r>
          </a:p>
        </p:txBody>
      </p:sp>
      <p:sp>
        <p:nvSpPr>
          <p:cNvPr id="3" name="Text Placeholder 2">
            <a:extLst>
              <a:ext uri="{FF2B5EF4-FFF2-40B4-BE49-F238E27FC236}">
                <a16:creationId xmlns:a16="http://schemas.microsoft.com/office/drawing/2014/main" id="{167531CE-5B17-DC89-B191-CE2817541D49}"/>
              </a:ext>
            </a:extLst>
          </p:cNvPr>
          <p:cNvSpPr>
            <a:spLocks noGrp="1"/>
          </p:cNvSpPr>
          <p:nvPr>
            <p:ph type="body" idx="1" hasCustomPrompt="1"/>
          </p:nvPr>
        </p:nvSpPr>
        <p:spPr>
          <a:xfrm>
            <a:off x="539750" y="322263"/>
            <a:ext cx="10515600" cy="465137"/>
          </a:xfrm>
        </p:spPr>
        <p:txBody>
          <a:bodyPr/>
          <a:lstStyle>
            <a:lvl1pPr marL="0" indent="0">
              <a:buNone/>
              <a:defRPr sz="11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text</a:t>
            </a:r>
          </a:p>
        </p:txBody>
      </p:sp>
      <p:sp>
        <p:nvSpPr>
          <p:cNvPr id="6" name="Slide Number Placeholder 5">
            <a:extLst>
              <a:ext uri="{FF2B5EF4-FFF2-40B4-BE49-F238E27FC236}">
                <a16:creationId xmlns:a16="http://schemas.microsoft.com/office/drawing/2014/main" id="{1E715A0C-9585-042B-BBD3-88492F613C68}"/>
              </a:ext>
            </a:extLst>
          </p:cNvPr>
          <p:cNvSpPr>
            <a:spLocks noGrp="1"/>
          </p:cNvSpPr>
          <p:nvPr>
            <p:ph type="sldNum" sz="quarter" idx="12"/>
          </p:nvPr>
        </p:nvSpPr>
        <p:spPr/>
        <p:txBody>
          <a:bodyPr/>
          <a:lstStyle/>
          <a:p>
            <a:fld id="{98F3EE46-22F2-40FF-849A-D81FB3452EE0}" type="slidenum">
              <a:rPr lang="en-US" smtClean="0"/>
              <a:t>‹#›</a:t>
            </a:fld>
            <a:endParaRPr lang="en-US"/>
          </a:p>
        </p:txBody>
      </p:sp>
    </p:spTree>
    <p:extLst>
      <p:ext uri="{BB962C8B-B14F-4D97-AF65-F5344CB8AC3E}">
        <p14:creationId xmlns:p14="http://schemas.microsoft.com/office/powerpoint/2010/main" val="9827797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B4872F-D7BF-530B-C66E-123C641116AB}"/>
              </a:ext>
            </a:extLst>
          </p:cNvPr>
          <p:cNvSpPr>
            <a:spLocks noGrp="1"/>
          </p:cNvSpPr>
          <p:nvPr>
            <p:ph type="sldNum" sz="quarter" idx="12"/>
          </p:nvPr>
        </p:nvSpPr>
        <p:spPr/>
        <p:txBody>
          <a:bodyPr/>
          <a:lstStyle/>
          <a:p>
            <a:fld id="{98F3EE46-22F2-40FF-849A-D81FB3452EE0}" type="slidenum">
              <a:rPr lang="en-US" smtClean="0"/>
              <a:t>‹#›</a:t>
            </a:fld>
            <a:endParaRPr lang="en-US"/>
          </a:p>
        </p:txBody>
      </p:sp>
    </p:spTree>
    <p:extLst>
      <p:ext uri="{BB962C8B-B14F-4D97-AF65-F5344CB8AC3E}">
        <p14:creationId xmlns:p14="http://schemas.microsoft.com/office/powerpoint/2010/main" val="1338574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78212-DB9A-3031-85B3-7D02804F3C4C}"/>
              </a:ext>
            </a:extLst>
          </p:cNvPr>
          <p:cNvSpPr>
            <a:spLocks noGrp="1"/>
          </p:cNvSpPr>
          <p:nvPr>
            <p:ph sz="quarter" idx="13"/>
          </p:nvPr>
        </p:nvSpPr>
        <p:spPr>
          <a:xfrm>
            <a:off x="0" y="0"/>
            <a:ext cx="12192000" cy="6858000"/>
          </a:xfrm>
        </p:spPr>
        <p:txBody>
          <a:bodyPr/>
          <a:lstStyle>
            <a:lvl1pPr marL="0" indent="0">
              <a:buNone/>
              <a:defRPr/>
            </a:lvl1pPr>
            <a:lvl2pPr marL="457200" indent="0">
              <a:buNone/>
              <a:defRPr/>
            </a:lvl2pPr>
          </a:lstStyle>
          <a:p>
            <a:pPr lvl="0"/>
            <a:endParaRPr lang="en-US"/>
          </a:p>
        </p:txBody>
      </p:sp>
      <p:sp>
        <p:nvSpPr>
          <p:cNvPr id="4" name="Slide Number Placeholder 3">
            <a:extLst>
              <a:ext uri="{FF2B5EF4-FFF2-40B4-BE49-F238E27FC236}">
                <a16:creationId xmlns:a16="http://schemas.microsoft.com/office/drawing/2014/main" id="{29B4872F-D7BF-530B-C66E-123C641116AB}"/>
              </a:ext>
            </a:extLst>
          </p:cNvPr>
          <p:cNvSpPr>
            <a:spLocks noGrp="1"/>
          </p:cNvSpPr>
          <p:nvPr>
            <p:ph type="sldNum" sz="quarter" idx="12"/>
          </p:nvPr>
        </p:nvSpPr>
        <p:spPr/>
        <p:txBody>
          <a:bodyPr/>
          <a:lstStyle/>
          <a:p>
            <a:fld id="{98F3EE46-22F2-40FF-849A-D81FB3452EE0}" type="slidenum">
              <a:rPr lang="en-US" smtClean="0"/>
              <a:t>‹#›</a:t>
            </a:fld>
            <a:endParaRPr lang="en-US"/>
          </a:p>
        </p:txBody>
      </p:sp>
    </p:spTree>
    <p:extLst>
      <p:ext uri="{BB962C8B-B14F-4D97-AF65-F5344CB8AC3E}">
        <p14:creationId xmlns:p14="http://schemas.microsoft.com/office/powerpoint/2010/main" val="323292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white surface with black dots&#10;&#10;Description automatically generated">
            <a:extLst>
              <a:ext uri="{FF2B5EF4-FFF2-40B4-BE49-F238E27FC236}">
                <a16:creationId xmlns:a16="http://schemas.microsoft.com/office/drawing/2014/main" id="{6C395110-6C79-FB63-1B25-551E2140BE54}"/>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
        <p:nvSpPr>
          <p:cNvPr id="2" name="Title Placeholder 1">
            <a:extLst>
              <a:ext uri="{FF2B5EF4-FFF2-40B4-BE49-F238E27FC236}">
                <a16:creationId xmlns:a16="http://schemas.microsoft.com/office/drawing/2014/main" id="{9A19B2CA-4C3E-9F13-0F40-AEE6D37C407E}"/>
              </a:ext>
            </a:extLst>
          </p:cNvPr>
          <p:cNvSpPr>
            <a:spLocks noGrp="1"/>
          </p:cNvSpPr>
          <p:nvPr>
            <p:ph type="title"/>
          </p:nvPr>
        </p:nvSpPr>
        <p:spPr>
          <a:xfrm>
            <a:off x="420624" y="18288"/>
            <a:ext cx="10515600" cy="128930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66BBAB-74F8-27BD-9E25-AB0967D2DDED}"/>
              </a:ext>
            </a:extLst>
          </p:cNvPr>
          <p:cNvSpPr>
            <a:spLocks noGrp="1"/>
          </p:cNvSpPr>
          <p:nvPr>
            <p:ph type="body" idx="1"/>
          </p:nvPr>
        </p:nvSpPr>
        <p:spPr>
          <a:xfrm>
            <a:off x="449263" y="2041749"/>
            <a:ext cx="11266487" cy="431460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5259A2B-E36E-6503-D018-13B131DA6299}"/>
              </a:ext>
            </a:extLst>
          </p:cNvPr>
          <p:cNvSpPr>
            <a:spLocks noGrp="1"/>
          </p:cNvSpPr>
          <p:nvPr>
            <p:ph type="sldNum" sz="quarter" idx="4"/>
          </p:nvPr>
        </p:nvSpPr>
        <p:spPr>
          <a:xfrm>
            <a:off x="11631168" y="6510528"/>
            <a:ext cx="424543" cy="265176"/>
          </a:xfrm>
          <a:prstGeom prst="rect">
            <a:avLst/>
          </a:prstGeom>
        </p:spPr>
        <p:txBody>
          <a:bodyPr vert="horz" lIns="91440" tIns="45720" rIns="91440" bIns="45720" rtlCol="0" anchor="ctr"/>
          <a:lstStyle>
            <a:lvl1pPr algn="r">
              <a:defRPr sz="700">
                <a:solidFill>
                  <a:schemeClr val="accent4"/>
                </a:solidFill>
              </a:defRPr>
            </a:lvl1pPr>
          </a:lstStyle>
          <a:p>
            <a:fld id="{6D05E8BB-FF85-4620-9298-8F3F48811131}" type="slidenum">
              <a:rPr lang="en-US" smtClean="0"/>
              <a:pPr/>
              <a:t>‹#›</a:t>
            </a:fld>
            <a:endParaRPr lang="en-US"/>
          </a:p>
        </p:txBody>
      </p:sp>
      <p:sp>
        <p:nvSpPr>
          <p:cNvPr id="12" name="Rectangle 11">
            <a:extLst>
              <a:ext uri="{FF2B5EF4-FFF2-40B4-BE49-F238E27FC236}">
                <a16:creationId xmlns:a16="http://schemas.microsoft.com/office/drawing/2014/main" id="{1A7A52C8-9431-1188-C80B-AF1AD439CF67}"/>
              </a:ext>
            </a:extLst>
          </p:cNvPr>
          <p:cNvSpPr/>
          <p:nvPr userDrawn="1"/>
        </p:nvSpPr>
        <p:spPr>
          <a:xfrm>
            <a:off x="5981700" y="-243841"/>
            <a:ext cx="228600" cy="14246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FB3F33-A889-15A7-56D2-E95ADC282AE4}"/>
              </a:ext>
            </a:extLst>
          </p:cNvPr>
          <p:cNvSpPr/>
          <p:nvPr userDrawn="1"/>
        </p:nvSpPr>
        <p:spPr>
          <a:xfrm>
            <a:off x="5105400" y="-243841"/>
            <a:ext cx="228600" cy="14246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endParaRPr lang="en-US" sz="500"/>
          </a:p>
        </p:txBody>
      </p:sp>
      <p:sp>
        <p:nvSpPr>
          <p:cNvPr id="7" name="Rectangle 6">
            <a:extLst>
              <a:ext uri="{FF2B5EF4-FFF2-40B4-BE49-F238E27FC236}">
                <a16:creationId xmlns:a16="http://schemas.microsoft.com/office/drawing/2014/main" id="{35B90F12-DFC0-29D4-D114-0CEBCD3595DB}"/>
              </a:ext>
            </a:extLst>
          </p:cNvPr>
          <p:cNvSpPr/>
          <p:nvPr userDrawn="1"/>
        </p:nvSpPr>
        <p:spPr>
          <a:xfrm>
            <a:off x="-321945" y="685800"/>
            <a:ext cx="228600" cy="3429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endParaRPr lang="en-US" sz="500"/>
          </a:p>
        </p:txBody>
      </p:sp>
    </p:spTree>
    <p:extLst>
      <p:ext uri="{BB962C8B-B14F-4D97-AF65-F5344CB8AC3E}">
        <p14:creationId xmlns:p14="http://schemas.microsoft.com/office/powerpoint/2010/main" val="1924449282"/>
      </p:ext>
    </p:extLst>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5" r:id="rId12"/>
    <p:sldLayoutId id="2147484946" r:id="rId13"/>
    <p:sldLayoutId id="2147484947" r:id="rId14"/>
    <p:sldLayoutId id="2147484948" r:id="rId15"/>
    <p:sldLayoutId id="2147484949" r:id="rId16"/>
  </p:sldLayoutIdLst>
  <p:hf hdr="0" ftr="0" dt="0"/>
  <p:txStyles>
    <p:titleStyle>
      <a:lvl1pPr algn="l" defTabSz="914400" rtl="0" eaLnBrk="1" latinLnBrk="0" hangingPunct="1">
        <a:lnSpc>
          <a:spcPct val="100000"/>
        </a:lnSpc>
        <a:spcBef>
          <a:spcPct val="0"/>
        </a:spcBef>
        <a:buNone/>
        <a:defRPr sz="3200" b="1" kern="1200" spc="150" baseline="0">
          <a:solidFill>
            <a:schemeClr val="tx1"/>
          </a:solidFill>
          <a:latin typeface="+mj-lt"/>
          <a:ea typeface="+mj-ea"/>
          <a:cs typeface="+mj-cs"/>
        </a:defRPr>
      </a:lvl1pPr>
    </p:titleStyle>
    <p:body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432">
          <p15:clr>
            <a:srgbClr val="F26B43"/>
          </p15:clr>
        </p15:guide>
        <p15:guide id="4" pos="1680">
          <p15:clr>
            <a:srgbClr val="F26B43"/>
          </p15:clr>
        </p15:guide>
        <p15:guide id="5" pos="1824">
          <p15:clr>
            <a:srgbClr val="F26B43"/>
          </p15:clr>
        </p15:guide>
        <p15:guide id="6" pos="3072">
          <p15:clr>
            <a:srgbClr val="F26B43"/>
          </p15:clr>
        </p15:guide>
        <p15:guide id="7" pos="3216">
          <p15:clr>
            <a:srgbClr val="F26B43"/>
          </p15:clr>
        </p15:guide>
        <p15:guide id="8" pos="4464">
          <p15:clr>
            <a:srgbClr val="F26B43"/>
          </p15:clr>
        </p15:guide>
        <p15:guide id="9" pos="4608">
          <p15:clr>
            <a:srgbClr val="F26B43"/>
          </p15:clr>
        </p15:guide>
        <p15:guide id="10" pos="5856">
          <p15:clr>
            <a:srgbClr val="F26B43"/>
          </p15:clr>
        </p15:guide>
        <p15:guide id="11" pos="6000">
          <p15:clr>
            <a:srgbClr val="F26B43"/>
          </p15:clr>
        </p15:guide>
        <p15:guide id="12" pos="7248">
          <p15:clr>
            <a:srgbClr val="F26B43"/>
          </p15:clr>
        </p15:guide>
        <p15:guide id="13" orient="horz">
          <p15:clr>
            <a:srgbClr val="F26B43"/>
          </p15:clr>
        </p15:guide>
        <p15:guide id="14" orient="horz" pos="4320">
          <p15:clr>
            <a:srgbClr val="F26B43"/>
          </p15:clr>
        </p15:guide>
        <p15:guide id="15" orient="horz" pos="432">
          <p15:clr>
            <a:srgbClr val="F26B43"/>
          </p15:clr>
        </p15:guide>
        <p15:guide id="16" orient="horz" pos="1392">
          <p15:clr>
            <a:srgbClr val="F26B43"/>
          </p15:clr>
        </p15:guide>
        <p15:guide id="17" orient="horz" pos="1536">
          <p15:clr>
            <a:srgbClr val="F26B43"/>
          </p15:clr>
        </p15:guide>
        <p15:guide id="18" orient="horz" pos="2496">
          <p15:clr>
            <a:srgbClr val="F26B43"/>
          </p15:clr>
        </p15:guide>
        <p15:guide id="19" orient="horz" pos="2640">
          <p15:clr>
            <a:srgbClr val="F26B43"/>
          </p15:clr>
        </p15:guide>
        <p15:guide id="20" orient="horz" pos="3600">
          <p15:clr>
            <a:srgbClr val="F26B43"/>
          </p15:clr>
        </p15:guide>
        <p15:guide id="21" pos="3840">
          <p15:clr>
            <a:srgbClr val="F26B43"/>
          </p15:clr>
        </p15:guide>
        <p15:guide id="22" pos="3912">
          <p15:clr>
            <a:srgbClr val="F26B43"/>
          </p15:clr>
        </p15:guide>
        <p15:guide id="23" pos="3768">
          <p15:clr>
            <a:srgbClr val="F26B43"/>
          </p15:clr>
        </p15:guide>
        <p15:guide id="24" pos="3360">
          <p15:clr>
            <a:srgbClr val="F26B43"/>
          </p15:clr>
        </p15:guide>
        <p15:guide id="25" orient="horz" pos="6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47587C-D78A-345E-7C62-4160CE79CF54}"/>
              </a:ext>
            </a:extLst>
          </p:cNvPr>
          <p:cNvSpPr>
            <a:spLocks noGrp="1"/>
          </p:cNvSpPr>
          <p:nvPr>
            <p:ph type="title"/>
          </p:nvPr>
        </p:nvSpPr>
        <p:spPr>
          <a:xfrm>
            <a:off x="354330" y="365125"/>
            <a:ext cx="10999470" cy="1325563"/>
          </a:xfrm>
          <a:prstGeom prst="rect">
            <a:avLst/>
          </a:prstGeom>
        </p:spPr>
        <p:txBody>
          <a:bodyPr vert="horz" lIns="91440" tIns="45720" rIns="91440" bIns="45720" rtlCol="0" anchor="t" anchorCtr="0">
            <a:noAutofit/>
          </a:bodyPr>
          <a:lstStyle/>
          <a:p>
            <a:r>
              <a:rPr lang="en-US"/>
              <a:t>CLICK TO ADD TITLE TEXT</a:t>
            </a:r>
          </a:p>
        </p:txBody>
      </p:sp>
      <p:sp>
        <p:nvSpPr>
          <p:cNvPr id="3" name="Text Placeholder 2">
            <a:extLst>
              <a:ext uri="{FF2B5EF4-FFF2-40B4-BE49-F238E27FC236}">
                <a16:creationId xmlns:a16="http://schemas.microsoft.com/office/drawing/2014/main" id="{0C756050-1EC0-0C53-FA5F-D81FDBB6CAF0}"/>
              </a:ext>
            </a:extLst>
          </p:cNvPr>
          <p:cNvSpPr>
            <a:spLocks noGrp="1"/>
          </p:cNvSpPr>
          <p:nvPr>
            <p:ph type="body" idx="1"/>
          </p:nvPr>
        </p:nvSpPr>
        <p:spPr>
          <a:xfrm>
            <a:off x="354330" y="1825625"/>
            <a:ext cx="1099947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FB0B88A-9C84-3306-5BF0-F377598BEDCF}"/>
              </a:ext>
            </a:extLst>
          </p:cNvPr>
          <p:cNvSpPr>
            <a:spLocks noGrp="1"/>
          </p:cNvSpPr>
          <p:nvPr>
            <p:ph type="ftr" sz="quarter" idx="3"/>
          </p:nvPr>
        </p:nvSpPr>
        <p:spPr>
          <a:xfrm>
            <a:off x="7353300" y="6540500"/>
            <a:ext cx="4350649" cy="256032"/>
          </a:xfrm>
          <a:prstGeom prst="rect">
            <a:avLst/>
          </a:prstGeom>
        </p:spPr>
        <p:txBody>
          <a:bodyPr vert="horz" lIns="91440" tIns="45720" rIns="91440" bIns="45720" rtlCol="0" anchor="b" anchorCtr="0"/>
          <a:lstStyle>
            <a:lvl1pPr algn="r">
              <a:defRPr sz="700">
                <a:solidFill>
                  <a:schemeClr val="tx1">
                    <a:tint val="82000"/>
                  </a:schemeClr>
                </a:solidFill>
              </a:defRPr>
            </a:lvl1pPr>
          </a:lstStyle>
          <a:p>
            <a:r>
              <a:rPr lang="en-US"/>
              <a:t>Edit source</a:t>
            </a:r>
          </a:p>
        </p:txBody>
      </p:sp>
      <p:sp>
        <p:nvSpPr>
          <p:cNvPr id="6" name="Slide Number Placeholder 5">
            <a:extLst>
              <a:ext uri="{FF2B5EF4-FFF2-40B4-BE49-F238E27FC236}">
                <a16:creationId xmlns:a16="http://schemas.microsoft.com/office/drawing/2014/main" id="{00742529-D469-3612-F6B0-58937BFEC3AC}"/>
              </a:ext>
            </a:extLst>
          </p:cNvPr>
          <p:cNvSpPr>
            <a:spLocks noGrp="1"/>
          </p:cNvSpPr>
          <p:nvPr>
            <p:ph type="sldNum" sz="quarter" idx="4"/>
          </p:nvPr>
        </p:nvSpPr>
        <p:spPr>
          <a:xfrm>
            <a:off x="11779250" y="6540500"/>
            <a:ext cx="354250" cy="254000"/>
          </a:xfrm>
          <a:prstGeom prst="rect">
            <a:avLst/>
          </a:prstGeom>
        </p:spPr>
        <p:txBody>
          <a:bodyPr vert="horz" lIns="91440" tIns="45720" rIns="91440" bIns="45720" rtlCol="0" anchor="b" anchorCtr="0"/>
          <a:lstStyle>
            <a:lvl1pPr algn="r">
              <a:defRPr sz="700">
                <a:solidFill>
                  <a:schemeClr val="tx1">
                    <a:tint val="82000"/>
                  </a:schemeClr>
                </a:solidFill>
              </a:defRPr>
            </a:lvl1pPr>
          </a:lstStyle>
          <a:p>
            <a:fld id="{98F3EE46-22F2-40FF-849A-D81FB3452EE0}" type="slidenum">
              <a:rPr lang="en-US" smtClean="0"/>
              <a:pPr/>
              <a:t>‹#›</a:t>
            </a:fld>
            <a:endParaRPr lang="en-US"/>
          </a:p>
        </p:txBody>
      </p:sp>
    </p:spTree>
    <p:extLst>
      <p:ext uri="{BB962C8B-B14F-4D97-AF65-F5344CB8AC3E}">
        <p14:creationId xmlns:p14="http://schemas.microsoft.com/office/powerpoint/2010/main" val="378573892"/>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 id="2147484968" r:id="rId18"/>
    <p:sldLayoutId id="2147484969" r:id="rId19"/>
    <p:sldLayoutId id="2147484970" r:id="rId20"/>
    <p:sldLayoutId id="2147484971" r:id="rId21"/>
    <p:sldLayoutId id="2147484972" r:id="rId22"/>
    <p:sldLayoutId id="2147484973" r:id="rId23"/>
    <p:sldLayoutId id="2147484974" r:id="rId24"/>
    <p:sldLayoutId id="2147484975" r:id="rId25"/>
    <p:sldLayoutId id="2147484976" r:id="rId26"/>
  </p:sldLayoutIdLst>
  <p:txStyles>
    <p:titleStyle>
      <a:lvl1pPr algn="l" defTabSz="914400" rtl="0" eaLnBrk="1" latinLnBrk="0" hangingPunct="1">
        <a:lnSpc>
          <a:spcPct val="75000"/>
        </a:lnSpc>
        <a:spcBef>
          <a:spcPct val="0"/>
        </a:spcBef>
        <a:buNone/>
        <a:defRPr sz="6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41.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2E_77447B69.xml"/><Relationship Id="rId2" Type="http://schemas.openxmlformats.org/officeDocument/2006/relationships/notesSlide" Target="../notesSlides/notesSlide7.xml"/><Relationship Id="rId1" Type="http://schemas.openxmlformats.org/officeDocument/2006/relationships/slideLayout" Target="../slideLayouts/slideLayout19.xml"/><Relationship Id="rId5" Type="http://schemas.openxmlformats.org/officeDocument/2006/relationships/hyperlink" Target="https://searchengineland.com/guide/what-is-ai-seo" TargetMode="Externa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32_35CEEC96.xml"/><Relationship Id="rId7" Type="http://schemas.openxmlformats.org/officeDocument/2006/relationships/hyperlink" Target="https://seekingalpha.com/news/4529731-chatgpt-reaches-900m-weekly-active-users-but-gemini-adoption-continues-to-heat-up-report" TargetMode="External"/><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hyperlink" Target="https://www.cnbc.com/2026/02/20/openai-resets-spend-expectations-targets-around-600-billion-by-2030.html#:~:text=In%20addition%20to%20Nvidia%2C%20strategic,Squawk%20Box%20Europe" TargetMode="External"/><Relationship Id="rId5" Type="http://schemas.openxmlformats.org/officeDocument/2006/relationships/hyperlink" Target="https://www.semrush.com/blog/ai-search-seo-traffic-study/"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33_6605C01D.xml"/><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hyperlink" Target="https://firstpagesage.com/reports/top-generative-ai-chatbots/" TargetMode="Externa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42_DE5C9CF4.xml"/><Relationship Id="rId2" Type="http://schemas.openxmlformats.org/officeDocument/2006/relationships/notesSlide" Target="../notesSlides/notesSlide10.xml"/><Relationship Id="rId1" Type="http://schemas.openxmlformats.org/officeDocument/2006/relationships/slideLayout" Target="../slideLayouts/slideLayout19.xml"/><Relationship Id="rId5" Type="http://schemas.openxmlformats.org/officeDocument/2006/relationships/hyperlink" Target="https://archive.is/wuycm" TargetMode="Externa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hyperlink" Target="https://www.seerinteractive.com/insights/aio-impact-on-google-ctr-september-2025-update" TargetMode="External"/><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8" Type="http://schemas.openxmlformats.org/officeDocument/2006/relationships/hyperlink" Target="https://www.prnewswire.com/news-releases/takeups-the-rise-of-ai-planned-travel-in-2026-report-reveals-ai-is-reshaping-consumer-travel-but-with-room-for-growth-302660388.html" TargetMode="External"/><Relationship Id="rId3" Type="http://schemas.microsoft.com/office/2018/10/relationships/comments" Target="../comments/modernComment_7FFE590D_A7FBA23.xml"/><Relationship Id="rId7" Type="http://schemas.openxmlformats.org/officeDocument/2006/relationships/hyperlink" Target="https://www.digitalcommerce360.com/2025/10/15/generative-ai-traditional-search-b2b-vendor-discovery/" TargetMode="External"/><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hyperlink" Target="https://www.ap.org/news-highlights/spotlights/2025/how-us-adults-are-using-ai-according-to-ap-norc-polling/" TargetMode="External"/><Relationship Id="rId5" Type="http://schemas.openxmlformats.org/officeDocument/2006/relationships/hyperlink" Target="https://www.adobe.com/express/learn/blog/chatgpt-as-a-search-engine" TargetMode="External"/><Relationship Id="rId4" Type="http://schemas.openxmlformats.org/officeDocument/2006/relationships/hyperlink" Target="https://blog.adobe.com/en/publish/2025/03/17/adobe-analytics-traffic-to-us-retail-websites-from-generative-ai-sources-jumps-1200-percent" TargetMode="External"/><Relationship Id="rId9" Type="http://schemas.openxmlformats.org/officeDocument/2006/relationships/hyperlink" Target="https://muckrack.com/blog/how-journalists-feel-about-ai?utm_source=chatgpt.co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emarketer.com/content/b2b-tech-cmos-say-traditional-search-already-failing-them" TargetMode="External"/><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8" Type="http://schemas.openxmlformats.org/officeDocument/2006/relationships/image" Target="../media/image24.svg"/><Relationship Id="rId3" Type="http://schemas.microsoft.com/office/2018/10/relationships/comments" Target="../comments/modernComment_7FFE5916_FC3841E3.xml"/><Relationship Id="rId7"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hyperlink" Target="https://www.semrush.com/blog/ai-search-seo-traffic-study/" TargetMode="External"/><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hyperlink" Target="https://www.semrush.com/blog/content-optimization-ai-search-study/"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dage.com/opinion/aa-how-ai-has-collapsed-the-funnel-and-elevated-earned" TargetMode="External"/><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hyperlink" Target="https://www.hardnumbers.co.uk/research-reputation-in-the-age-of-ai"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hyperlink" Target="https://discoveredlabs.com/blog/reddit-as-an-aeo-signal-source-how-llms-pull-brand-mentions-to-drive-ai-citations" TargetMode="External"/><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7FFE5915_ECE4FD6B.xml"/><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hyperlink" Target="https://www.seerinteractive.com/insights/aio-impact-on-google-ctr-september-2025-updat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7FFE591C_F1894B9C.xml"/><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7FFE591E_ECADE9D3.xml"/><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8" Type="http://schemas.openxmlformats.org/officeDocument/2006/relationships/hyperlink" Target="mailto:ktebbutt@theshipyard.com" TargetMode="External"/><Relationship Id="rId3" Type="http://schemas.openxmlformats.org/officeDocument/2006/relationships/image" Target="../media/image39.jpeg"/><Relationship Id="rId7" Type="http://schemas.openxmlformats.org/officeDocument/2006/relationships/hyperlink" Target="mailto:mklebacha@theshipyard.com" TargetMode="External"/><Relationship Id="rId2" Type="http://schemas.openxmlformats.org/officeDocument/2006/relationships/notesSlide" Target="../notesSlides/notesSlide40.xml"/><Relationship Id="rId1" Type="http://schemas.openxmlformats.org/officeDocument/2006/relationships/slideLayout" Target="../slideLayouts/slideLayout19.xml"/><Relationship Id="rId6" Type="http://schemas.openxmlformats.org/officeDocument/2006/relationships/hyperlink" Target="mailto:scowan@theshipyard.com" TargetMode="External"/><Relationship Id="rId5" Type="http://schemas.openxmlformats.org/officeDocument/2006/relationships/image" Target="../media/image41.jpeg"/><Relationship Id="rId4" Type="http://schemas.openxmlformats.org/officeDocument/2006/relationships/image" Target="../media/image40.jpeg"/></Relationships>
</file>

<file path=ppt/slides/_rels/slide4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CA741-9DB8-0F35-6F25-7C6A26BFC825}"/>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A8788DAB-D1F2-5BE9-F415-5C924EDEBC8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B367E7DD-77FB-FDAA-6E54-B8AC065E82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864" y="5164667"/>
            <a:ext cx="5285591" cy="1290789"/>
          </a:xfrm>
          <a:prstGeom prst="rect">
            <a:avLst/>
          </a:prstGeom>
        </p:spPr>
      </p:pic>
      <p:sp>
        <p:nvSpPr>
          <p:cNvPr id="5" name="TextBox 4">
            <a:extLst>
              <a:ext uri="{FF2B5EF4-FFF2-40B4-BE49-F238E27FC236}">
                <a16:creationId xmlns:a16="http://schemas.microsoft.com/office/drawing/2014/main" id="{62748A17-A324-6234-B278-8308DAFF60CF}"/>
              </a:ext>
            </a:extLst>
          </p:cNvPr>
          <p:cNvSpPr txBox="1"/>
          <p:nvPr/>
        </p:nvSpPr>
        <p:spPr>
          <a:xfrm>
            <a:off x="-1061884" y="4011561"/>
            <a:ext cx="0" cy="0"/>
          </a:xfrm>
          <a:prstGeom prst="rect">
            <a:avLst/>
          </a:prstGeom>
          <a:noFill/>
        </p:spPr>
        <p:txBody>
          <a:bodyPr wrap="none" rtlCol="0">
            <a:noAutofit/>
          </a:bodyPr>
          <a:lstStyle/>
          <a:p>
            <a:pPr marL="171450" indent="-171450" algn="l">
              <a:buFont typeface="Arial" panose="020B0604020202020204" pitchFamily="34" charset="0"/>
              <a:buChar char="•"/>
            </a:pPr>
            <a:endParaRPr lang="en-US" err="1">
              <a:solidFill>
                <a:schemeClr val="accent1"/>
              </a:solidFill>
            </a:endParaRPr>
          </a:p>
        </p:txBody>
      </p:sp>
      <p:sp>
        <p:nvSpPr>
          <p:cNvPr id="13" name="Subtitle 1">
            <a:extLst>
              <a:ext uri="{FF2B5EF4-FFF2-40B4-BE49-F238E27FC236}">
                <a16:creationId xmlns:a16="http://schemas.microsoft.com/office/drawing/2014/main" id="{2864B99B-83DE-75FB-A9E2-B48C0CCCB865}"/>
              </a:ext>
            </a:extLst>
          </p:cNvPr>
          <p:cNvSpPr txBox="1">
            <a:spLocks/>
          </p:cNvSpPr>
          <p:nvPr/>
        </p:nvSpPr>
        <p:spPr>
          <a:xfrm>
            <a:off x="8890019" y="340585"/>
            <a:ext cx="3006417" cy="365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a:solidFill>
                  <a:schemeClr val="bg1"/>
                </a:solidFill>
              </a:rPr>
              <a:t>FEBRUARY 2026</a:t>
            </a:r>
          </a:p>
        </p:txBody>
      </p:sp>
      <p:sp>
        <p:nvSpPr>
          <p:cNvPr id="14" name="Title 2">
            <a:extLst>
              <a:ext uri="{FF2B5EF4-FFF2-40B4-BE49-F238E27FC236}">
                <a16:creationId xmlns:a16="http://schemas.microsoft.com/office/drawing/2014/main" id="{97F1BDC3-940C-3AB9-5E74-4DE635D83BDD}"/>
              </a:ext>
            </a:extLst>
          </p:cNvPr>
          <p:cNvSpPr txBox="1">
            <a:spLocks/>
          </p:cNvSpPr>
          <p:nvPr/>
        </p:nvSpPr>
        <p:spPr>
          <a:xfrm>
            <a:off x="159386" y="813818"/>
            <a:ext cx="4121670" cy="2261892"/>
          </a:xfrm>
          <a:prstGeom prst="rect">
            <a:avLst/>
          </a:prstGeom>
        </p:spPr>
        <p:txBody>
          <a:bodyPr/>
          <a:lstStyle>
            <a:lvl1pPr algn="l" defTabSz="914400" rtl="0" eaLnBrk="1" latinLnBrk="0" hangingPunct="1">
              <a:lnSpc>
                <a:spcPct val="75000"/>
              </a:lnSpc>
              <a:spcBef>
                <a:spcPct val="0"/>
              </a:spcBef>
              <a:buNone/>
              <a:defRPr sz="6600" kern="1200">
                <a:solidFill>
                  <a:schemeClr val="tx1"/>
                </a:solidFill>
                <a:latin typeface="+mj-lt"/>
                <a:ea typeface="+mj-ea"/>
                <a:cs typeface="+mj-cs"/>
              </a:defRPr>
            </a:lvl1pPr>
          </a:lstStyle>
          <a:p>
            <a:r>
              <a:rPr lang="en-US" sz="5400">
                <a:solidFill>
                  <a:schemeClr val="bg1"/>
                </a:solidFill>
              </a:rPr>
              <a:t>HOW AI IS RESHAPING SEARCH STRATEGY</a:t>
            </a:r>
          </a:p>
        </p:txBody>
      </p:sp>
      <p:sp>
        <p:nvSpPr>
          <p:cNvPr id="15" name="Text Placeholder 3">
            <a:extLst>
              <a:ext uri="{FF2B5EF4-FFF2-40B4-BE49-F238E27FC236}">
                <a16:creationId xmlns:a16="http://schemas.microsoft.com/office/drawing/2014/main" id="{08E0B1DD-B77A-91DE-27E1-B455D64ED2E6}"/>
              </a:ext>
            </a:extLst>
          </p:cNvPr>
          <p:cNvSpPr txBox="1">
            <a:spLocks/>
          </p:cNvSpPr>
          <p:nvPr/>
        </p:nvSpPr>
        <p:spPr>
          <a:xfrm>
            <a:off x="195962" y="340585"/>
            <a:ext cx="6573838" cy="496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bg1"/>
                </a:solidFill>
              </a:rPr>
              <a:t>GEO</a:t>
            </a:r>
          </a:p>
        </p:txBody>
      </p:sp>
      <p:pic>
        <p:nvPicPr>
          <p:cNvPr id="4" name="Picture 3">
            <a:extLst>
              <a:ext uri="{FF2B5EF4-FFF2-40B4-BE49-F238E27FC236}">
                <a16:creationId xmlns:a16="http://schemas.microsoft.com/office/drawing/2014/main" id="{4801F446-8D38-0F69-058B-E6DA2B470F6E}"/>
              </a:ext>
            </a:extLst>
          </p:cNvPr>
          <p:cNvPicPr>
            <a:picLocks noChangeAspect="1"/>
          </p:cNvPicPr>
          <p:nvPr/>
        </p:nvPicPr>
        <p:blipFill>
          <a:blip r:embed="rId4"/>
          <a:stretch>
            <a:fillRect/>
          </a:stretch>
        </p:blipFill>
        <p:spPr>
          <a:xfrm>
            <a:off x="9817947" y="4473956"/>
            <a:ext cx="2041144" cy="2041144"/>
          </a:xfrm>
          <a:prstGeom prst="rect">
            <a:avLst/>
          </a:prstGeom>
        </p:spPr>
      </p:pic>
    </p:spTree>
    <p:extLst>
      <p:ext uri="{BB962C8B-B14F-4D97-AF65-F5344CB8AC3E}">
        <p14:creationId xmlns:p14="http://schemas.microsoft.com/office/powerpoint/2010/main" val="284700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2">
            <a:extLst>
              <a:ext uri="{FF2B5EF4-FFF2-40B4-BE49-F238E27FC236}">
                <a16:creationId xmlns:a16="http://schemas.microsoft.com/office/drawing/2014/main" id="{AE9CA0F0-E0E3-F36F-7149-36282D1BB954}"/>
              </a:ext>
            </a:extLst>
          </p:cNvPr>
          <p:cNvSpPr/>
          <p:nvPr/>
        </p:nvSpPr>
        <p:spPr>
          <a:xfrm>
            <a:off x="328247" y="5729361"/>
            <a:ext cx="1341120" cy="853440"/>
          </a:xfrm>
          <a:prstGeom prst="rect">
            <a:avLst/>
          </a:prstGeom>
          <a:solidFill>
            <a:srgbClr val="3B75E7"/>
          </a:solidFill>
          <a:ln/>
        </p:spPr>
        <p:txBody>
          <a:bodyPr/>
          <a:lstStyle/>
          <a:p>
            <a:endParaRPr lang="en-US" sz="2400"/>
          </a:p>
        </p:txBody>
      </p:sp>
      <p:sp>
        <p:nvSpPr>
          <p:cNvPr id="24" name="Shape 2">
            <a:extLst>
              <a:ext uri="{FF2B5EF4-FFF2-40B4-BE49-F238E27FC236}">
                <a16:creationId xmlns:a16="http://schemas.microsoft.com/office/drawing/2014/main" id="{A4D387DC-17D8-1F1A-8E8E-E35FC5AEC6BF}"/>
              </a:ext>
            </a:extLst>
          </p:cNvPr>
          <p:cNvSpPr/>
          <p:nvPr/>
        </p:nvSpPr>
        <p:spPr>
          <a:xfrm>
            <a:off x="342900" y="4672137"/>
            <a:ext cx="1341120" cy="853440"/>
          </a:xfrm>
          <a:prstGeom prst="rect">
            <a:avLst/>
          </a:prstGeom>
          <a:solidFill>
            <a:srgbClr val="3B75E7"/>
          </a:solidFill>
          <a:ln/>
        </p:spPr>
        <p:txBody>
          <a:bodyPr/>
          <a:lstStyle/>
          <a:p>
            <a:endParaRPr lang="en-US" sz="2400"/>
          </a:p>
        </p:txBody>
      </p:sp>
      <p:sp>
        <p:nvSpPr>
          <p:cNvPr id="23" name="Shape 2">
            <a:extLst>
              <a:ext uri="{FF2B5EF4-FFF2-40B4-BE49-F238E27FC236}">
                <a16:creationId xmlns:a16="http://schemas.microsoft.com/office/drawing/2014/main" id="{7506AE3F-FA04-1D7A-8889-3362CB97DAC1}"/>
              </a:ext>
            </a:extLst>
          </p:cNvPr>
          <p:cNvSpPr/>
          <p:nvPr/>
        </p:nvSpPr>
        <p:spPr>
          <a:xfrm>
            <a:off x="342900" y="3577131"/>
            <a:ext cx="1341120" cy="853440"/>
          </a:xfrm>
          <a:prstGeom prst="rect">
            <a:avLst/>
          </a:prstGeom>
          <a:solidFill>
            <a:srgbClr val="3B75E7"/>
          </a:solidFill>
          <a:ln/>
        </p:spPr>
        <p:txBody>
          <a:bodyPr/>
          <a:lstStyle/>
          <a:p>
            <a:endParaRPr lang="en-US" sz="2400"/>
          </a:p>
        </p:txBody>
      </p:sp>
      <p:sp>
        <p:nvSpPr>
          <p:cNvPr id="4" name="Shape 2"/>
          <p:cNvSpPr/>
          <p:nvPr/>
        </p:nvSpPr>
        <p:spPr>
          <a:xfrm>
            <a:off x="328247" y="2437521"/>
            <a:ext cx="1341120" cy="853440"/>
          </a:xfrm>
          <a:prstGeom prst="rect">
            <a:avLst/>
          </a:prstGeom>
          <a:solidFill>
            <a:srgbClr val="3B75E7"/>
          </a:solidFill>
          <a:ln/>
        </p:spPr>
        <p:txBody>
          <a:bodyPr/>
          <a:lstStyle/>
          <a:p>
            <a:endParaRPr lang="en-US" sz="2400"/>
          </a:p>
        </p:txBody>
      </p:sp>
      <p:sp>
        <p:nvSpPr>
          <p:cNvPr id="5" name="Text 3"/>
          <p:cNvSpPr/>
          <p:nvPr/>
        </p:nvSpPr>
        <p:spPr>
          <a:xfrm>
            <a:off x="328247" y="2437521"/>
            <a:ext cx="1341120" cy="853440"/>
          </a:xfrm>
          <a:prstGeom prst="rect">
            <a:avLst/>
          </a:prstGeom>
          <a:noFill/>
          <a:ln/>
        </p:spPr>
        <p:txBody>
          <a:bodyPr wrap="square" rtlCol="0" anchor="ctr"/>
          <a:lstStyle/>
          <a:p>
            <a:pPr algn="ctr"/>
            <a:r>
              <a:rPr lang="en-US" sz="1867" b="1">
                <a:solidFill>
                  <a:schemeClr val="bg1"/>
                </a:solidFill>
                <a:latin typeface="+mj-lt"/>
                <a:ea typeface="Arial" pitchFamily="34" charset="-122"/>
                <a:cs typeface="Arial" pitchFamily="34" charset="-120"/>
              </a:rPr>
              <a:t>15 min</a:t>
            </a:r>
            <a:endParaRPr lang="en-US" sz="1867">
              <a:solidFill>
                <a:schemeClr val="bg1"/>
              </a:solidFill>
              <a:latin typeface="+mj-lt"/>
            </a:endParaRPr>
          </a:p>
        </p:txBody>
      </p:sp>
      <p:sp>
        <p:nvSpPr>
          <p:cNvPr id="6" name="Text 4"/>
          <p:cNvSpPr/>
          <p:nvPr/>
        </p:nvSpPr>
        <p:spPr>
          <a:xfrm>
            <a:off x="1913207" y="2479851"/>
            <a:ext cx="4568616" cy="426720"/>
          </a:xfrm>
          <a:prstGeom prst="rect">
            <a:avLst/>
          </a:prstGeom>
          <a:noFill/>
          <a:ln/>
        </p:spPr>
        <p:txBody>
          <a:bodyPr wrap="square" lIns="0" tIns="0" rIns="0" bIns="0" rtlCol="0" anchor="ctr"/>
          <a:lstStyle/>
          <a:p>
            <a:r>
              <a:rPr lang="en-US" sz="2400" b="1">
                <a:solidFill>
                  <a:schemeClr val="tx2"/>
                </a:solidFill>
                <a:ea typeface="Arial" pitchFamily="34" charset="-122"/>
                <a:cs typeface="Arial" pitchFamily="34" charset="-120"/>
              </a:rPr>
              <a:t>The Landscape</a:t>
            </a:r>
            <a:endParaRPr lang="en-US" sz="2400">
              <a:solidFill>
                <a:schemeClr val="tx2"/>
              </a:solidFill>
            </a:endParaRPr>
          </a:p>
        </p:txBody>
      </p:sp>
      <p:sp>
        <p:nvSpPr>
          <p:cNvPr id="7" name="Text 5"/>
          <p:cNvSpPr/>
          <p:nvPr/>
        </p:nvSpPr>
        <p:spPr>
          <a:xfrm>
            <a:off x="1913208" y="2835103"/>
            <a:ext cx="3758388" cy="426720"/>
          </a:xfrm>
          <a:prstGeom prst="rect">
            <a:avLst/>
          </a:prstGeom>
          <a:noFill/>
          <a:ln/>
        </p:spPr>
        <p:txBody>
          <a:bodyPr wrap="square" lIns="0" tIns="0" rIns="0" bIns="0" rtlCol="0" anchor="ctr"/>
          <a:lstStyle/>
          <a:p>
            <a:r>
              <a:rPr lang="en-US" sz="1400">
                <a:ea typeface="Arial" pitchFamily="34" charset="-122"/>
                <a:cs typeface="Arial" pitchFamily="34" charset="-120"/>
              </a:rPr>
              <a:t>Why this AI evolution matters for our industry and clients specific to search</a:t>
            </a:r>
            <a:endParaRPr lang="en-US" sz="1400"/>
          </a:p>
        </p:txBody>
      </p:sp>
      <p:sp>
        <p:nvSpPr>
          <p:cNvPr id="9" name="Text 7"/>
          <p:cNvSpPr/>
          <p:nvPr/>
        </p:nvSpPr>
        <p:spPr>
          <a:xfrm>
            <a:off x="328247" y="3534801"/>
            <a:ext cx="1341120" cy="853440"/>
          </a:xfrm>
          <a:prstGeom prst="rect">
            <a:avLst/>
          </a:prstGeom>
          <a:noFill/>
          <a:ln/>
        </p:spPr>
        <p:txBody>
          <a:bodyPr wrap="square" rtlCol="0" anchor="ctr"/>
          <a:lstStyle/>
          <a:p>
            <a:pPr algn="ctr"/>
            <a:r>
              <a:rPr lang="en-US" sz="1867" b="1">
                <a:solidFill>
                  <a:schemeClr val="bg1"/>
                </a:solidFill>
                <a:latin typeface="+mj-lt"/>
                <a:ea typeface="Arial" pitchFamily="34" charset="-122"/>
                <a:cs typeface="Arial" pitchFamily="34" charset="-120"/>
              </a:rPr>
              <a:t>10 min</a:t>
            </a:r>
            <a:endParaRPr lang="en-US" sz="1867">
              <a:solidFill>
                <a:schemeClr val="bg1"/>
              </a:solidFill>
              <a:latin typeface="+mj-lt"/>
            </a:endParaRPr>
          </a:p>
        </p:txBody>
      </p:sp>
      <p:sp>
        <p:nvSpPr>
          <p:cNvPr id="10" name="Text 8"/>
          <p:cNvSpPr/>
          <p:nvPr/>
        </p:nvSpPr>
        <p:spPr>
          <a:xfrm>
            <a:off x="1913207" y="3577131"/>
            <a:ext cx="4360271" cy="426720"/>
          </a:xfrm>
          <a:prstGeom prst="rect">
            <a:avLst/>
          </a:prstGeom>
          <a:noFill/>
          <a:ln/>
        </p:spPr>
        <p:txBody>
          <a:bodyPr wrap="square" lIns="0" tIns="0" rIns="0" bIns="0" rtlCol="0" anchor="ctr"/>
          <a:lstStyle/>
          <a:p>
            <a:r>
              <a:rPr lang="en-US" sz="2400" b="1">
                <a:solidFill>
                  <a:schemeClr val="tx2"/>
                </a:solidFill>
                <a:ea typeface="Arial" pitchFamily="34" charset="-122"/>
                <a:cs typeface="Arial" pitchFamily="34" charset="-120"/>
              </a:rPr>
              <a:t>The Shipyard’s Approach</a:t>
            </a:r>
            <a:endParaRPr lang="en-US" sz="2400">
              <a:solidFill>
                <a:schemeClr val="tx2"/>
              </a:solidFill>
            </a:endParaRPr>
          </a:p>
        </p:txBody>
      </p:sp>
      <p:sp>
        <p:nvSpPr>
          <p:cNvPr id="11" name="Text 9"/>
          <p:cNvSpPr/>
          <p:nvPr/>
        </p:nvSpPr>
        <p:spPr>
          <a:xfrm>
            <a:off x="1913207" y="3923418"/>
            <a:ext cx="9144000" cy="426720"/>
          </a:xfrm>
          <a:prstGeom prst="rect">
            <a:avLst/>
          </a:prstGeom>
          <a:noFill/>
          <a:ln/>
        </p:spPr>
        <p:txBody>
          <a:bodyPr wrap="square" lIns="0" tIns="0" rIns="0" bIns="0" rtlCol="0" anchor="ctr"/>
          <a:lstStyle/>
          <a:p>
            <a:r>
              <a:rPr lang="en-US" sz="1400">
                <a:ea typeface="Arial" pitchFamily="34" charset="-122"/>
                <a:cs typeface="Arial" pitchFamily="34" charset="-120"/>
              </a:rPr>
              <a:t>Key insights and how we view GEO/AIO to date</a:t>
            </a:r>
            <a:endParaRPr lang="en-US" sz="1400"/>
          </a:p>
        </p:txBody>
      </p:sp>
      <p:sp>
        <p:nvSpPr>
          <p:cNvPr id="13" name="Text 11"/>
          <p:cNvSpPr/>
          <p:nvPr/>
        </p:nvSpPr>
        <p:spPr>
          <a:xfrm>
            <a:off x="328247" y="4632081"/>
            <a:ext cx="1341120" cy="853440"/>
          </a:xfrm>
          <a:prstGeom prst="rect">
            <a:avLst/>
          </a:prstGeom>
          <a:noFill/>
          <a:ln/>
        </p:spPr>
        <p:txBody>
          <a:bodyPr wrap="square" rtlCol="0" anchor="ctr"/>
          <a:lstStyle/>
          <a:p>
            <a:pPr algn="ctr"/>
            <a:r>
              <a:rPr lang="en-US" sz="1867" b="1">
                <a:solidFill>
                  <a:schemeClr val="bg1"/>
                </a:solidFill>
                <a:latin typeface="+mj-lt"/>
                <a:ea typeface="Arial" pitchFamily="34" charset="-122"/>
                <a:cs typeface="Arial" pitchFamily="34" charset="-120"/>
              </a:rPr>
              <a:t>15 min</a:t>
            </a:r>
            <a:endParaRPr lang="en-US" sz="1867">
              <a:solidFill>
                <a:schemeClr val="bg1"/>
              </a:solidFill>
              <a:latin typeface="+mj-lt"/>
            </a:endParaRPr>
          </a:p>
        </p:txBody>
      </p:sp>
      <p:sp>
        <p:nvSpPr>
          <p:cNvPr id="14" name="Text 12"/>
          <p:cNvSpPr/>
          <p:nvPr/>
        </p:nvSpPr>
        <p:spPr>
          <a:xfrm>
            <a:off x="1913207" y="4674411"/>
            <a:ext cx="4082479" cy="426720"/>
          </a:xfrm>
          <a:prstGeom prst="rect">
            <a:avLst/>
          </a:prstGeom>
          <a:noFill/>
          <a:ln/>
        </p:spPr>
        <p:txBody>
          <a:bodyPr wrap="square" lIns="0" tIns="0" rIns="0" bIns="0" rtlCol="0" anchor="ctr"/>
          <a:lstStyle/>
          <a:p>
            <a:r>
              <a:rPr lang="en-US" sz="2400" b="1">
                <a:solidFill>
                  <a:schemeClr val="tx2"/>
                </a:solidFill>
                <a:ea typeface="Arial" pitchFamily="34" charset="-122"/>
                <a:cs typeface="Arial" pitchFamily="34" charset="-120"/>
              </a:rPr>
              <a:t>Putting It Into Practice</a:t>
            </a:r>
            <a:endParaRPr lang="en-US" sz="2400">
              <a:solidFill>
                <a:schemeClr val="tx2"/>
              </a:solidFill>
            </a:endParaRPr>
          </a:p>
        </p:txBody>
      </p:sp>
      <p:sp>
        <p:nvSpPr>
          <p:cNvPr id="15" name="Text 13"/>
          <p:cNvSpPr/>
          <p:nvPr/>
        </p:nvSpPr>
        <p:spPr>
          <a:xfrm>
            <a:off x="1913207" y="5020698"/>
            <a:ext cx="9144000" cy="426720"/>
          </a:xfrm>
          <a:prstGeom prst="rect">
            <a:avLst/>
          </a:prstGeom>
          <a:noFill/>
          <a:ln/>
        </p:spPr>
        <p:txBody>
          <a:bodyPr wrap="square" lIns="0" tIns="0" rIns="0" bIns="0" rtlCol="0" anchor="ctr"/>
          <a:lstStyle/>
          <a:p>
            <a:r>
              <a:rPr lang="en-US" sz="1400">
                <a:ea typeface="Arial" pitchFamily="34" charset="-122"/>
                <a:cs typeface="Arial" pitchFamily="34" charset="-120"/>
              </a:rPr>
              <a:t>Tools, audit capabilities, and client case study</a:t>
            </a:r>
            <a:endParaRPr lang="en-US" sz="1400"/>
          </a:p>
        </p:txBody>
      </p:sp>
      <p:sp>
        <p:nvSpPr>
          <p:cNvPr id="17" name="Text 15"/>
          <p:cNvSpPr/>
          <p:nvPr/>
        </p:nvSpPr>
        <p:spPr>
          <a:xfrm>
            <a:off x="328247" y="5729361"/>
            <a:ext cx="1341120" cy="853440"/>
          </a:xfrm>
          <a:prstGeom prst="rect">
            <a:avLst/>
          </a:prstGeom>
          <a:noFill/>
          <a:ln/>
        </p:spPr>
        <p:txBody>
          <a:bodyPr wrap="square" rtlCol="0" anchor="ctr"/>
          <a:lstStyle/>
          <a:p>
            <a:pPr algn="ctr"/>
            <a:r>
              <a:rPr lang="en-US" sz="1867" b="1">
                <a:solidFill>
                  <a:schemeClr val="bg1"/>
                </a:solidFill>
                <a:latin typeface="+mj-lt"/>
                <a:ea typeface="Arial" pitchFamily="34" charset="-122"/>
                <a:cs typeface="Arial" pitchFamily="34" charset="-120"/>
              </a:rPr>
              <a:t>20 min</a:t>
            </a:r>
            <a:endParaRPr lang="en-US" sz="1867">
              <a:solidFill>
                <a:schemeClr val="bg1"/>
              </a:solidFill>
              <a:latin typeface="+mj-lt"/>
            </a:endParaRPr>
          </a:p>
        </p:txBody>
      </p:sp>
      <p:sp>
        <p:nvSpPr>
          <p:cNvPr id="18" name="Text 16"/>
          <p:cNvSpPr/>
          <p:nvPr/>
        </p:nvSpPr>
        <p:spPr>
          <a:xfrm>
            <a:off x="1913207" y="5771691"/>
            <a:ext cx="3758388" cy="426720"/>
          </a:xfrm>
          <a:prstGeom prst="rect">
            <a:avLst/>
          </a:prstGeom>
          <a:noFill/>
          <a:ln/>
        </p:spPr>
        <p:txBody>
          <a:bodyPr wrap="square" lIns="0" tIns="0" rIns="0" bIns="0" rtlCol="0" anchor="ctr"/>
          <a:lstStyle/>
          <a:p>
            <a:r>
              <a:rPr lang="en-US" sz="2400" b="1">
                <a:solidFill>
                  <a:schemeClr val="tx2"/>
                </a:solidFill>
                <a:ea typeface="Arial" pitchFamily="34" charset="-122"/>
                <a:cs typeface="Arial" pitchFamily="34" charset="-120"/>
              </a:rPr>
              <a:t>Next Steps</a:t>
            </a:r>
            <a:endParaRPr lang="en-US" sz="2400">
              <a:solidFill>
                <a:schemeClr val="tx2"/>
              </a:solidFill>
            </a:endParaRPr>
          </a:p>
        </p:txBody>
      </p:sp>
      <p:sp>
        <p:nvSpPr>
          <p:cNvPr id="19" name="Text 17"/>
          <p:cNvSpPr/>
          <p:nvPr/>
        </p:nvSpPr>
        <p:spPr>
          <a:xfrm>
            <a:off x="1913207" y="6117978"/>
            <a:ext cx="9144000" cy="426720"/>
          </a:xfrm>
          <a:prstGeom prst="rect">
            <a:avLst/>
          </a:prstGeom>
          <a:noFill/>
          <a:ln/>
        </p:spPr>
        <p:txBody>
          <a:bodyPr wrap="square" lIns="0" tIns="0" rIns="0" bIns="0" rtlCol="0" anchor="ctr"/>
          <a:lstStyle/>
          <a:p>
            <a:r>
              <a:rPr lang="en-US" sz="1400">
                <a:ea typeface="Arial" pitchFamily="34" charset="-122"/>
                <a:cs typeface="Arial" pitchFamily="34" charset="-120"/>
              </a:rPr>
              <a:t>Client opportunities and how to engage</a:t>
            </a:r>
            <a:endParaRPr lang="en-US" sz="1400"/>
          </a:p>
        </p:txBody>
      </p:sp>
      <p:sp>
        <p:nvSpPr>
          <p:cNvPr id="20" name="Title 19">
            <a:extLst>
              <a:ext uri="{FF2B5EF4-FFF2-40B4-BE49-F238E27FC236}">
                <a16:creationId xmlns:a16="http://schemas.microsoft.com/office/drawing/2014/main" id="{9C99B2F2-CAE7-DCA5-1C5B-38555C025B86}"/>
              </a:ext>
            </a:extLst>
          </p:cNvPr>
          <p:cNvSpPr>
            <a:spLocks noGrp="1"/>
          </p:cNvSpPr>
          <p:nvPr>
            <p:ph type="title"/>
          </p:nvPr>
        </p:nvSpPr>
        <p:spPr/>
        <p:txBody>
          <a:bodyPr/>
          <a:lstStyle/>
          <a:p>
            <a:r>
              <a:rPr lang="en-US" sz="7200"/>
              <a:t>SESSION AGENDA</a:t>
            </a:r>
          </a:p>
        </p:txBody>
      </p:sp>
      <p:sp>
        <p:nvSpPr>
          <p:cNvPr id="22" name="Text Placeholder 21">
            <a:extLst>
              <a:ext uri="{FF2B5EF4-FFF2-40B4-BE49-F238E27FC236}">
                <a16:creationId xmlns:a16="http://schemas.microsoft.com/office/drawing/2014/main" id="{3281B568-2F04-787A-5D91-B4A4B9D9A483}"/>
              </a:ext>
            </a:extLst>
          </p:cNvPr>
          <p:cNvSpPr>
            <a:spLocks noGrp="1"/>
          </p:cNvSpPr>
          <p:nvPr>
            <p:ph type="body" sz="quarter" idx="15"/>
          </p:nvPr>
        </p:nvSpPr>
        <p:spPr/>
        <p:txBody>
          <a:bodyPr/>
          <a:lstStyle/>
          <a:p>
            <a:r>
              <a:rPr lang="en-US"/>
              <a:t>How AI Is Reshaping Search Strategy | 60 Minutes</a:t>
            </a:r>
          </a:p>
        </p:txBody>
      </p:sp>
      <p:sp>
        <p:nvSpPr>
          <p:cNvPr id="2" name="Slide Number Placeholder 1">
            <a:extLst>
              <a:ext uri="{FF2B5EF4-FFF2-40B4-BE49-F238E27FC236}">
                <a16:creationId xmlns:a16="http://schemas.microsoft.com/office/drawing/2014/main" id="{3217D2C7-A575-70F7-D518-B4F3A8E29CDE}"/>
              </a:ext>
            </a:extLst>
          </p:cNvPr>
          <p:cNvSpPr>
            <a:spLocks noGrp="1"/>
          </p:cNvSpPr>
          <p:nvPr>
            <p:ph type="sldNum" sz="quarter" idx="12"/>
          </p:nvPr>
        </p:nvSpPr>
        <p:spPr/>
        <p:txBody>
          <a:bodyPr/>
          <a:lstStyle/>
          <a:p>
            <a:fld id="{98F3EE46-22F2-40FF-849A-D81FB3452EE0}" type="slidenum">
              <a:rPr lang="en-US" smtClean="0"/>
              <a:t>2</a:t>
            </a:fld>
            <a:endParaRPr lang="en-US"/>
          </a:p>
        </p:txBody>
      </p:sp>
      <p:sp>
        <p:nvSpPr>
          <p:cNvPr id="3" name="Rectangle 2">
            <a:extLst>
              <a:ext uri="{FF2B5EF4-FFF2-40B4-BE49-F238E27FC236}">
                <a16:creationId xmlns:a16="http://schemas.microsoft.com/office/drawing/2014/main" id="{05E802B2-0B8E-C599-1FE1-987CB5DD0C07}"/>
              </a:ext>
            </a:extLst>
          </p:cNvPr>
          <p:cNvSpPr/>
          <p:nvPr/>
        </p:nvSpPr>
        <p:spPr>
          <a:xfrm>
            <a:off x="6980769" y="2387506"/>
            <a:ext cx="4868331" cy="30672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4">
            <a:extLst>
              <a:ext uri="{FF2B5EF4-FFF2-40B4-BE49-F238E27FC236}">
                <a16:creationId xmlns:a16="http://schemas.microsoft.com/office/drawing/2014/main" id="{505184DA-27C8-3CC6-D14E-99838B414B46}"/>
              </a:ext>
            </a:extLst>
          </p:cNvPr>
          <p:cNvSpPr txBox="1">
            <a:spLocks/>
          </p:cNvSpPr>
          <p:nvPr/>
        </p:nvSpPr>
        <p:spPr>
          <a:xfrm>
            <a:off x="7200477" y="2654357"/>
            <a:ext cx="4266998" cy="2549283"/>
          </a:xfrm>
          <a:prstGeom prst="rect">
            <a:avLst/>
          </a:prstGeom>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800"/>
              </a:spcAft>
              <a:buNone/>
            </a:pPr>
            <a:r>
              <a:rPr lang="en-US" b="1">
                <a:solidFill>
                  <a:schemeClr val="bg1"/>
                </a:solidFill>
              </a:rPr>
              <a:t>AI Topics not covered:</a:t>
            </a:r>
          </a:p>
          <a:p>
            <a:pPr>
              <a:lnSpc>
                <a:spcPct val="100000"/>
              </a:lnSpc>
              <a:spcBef>
                <a:spcPts val="0"/>
              </a:spcBef>
              <a:spcAft>
                <a:spcPts val="1800"/>
              </a:spcAft>
            </a:pPr>
            <a:r>
              <a:rPr lang="en-US">
                <a:solidFill>
                  <a:schemeClr val="bg1"/>
                </a:solidFill>
              </a:rPr>
              <a:t>Gen-AI content creation of content, imagery and video</a:t>
            </a:r>
          </a:p>
          <a:p>
            <a:pPr>
              <a:lnSpc>
                <a:spcPct val="100000"/>
              </a:lnSpc>
              <a:spcBef>
                <a:spcPts val="0"/>
              </a:spcBef>
              <a:spcAft>
                <a:spcPts val="1800"/>
              </a:spcAft>
            </a:pPr>
            <a:r>
              <a:rPr lang="en-US">
                <a:solidFill>
                  <a:schemeClr val="bg1"/>
                </a:solidFill>
              </a:rPr>
              <a:t>Accuracy and validity of AI</a:t>
            </a:r>
          </a:p>
          <a:p>
            <a:pPr>
              <a:lnSpc>
                <a:spcPct val="100000"/>
              </a:lnSpc>
              <a:spcBef>
                <a:spcPts val="0"/>
              </a:spcBef>
              <a:spcAft>
                <a:spcPts val="1800"/>
              </a:spcAft>
            </a:pPr>
            <a:r>
              <a:rPr lang="en-US">
                <a:solidFill>
                  <a:schemeClr val="bg1"/>
                </a:solidFill>
              </a:rPr>
              <a:t>Ethical questions (copyright, misinformation,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342900" y="2389293"/>
            <a:ext cx="668867" cy="668867"/>
          </a:xfrm>
          <a:prstGeom prst="ellipse">
            <a:avLst/>
          </a:prstGeom>
          <a:solidFill>
            <a:schemeClr val="accent1"/>
          </a:solidFill>
          <a:ln/>
        </p:spPr>
        <p:txBody>
          <a:bodyPr wrap="square" rtlCol="0" anchor="ctr"/>
          <a:lstStyle/>
          <a:p>
            <a:pPr algn="ctr"/>
            <a:r>
              <a:rPr lang="en-US" sz="2400" b="1">
                <a:solidFill>
                  <a:srgbClr val="FFFFFF"/>
                </a:solidFill>
                <a:latin typeface="Arial" pitchFamily="34" charset="0"/>
                <a:ea typeface="Arial" pitchFamily="34" charset="-122"/>
                <a:cs typeface="Arial" pitchFamily="34" charset="-120"/>
              </a:rPr>
              <a:t>1</a:t>
            </a:r>
            <a:endParaRPr lang="en-US" sz="2400"/>
          </a:p>
        </p:txBody>
      </p:sp>
      <p:sp>
        <p:nvSpPr>
          <p:cNvPr id="9" name="Text 7"/>
          <p:cNvSpPr/>
          <p:nvPr/>
        </p:nvSpPr>
        <p:spPr>
          <a:xfrm>
            <a:off x="342900" y="3579705"/>
            <a:ext cx="668867" cy="668867"/>
          </a:xfrm>
          <a:prstGeom prst="ellipse">
            <a:avLst/>
          </a:prstGeom>
          <a:solidFill>
            <a:schemeClr val="accent1"/>
          </a:solidFill>
          <a:ln/>
        </p:spPr>
        <p:txBody>
          <a:bodyPr wrap="square" rtlCol="0" anchor="ctr"/>
          <a:lstStyle/>
          <a:p>
            <a:pPr algn="ctr"/>
            <a:r>
              <a:rPr lang="en-US" sz="2400" b="1">
                <a:solidFill>
                  <a:srgbClr val="FFFFFF"/>
                </a:solidFill>
                <a:latin typeface="Arial" pitchFamily="34" charset="0"/>
                <a:ea typeface="Arial" pitchFamily="34" charset="-122"/>
                <a:cs typeface="Arial" pitchFamily="34" charset="-120"/>
              </a:rPr>
              <a:t>2</a:t>
            </a:r>
            <a:endParaRPr lang="en-US" sz="2400"/>
          </a:p>
        </p:txBody>
      </p:sp>
      <p:sp>
        <p:nvSpPr>
          <p:cNvPr id="12" name="Text 10"/>
          <p:cNvSpPr/>
          <p:nvPr/>
        </p:nvSpPr>
        <p:spPr>
          <a:xfrm>
            <a:off x="342900" y="4722705"/>
            <a:ext cx="668867" cy="668867"/>
          </a:xfrm>
          <a:prstGeom prst="ellipse">
            <a:avLst/>
          </a:prstGeom>
          <a:solidFill>
            <a:schemeClr val="accent1"/>
          </a:solidFill>
          <a:ln/>
        </p:spPr>
        <p:txBody>
          <a:bodyPr wrap="square" rtlCol="0" anchor="ctr"/>
          <a:lstStyle/>
          <a:p>
            <a:pPr algn="ctr"/>
            <a:r>
              <a:rPr lang="en-US" sz="2400" b="1">
                <a:solidFill>
                  <a:srgbClr val="FFFFFF"/>
                </a:solidFill>
                <a:latin typeface="Arial" pitchFamily="34" charset="0"/>
                <a:ea typeface="Arial" pitchFamily="34" charset="-122"/>
                <a:cs typeface="Arial" pitchFamily="34" charset="-120"/>
              </a:rPr>
              <a:t>3</a:t>
            </a:r>
            <a:endParaRPr lang="en-US" sz="2400"/>
          </a:p>
        </p:txBody>
      </p:sp>
      <p:sp>
        <p:nvSpPr>
          <p:cNvPr id="15" name="Text 13"/>
          <p:cNvSpPr/>
          <p:nvPr/>
        </p:nvSpPr>
        <p:spPr>
          <a:xfrm>
            <a:off x="342900" y="5853323"/>
            <a:ext cx="668867" cy="668867"/>
          </a:xfrm>
          <a:prstGeom prst="ellipse">
            <a:avLst/>
          </a:prstGeom>
          <a:solidFill>
            <a:schemeClr val="accent1"/>
          </a:solidFill>
          <a:ln/>
        </p:spPr>
        <p:txBody>
          <a:bodyPr wrap="square" rtlCol="0" anchor="ctr"/>
          <a:lstStyle/>
          <a:p>
            <a:pPr algn="ctr"/>
            <a:r>
              <a:rPr lang="en-US" sz="2400" b="1">
                <a:solidFill>
                  <a:srgbClr val="FFFFFF"/>
                </a:solidFill>
                <a:latin typeface="Arial" pitchFamily="34" charset="0"/>
                <a:ea typeface="Arial" pitchFamily="34" charset="-122"/>
                <a:cs typeface="Arial" pitchFamily="34" charset="-120"/>
              </a:rPr>
              <a:t>4</a:t>
            </a:r>
            <a:endParaRPr lang="en-US" sz="2400"/>
          </a:p>
        </p:txBody>
      </p:sp>
      <p:sp>
        <p:nvSpPr>
          <p:cNvPr id="17" name="Title 16">
            <a:extLst>
              <a:ext uri="{FF2B5EF4-FFF2-40B4-BE49-F238E27FC236}">
                <a16:creationId xmlns:a16="http://schemas.microsoft.com/office/drawing/2014/main" id="{E8D863E8-FB5A-FBC1-DC8E-F1AFA8689BD3}"/>
              </a:ext>
            </a:extLst>
          </p:cNvPr>
          <p:cNvSpPr>
            <a:spLocks noGrp="1"/>
          </p:cNvSpPr>
          <p:nvPr>
            <p:ph type="title"/>
          </p:nvPr>
        </p:nvSpPr>
        <p:spPr/>
        <p:txBody>
          <a:bodyPr/>
          <a:lstStyle/>
          <a:p>
            <a:r>
              <a:rPr lang="en-US"/>
              <a:t>LEARNING OBJECTIVES</a:t>
            </a:r>
          </a:p>
        </p:txBody>
      </p:sp>
      <p:sp>
        <p:nvSpPr>
          <p:cNvPr id="19" name="Text Placeholder 18">
            <a:extLst>
              <a:ext uri="{FF2B5EF4-FFF2-40B4-BE49-F238E27FC236}">
                <a16:creationId xmlns:a16="http://schemas.microsoft.com/office/drawing/2014/main" id="{E8B475BC-1829-B0E5-97F1-C6F344F14AB3}"/>
              </a:ext>
            </a:extLst>
          </p:cNvPr>
          <p:cNvSpPr>
            <a:spLocks noGrp="1"/>
          </p:cNvSpPr>
          <p:nvPr>
            <p:ph type="body" sz="quarter" idx="15"/>
          </p:nvPr>
        </p:nvSpPr>
        <p:spPr/>
        <p:txBody>
          <a:bodyPr/>
          <a:lstStyle/>
          <a:p>
            <a:r>
              <a:rPr lang="en-US"/>
              <a:t>By the end of this session, you will be able to:</a:t>
            </a:r>
          </a:p>
        </p:txBody>
      </p:sp>
      <p:sp>
        <p:nvSpPr>
          <p:cNvPr id="33" name="TextBox 32">
            <a:extLst>
              <a:ext uri="{FF2B5EF4-FFF2-40B4-BE49-F238E27FC236}">
                <a16:creationId xmlns:a16="http://schemas.microsoft.com/office/drawing/2014/main" id="{1248A8A8-9CAC-35E8-E265-2E3E36FA004E}"/>
              </a:ext>
            </a:extLst>
          </p:cNvPr>
          <p:cNvSpPr txBox="1"/>
          <p:nvPr/>
        </p:nvSpPr>
        <p:spPr>
          <a:xfrm>
            <a:off x="1113367" y="2387506"/>
            <a:ext cx="5421903" cy="646331"/>
          </a:xfrm>
          <a:prstGeom prst="rect">
            <a:avLst/>
          </a:prstGeom>
          <a:noFill/>
        </p:spPr>
        <p:txBody>
          <a:bodyPr wrap="square">
            <a:noAutofit/>
          </a:bodyPr>
          <a:lstStyle/>
          <a:p>
            <a:r>
              <a:rPr lang="en-US" b="1">
                <a:solidFill>
                  <a:schemeClr val="accent1"/>
                </a:solidFill>
              </a:rPr>
              <a:t>Explain</a:t>
            </a:r>
            <a:r>
              <a:rPr lang="en-US"/>
              <a:t> how AI-powered search has fundamentally changed consumer discovery behavior</a:t>
            </a:r>
          </a:p>
        </p:txBody>
      </p:sp>
      <p:sp>
        <p:nvSpPr>
          <p:cNvPr id="37" name="TextBox 36">
            <a:extLst>
              <a:ext uri="{FF2B5EF4-FFF2-40B4-BE49-F238E27FC236}">
                <a16:creationId xmlns:a16="http://schemas.microsoft.com/office/drawing/2014/main" id="{98B91F0C-C2AC-FED1-7F00-8FF75AD910E7}"/>
              </a:ext>
            </a:extLst>
          </p:cNvPr>
          <p:cNvSpPr txBox="1"/>
          <p:nvPr/>
        </p:nvSpPr>
        <p:spPr>
          <a:xfrm>
            <a:off x="1113366" y="3574956"/>
            <a:ext cx="5413163" cy="646331"/>
          </a:xfrm>
          <a:prstGeom prst="rect">
            <a:avLst/>
          </a:prstGeom>
          <a:noFill/>
        </p:spPr>
        <p:txBody>
          <a:bodyPr wrap="square">
            <a:noAutofit/>
          </a:bodyPr>
          <a:lstStyle/>
          <a:p>
            <a:r>
              <a:rPr lang="en-US" b="1">
                <a:solidFill>
                  <a:schemeClr val="accent1"/>
                </a:solidFill>
              </a:rPr>
              <a:t>Articulate</a:t>
            </a:r>
            <a:r>
              <a:rPr lang="en-US"/>
              <a:t> how it has affected our clients’ business and what it means to our work</a:t>
            </a:r>
          </a:p>
        </p:txBody>
      </p:sp>
      <p:sp>
        <p:nvSpPr>
          <p:cNvPr id="38" name="TextBox 37">
            <a:extLst>
              <a:ext uri="{FF2B5EF4-FFF2-40B4-BE49-F238E27FC236}">
                <a16:creationId xmlns:a16="http://schemas.microsoft.com/office/drawing/2014/main" id="{AE7BBAC8-DE7E-7555-6B8F-946CB4AB1659}"/>
              </a:ext>
            </a:extLst>
          </p:cNvPr>
          <p:cNvSpPr txBox="1"/>
          <p:nvPr/>
        </p:nvSpPr>
        <p:spPr>
          <a:xfrm>
            <a:off x="1113367" y="4743356"/>
            <a:ext cx="5071534" cy="686317"/>
          </a:xfrm>
          <a:prstGeom prst="rect">
            <a:avLst/>
          </a:prstGeom>
          <a:noFill/>
        </p:spPr>
        <p:txBody>
          <a:bodyPr wrap="square">
            <a:noAutofit/>
          </a:bodyPr>
          <a:lstStyle/>
          <a:p>
            <a:r>
              <a:rPr lang="en-US" b="1">
                <a:solidFill>
                  <a:schemeClr val="accent1"/>
                </a:solidFill>
              </a:rPr>
              <a:t>Describe</a:t>
            </a:r>
            <a:r>
              <a:rPr lang="en-US">
                <a:solidFill>
                  <a:schemeClr val="accent3"/>
                </a:solidFill>
              </a:rPr>
              <a:t> </a:t>
            </a:r>
            <a:r>
              <a:rPr lang="en-US"/>
              <a:t>The Shipyard’s approach to Generative Engine Optimization (GEO)</a:t>
            </a:r>
          </a:p>
        </p:txBody>
      </p:sp>
      <p:sp>
        <p:nvSpPr>
          <p:cNvPr id="39" name="TextBox 38">
            <a:extLst>
              <a:ext uri="{FF2B5EF4-FFF2-40B4-BE49-F238E27FC236}">
                <a16:creationId xmlns:a16="http://schemas.microsoft.com/office/drawing/2014/main" id="{B4FFCEA0-BAA3-A589-621E-A9570411A31A}"/>
              </a:ext>
            </a:extLst>
          </p:cNvPr>
          <p:cNvSpPr txBox="1"/>
          <p:nvPr/>
        </p:nvSpPr>
        <p:spPr>
          <a:xfrm>
            <a:off x="1113367" y="6006054"/>
            <a:ext cx="5071534" cy="646331"/>
          </a:xfrm>
          <a:prstGeom prst="rect">
            <a:avLst/>
          </a:prstGeom>
          <a:noFill/>
        </p:spPr>
        <p:txBody>
          <a:bodyPr wrap="square">
            <a:noAutofit/>
          </a:bodyPr>
          <a:lstStyle/>
          <a:p>
            <a:r>
              <a:rPr lang="en-US" b="1">
                <a:solidFill>
                  <a:schemeClr val="accent1"/>
                </a:solidFill>
              </a:rPr>
              <a:t>Identify</a:t>
            </a:r>
            <a:r>
              <a:rPr lang="en-US" b="1">
                <a:solidFill>
                  <a:schemeClr val="accent3"/>
                </a:solidFill>
              </a:rPr>
              <a:t> </a:t>
            </a:r>
            <a:r>
              <a:rPr lang="en-US"/>
              <a:t>clients who would benefit from an AI Visibility Audit</a:t>
            </a:r>
          </a:p>
        </p:txBody>
      </p:sp>
      <p:sp>
        <p:nvSpPr>
          <p:cNvPr id="2" name="Slide Number Placeholder 1">
            <a:extLst>
              <a:ext uri="{FF2B5EF4-FFF2-40B4-BE49-F238E27FC236}">
                <a16:creationId xmlns:a16="http://schemas.microsoft.com/office/drawing/2014/main" id="{C7717D68-EB60-E009-F943-90EC1018E9FA}"/>
              </a:ext>
            </a:extLst>
          </p:cNvPr>
          <p:cNvSpPr>
            <a:spLocks noGrp="1"/>
          </p:cNvSpPr>
          <p:nvPr>
            <p:ph type="sldNum" sz="quarter" idx="12"/>
          </p:nvPr>
        </p:nvSpPr>
        <p:spPr/>
        <p:txBody>
          <a:bodyPr/>
          <a:lstStyle/>
          <a:p>
            <a:fld id="{98F3EE46-22F2-40FF-849A-D81FB3452EE0}" type="slidenum">
              <a:rPr lang="en-US" smtClean="0"/>
              <a:t>3</a:t>
            </a:fld>
            <a:endParaRPr lang="en-US"/>
          </a:p>
        </p:txBody>
      </p:sp>
      <p:cxnSp>
        <p:nvCxnSpPr>
          <p:cNvPr id="8" name="Straight Connector 7">
            <a:extLst>
              <a:ext uri="{FF2B5EF4-FFF2-40B4-BE49-F238E27FC236}">
                <a16:creationId xmlns:a16="http://schemas.microsoft.com/office/drawing/2014/main" id="{5CB3DD98-95F1-10CF-54CD-A3269D082D8B}"/>
              </a:ext>
            </a:extLst>
          </p:cNvPr>
          <p:cNvCxnSpPr>
            <a:cxnSpLocks/>
          </p:cNvCxnSpPr>
          <p:nvPr/>
        </p:nvCxnSpPr>
        <p:spPr>
          <a:xfrm>
            <a:off x="-35560" y="2138680"/>
            <a:ext cx="6562089" cy="0"/>
          </a:xfrm>
          <a:prstGeom prst="line">
            <a:avLst/>
          </a:prstGeom>
          <a:noFill/>
          <a:ln w="6350" cap="sq">
            <a:solidFill>
              <a:schemeClr val="tx1"/>
            </a:solidFill>
            <a:prstDash val="solid"/>
            <a:round/>
            <a:headEnd/>
            <a:tailEnd/>
          </a:ln>
          <a:effectLst/>
        </p:spPr>
      </p:cxnSp>
      <p:cxnSp>
        <p:nvCxnSpPr>
          <p:cNvPr id="26" name="Straight Connector 25">
            <a:extLst>
              <a:ext uri="{FF2B5EF4-FFF2-40B4-BE49-F238E27FC236}">
                <a16:creationId xmlns:a16="http://schemas.microsoft.com/office/drawing/2014/main" id="{6AD36BC1-2A8E-E4B9-BFF5-9D143CD95553}"/>
              </a:ext>
            </a:extLst>
          </p:cNvPr>
          <p:cNvCxnSpPr>
            <a:cxnSpLocks/>
          </p:cNvCxnSpPr>
          <p:nvPr/>
        </p:nvCxnSpPr>
        <p:spPr>
          <a:xfrm>
            <a:off x="-96520" y="3331210"/>
            <a:ext cx="6562089" cy="0"/>
          </a:xfrm>
          <a:prstGeom prst="line">
            <a:avLst/>
          </a:prstGeom>
          <a:noFill/>
          <a:ln w="6350" cap="sq">
            <a:solidFill>
              <a:schemeClr val="tx1"/>
            </a:solidFill>
            <a:prstDash val="solid"/>
            <a:round/>
            <a:headEnd/>
            <a:tailEnd/>
          </a:ln>
          <a:effectLst/>
        </p:spPr>
      </p:cxnSp>
      <p:cxnSp>
        <p:nvCxnSpPr>
          <p:cNvPr id="27" name="Straight Connector 26">
            <a:extLst>
              <a:ext uri="{FF2B5EF4-FFF2-40B4-BE49-F238E27FC236}">
                <a16:creationId xmlns:a16="http://schemas.microsoft.com/office/drawing/2014/main" id="{E1FE974D-79C2-0C87-EA68-C4DC823B650F}"/>
              </a:ext>
            </a:extLst>
          </p:cNvPr>
          <p:cNvCxnSpPr>
            <a:cxnSpLocks/>
          </p:cNvCxnSpPr>
          <p:nvPr/>
        </p:nvCxnSpPr>
        <p:spPr>
          <a:xfrm>
            <a:off x="-157480" y="4523740"/>
            <a:ext cx="6562089" cy="0"/>
          </a:xfrm>
          <a:prstGeom prst="line">
            <a:avLst/>
          </a:prstGeom>
          <a:noFill/>
          <a:ln w="6350" cap="sq">
            <a:solidFill>
              <a:schemeClr val="tx1"/>
            </a:solidFill>
            <a:prstDash val="solid"/>
            <a:round/>
            <a:headEnd/>
            <a:tailEnd/>
          </a:ln>
          <a:effectLst/>
        </p:spPr>
      </p:cxnSp>
      <p:cxnSp>
        <p:nvCxnSpPr>
          <p:cNvPr id="28" name="Straight Connector 27">
            <a:extLst>
              <a:ext uri="{FF2B5EF4-FFF2-40B4-BE49-F238E27FC236}">
                <a16:creationId xmlns:a16="http://schemas.microsoft.com/office/drawing/2014/main" id="{C1393112-D00F-C94B-A395-FD4B083643F7}"/>
              </a:ext>
            </a:extLst>
          </p:cNvPr>
          <p:cNvCxnSpPr>
            <a:cxnSpLocks/>
          </p:cNvCxnSpPr>
          <p:nvPr/>
        </p:nvCxnSpPr>
        <p:spPr>
          <a:xfrm>
            <a:off x="-218440" y="5716270"/>
            <a:ext cx="6562089" cy="0"/>
          </a:xfrm>
          <a:prstGeom prst="line">
            <a:avLst/>
          </a:prstGeom>
          <a:noFill/>
          <a:ln w="6350" cap="sq">
            <a:solidFill>
              <a:schemeClr val="tx1"/>
            </a:solidFill>
            <a:prstDash val="solid"/>
            <a:round/>
            <a:headEnd/>
            <a:tailEnd/>
          </a:ln>
          <a:effec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6D20-E1B5-2477-D141-8EA2ED3060A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94FEFD-70C9-6068-E4A1-991CF5B1E24F}"/>
              </a:ext>
            </a:extLst>
          </p:cNvPr>
          <p:cNvSpPr>
            <a:spLocks noGrp="1"/>
          </p:cNvSpPr>
          <p:nvPr>
            <p:ph type="title"/>
          </p:nvPr>
        </p:nvSpPr>
        <p:spPr>
          <a:xfrm>
            <a:off x="219075" y="585788"/>
            <a:ext cx="12074525" cy="831850"/>
          </a:xfrm>
        </p:spPr>
        <p:txBody>
          <a:bodyPr/>
          <a:lstStyle/>
          <a:p>
            <a:r>
              <a:rPr lang="en-US"/>
              <a:t>“AI SEARCH” — WHAT DO WE MEAN?</a:t>
            </a:r>
          </a:p>
        </p:txBody>
      </p:sp>
      <p:sp>
        <p:nvSpPr>
          <p:cNvPr id="2" name="Slide Number Placeholder 1">
            <a:extLst>
              <a:ext uri="{FF2B5EF4-FFF2-40B4-BE49-F238E27FC236}">
                <a16:creationId xmlns:a16="http://schemas.microsoft.com/office/drawing/2014/main" id="{A865ABD0-BF81-62F3-1DCE-BD5153357A93}"/>
              </a:ext>
            </a:extLst>
          </p:cNvPr>
          <p:cNvSpPr>
            <a:spLocks noGrp="1"/>
          </p:cNvSpPr>
          <p:nvPr>
            <p:ph type="sldNum" sz="quarter" idx="12"/>
          </p:nvPr>
        </p:nvSpPr>
        <p:spPr>
          <a:xfrm>
            <a:off x="11779250" y="6540500"/>
            <a:ext cx="354250" cy="254000"/>
          </a:xfrm>
        </p:spPr>
        <p:txBody>
          <a:bodyPr/>
          <a:lstStyle/>
          <a:p>
            <a:fld id="{6D05E8BB-FF85-4620-9298-8F3F48811131}" type="slidenum">
              <a:rPr lang="en-US" smtClean="0"/>
              <a:t>4</a:t>
            </a:fld>
            <a:endParaRPr lang="en-US"/>
          </a:p>
        </p:txBody>
      </p:sp>
      <p:sp>
        <p:nvSpPr>
          <p:cNvPr id="8" name="Text Placeholder 7">
            <a:extLst>
              <a:ext uri="{FF2B5EF4-FFF2-40B4-BE49-F238E27FC236}">
                <a16:creationId xmlns:a16="http://schemas.microsoft.com/office/drawing/2014/main" id="{C8C8E54B-6F05-C4BC-A9AD-CD297193763C}"/>
              </a:ext>
            </a:extLst>
          </p:cNvPr>
          <p:cNvSpPr>
            <a:spLocks noGrp="1"/>
          </p:cNvSpPr>
          <p:nvPr>
            <p:ph type="body" sz="quarter" idx="13"/>
          </p:nvPr>
        </p:nvSpPr>
        <p:spPr>
          <a:xfrm>
            <a:off x="246888" y="297370"/>
            <a:ext cx="2670048" cy="155448"/>
          </a:xfrm>
        </p:spPr>
        <p:txBody>
          <a:bodyPr/>
          <a:lstStyle/>
          <a:p>
            <a:r>
              <a:rPr lang="en-US"/>
              <a:t>HOW AI IS RESHAPING SEARCH STRATEGY</a:t>
            </a:r>
          </a:p>
        </p:txBody>
      </p:sp>
      <p:sp>
        <p:nvSpPr>
          <p:cNvPr id="9" name="Text Placeholder 8">
            <a:extLst>
              <a:ext uri="{FF2B5EF4-FFF2-40B4-BE49-F238E27FC236}">
                <a16:creationId xmlns:a16="http://schemas.microsoft.com/office/drawing/2014/main" id="{B22CFCB3-8032-8E0A-A85A-6583BE19A8A1}"/>
              </a:ext>
            </a:extLst>
          </p:cNvPr>
          <p:cNvSpPr>
            <a:spLocks noGrp="1"/>
          </p:cNvSpPr>
          <p:nvPr>
            <p:ph type="body" sz="quarter" idx="14"/>
          </p:nvPr>
        </p:nvSpPr>
        <p:spPr>
          <a:xfrm>
            <a:off x="228601" y="1905001"/>
            <a:ext cx="4931796" cy="4367211"/>
          </a:xfrm>
        </p:spPr>
        <p:txBody>
          <a:bodyPr/>
          <a:lstStyle/>
          <a:p>
            <a:pPr marL="0" indent="0">
              <a:buNone/>
            </a:pPr>
            <a:r>
              <a:rPr lang="en-US" sz="1800" b="1"/>
              <a:t>AI Overviews </a:t>
            </a:r>
          </a:p>
          <a:p>
            <a:r>
              <a:rPr lang="en-US" sz="1800"/>
              <a:t>Search engines (Google, Bing, etc.) now provide an overview generated by AI, not just links.</a:t>
            </a:r>
          </a:p>
          <a:p>
            <a:pPr marL="0" indent="0">
              <a:buNone/>
            </a:pPr>
            <a:endParaRPr lang="en-US" sz="1800" b="1"/>
          </a:p>
          <a:p>
            <a:pPr marL="0" indent="0">
              <a:buNone/>
            </a:pPr>
            <a:r>
              <a:rPr lang="en-US" sz="1800" b="1"/>
              <a:t>AI Models / LLMs (Large Language Models)</a:t>
            </a:r>
          </a:p>
          <a:p>
            <a:r>
              <a:rPr lang="en-US" sz="1800"/>
              <a:t>Separate website, chatbot or app</a:t>
            </a:r>
          </a:p>
          <a:p>
            <a:r>
              <a:rPr lang="en-US" sz="1800"/>
              <a:t>ChatGPT, Gemini, Perplexity, Claude, Copilot, Grok, etc. </a:t>
            </a:r>
          </a:p>
          <a:p>
            <a:pPr marL="0" indent="0">
              <a:buNone/>
            </a:pPr>
            <a:endParaRPr lang="en-US" sz="1800" b="1"/>
          </a:p>
          <a:p>
            <a:pPr marL="0" indent="0">
              <a:buNone/>
            </a:pPr>
            <a:r>
              <a:rPr lang="en-US" sz="1800" b="1"/>
              <a:t>GEO (Generative Engine Optimization)</a:t>
            </a:r>
          </a:p>
          <a:p>
            <a:r>
              <a:rPr lang="en-US" sz="1800"/>
              <a:t>Unlike SEO, GEO deals on brand visibility ‘inside’ generative-AI responses, not keyword rankings.</a:t>
            </a:r>
          </a:p>
          <a:p>
            <a:pPr marL="0" indent="0">
              <a:buNone/>
            </a:pPr>
            <a:endParaRPr lang="en-US" sz="1800"/>
          </a:p>
          <a:p>
            <a:pPr marL="0" indent="0">
              <a:spcAft>
                <a:spcPts val="1800"/>
              </a:spcAft>
              <a:buNone/>
            </a:pPr>
            <a:endParaRPr lang="en-US" sz="1800"/>
          </a:p>
        </p:txBody>
      </p:sp>
      <p:sp>
        <p:nvSpPr>
          <p:cNvPr id="10" name="Text Placeholder 9">
            <a:extLst>
              <a:ext uri="{FF2B5EF4-FFF2-40B4-BE49-F238E27FC236}">
                <a16:creationId xmlns:a16="http://schemas.microsoft.com/office/drawing/2014/main" id="{946A644C-E3A5-4F71-E176-3C11E2612655}"/>
              </a:ext>
            </a:extLst>
          </p:cNvPr>
          <p:cNvSpPr>
            <a:spLocks noGrp="1"/>
          </p:cNvSpPr>
          <p:nvPr>
            <p:ph type="body" sz="quarter" idx="15"/>
          </p:nvPr>
        </p:nvSpPr>
        <p:spPr>
          <a:xfrm>
            <a:off x="219075" y="1417638"/>
            <a:ext cx="11753850" cy="420758"/>
          </a:xfrm>
        </p:spPr>
        <p:txBody>
          <a:bodyPr/>
          <a:lstStyle/>
          <a:p>
            <a:r>
              <a:rPr lang="en-US"/>
              <a:t>Key Terminology</a:t>
            </a:r>
          </a:p>
        </p:txBody>
      </p:sp>
      <p:pic>
        <p:nvPicPr>
          <p:cNvPr id="4" name="Picture 3">
            <a:extLst>
              <a:ext uri="{FF2B5EF4-FFF2-40B4-BE49-F238E27FC236}">
                <a16:creationId xmlns:a16="http://schemas.microsoft.com/office/drawing/2014/main" id="{7072D9B3-12A9-21AB-34E5-AE064EF4F71C}"/>
              </a:ext>
            </a:extLst>
          </p:cNvPr>
          <p:cNvPicPr>
            <a:picLocks noChangeAspect="1"/>
          </p:cNvPicPr>
          <p:nvPr/>
        </p:nvPicPr>
        <p:blipFill>
          <a:blip r:embed="rId3"/>
          <a:stretch>
            <a:fillRect/>
          </a:stretch>
        </p:blipFill>
        <p:spPr>
          <a:xfrm>
            <a:off x="5848977" y="1905001"/>
            <a:ext cx="5492700" cy="4092387"/>
          </a:xfrm>
          <a:prstGeom prst="rect">
            <a:avLst/>
          </a:prstGeom>
          <a:ln>
            <a:solidFill>
              <a:schemeClr val="tx1">
                <a:lumMod val="50000"/>
                <a:lumOff val="50000"/>
              </a:schemeClr>
            </a:solidFill>
          </a:ln>
        </p:spPr>
      </p:pic>
    </p:spTree>
    <p:extLst>
      <p:ext uri="{BB962C8B-B14F-4D97-AF65-F5344CB8AC3E}">
        <p14:creationId xmlns:p14="http://schemas.microsoft.com/office/powerpoint/2010/main" val="2223856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D3D5BA-62BC-2895-9930-E047FA7E49B1}"/>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015008A-F0B1-277E-9DA0-2B219068D6E6}"/>
              </a:ext>
            </a:extLst>
          </p:cNvPr>
          <p:cNvSpPr>
            <a:spLocks noGrp="1"/>
          </p:cNvSpPr>
          <p:nvPr>
            <p:ph type="sldNum" sz="quarter" idx="12"/>
          </p:nvPr>
        </p:nvSpPr>
        <p:spPr/>
        <p:txBody>
          <a:bodyPr/>
          <a:lstStyle/>
          <a:p>
            <a:fld id="{6D05E8BB-FF85-4620-9298-8F3F48811131}" type="slidenum">
              <a:rPr lang="en-US" smtClean="0">
                <a:solidFill>
                  <a:schemeClr val="bg1"/>
                </a:solidFill>
              </a:rPr>
              <a:t>5</a:t>
            </a:fld>
            <a:endParaRPr lang="en-US">
              <a:solidFill>
                <a:schemeClr val="bg1"/>
              </a:solidFill>
            </a:endParaRPr>
          </a:p>
        </p:txBody>
      </p:sp>
      <p:sp>
        <p:nvSpPr>
          <p:cNvPr id="7" name="TextBox 6">
            <a:extLst>
              <a:ext uri="{FF2B5EF4-FFF2-40B4-BE49-F238E27FC236}">
                <a16:creationId xmlns:a16="http://schemas.microsoft.com/office/drawing/2014/main" id="{F366459D-C38E-4C17-2D2B-68144C4FF303}"/>
              </a:ext>
            </a:extLst>
          </p:cNvPr>
          <p:cNvSpPr txBox="1"/>
          <p:nvPr/>
        </p:nvSpPr>
        <p:spPr>
          <a:xfrm>
            <a:off x="2946400" y="2828835"/>
            <a:ext cx="6096000" cy="1200329"/>
          </a:xfrm>
          <a:prstGeom prst="rect">
            <a:avLst/>
          </a:prstGeom>
          <a:noFill/>
        </p:spPr>
        <p:txBody>
          <a:bodyPr wrap="square">
            <a:spAutoFit/>
          </a:bodyPr>
          <a:lstStyle/>
          <a:p>
            <a:pPr algn="ctr"/>
            <a:r>
              <a:rPr lang="en-US" sz="7200">
                <a:solidFill>
                  <a:schemeClr val="bg1"/>
                </a:solidFill>
                <a:latin typeface="+mj-lt"/>
              </a:rPr>
              <a:t>QUICK POLL</a:t>
            </a:r>
          </a:p>
        </p:txBody>
      </p:sp>
    </p:spTree>
    <p:extLst>
      <p:ext uri="{BB962C8B-B14F-4D97-AF65-F5344CB8AC3E}">
        <p14:creationId xmlns:p14="http://schemas.microsoft.com/office/powerpoint/2010/main" val="2841937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0C03D0A-DE27-A9A8-C642-884F9F05F0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EB9CA7-7A6B-4CD9-A9E4-3DFF816C14BA}"/>
              </a:ext>
            </a:extLst>
          </p:cNvPr>
          <p:cNvSpPr>
            <a:spLocks noGrp="1"/>
          </p:cNvSpPr>
          <p:nvPr>
            <p:ph type="sldNum" sz="quarter" idx="12"/>
          </p:nvPr>
        </p:nvSpPr>
        <p:spPr/>
        <p:txBody>
          <a:bodyPr/>
          <a:lstStyle/>
          <a:p>
            <a:fld id="{6D05E8BB-FF85-4620-9298-8F3F48811131}" type="slidenum">
              <a:rPr lang="en-US" smtClean="0">
                <a:solidFill>
                  <a:schemeClr val="bg1"/>
                </a:solidFill>
              </a:rPr>
              <a:t>6</a:t>
            </a:fld>
            <a:endParaRPr lang="en-US">
              <a:solidFill>
                <a:schemeClr val="bg1"/>
              </a:solidFill>
            </a:endParaRPr>
          </a:p>
        </p:txBody>
      </p:sp>
      <p:sp>
        <p:nvSpPr>
          <p:cNvPr id="7" name="TextBox 6">
            <a:extLst>
              <a:ext uri="{FF2B5EF4-FFF2-40B4-BE49-F238E27FC236}">
                <a16:creationId xmlns:a16="http://schemas.microsoft.com/office/drawing/2014/main" id="{FAEC7703-5A70-0B06-EBCE-59447B210200}"/>
              </a:ext>
            </a:extLst>
          </p:cNvPr>
          <p:cNvSpPr txBox="1"/>
          <p:nvPr/>
        </p:nvSpPr>
        <p:spPr>
          <a:xfrm>
            <a:off x="0" y="2828835"/>
            <a:ext cx="12192000" cy="1200329"/>
          </a:xfrm>
          <a:prstGeom prst="rect">
            <a:avLst/>
          </a:prstGeom>
          <a:noFill/>
        </p:spPr>
        <p:txBody>
          <a:bodyPr wrap="square">
            <a:spAutoFit/>
          </a:bodyPr>
          <a:lstStyle/>
          <a:p>
            <a:pPr algn="ctr"/>
            <a:r>
              <a:rPr lang="en-US" sz="7200">
                <a:solidFill>
                  <a:schemeClr val="bg1"/>
                </a:solidFill>
                <a:latin typeface="+mj-lt"/>
              </a:rPr>
              <a:t>WHAT’S CHANGED</a:t>
            </a:r>
          </a:p>
        </p:txBody>
      </p:sp>
    </p:spTree>
    <p:extLst>
      <p:ext uri="{BB962C8B-B14F-4D97-AF65-F5344CB8AC3E}">
        <p14:creationId xmlns:p14="http://schemas.microsoft.com/office/powerpoint/2010/main" val="680994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EB42-08A2-21F0-4411-3678249C5AED}"/>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3B91DCB9-17B8-044A-1237-9934C7B1BD63}"/>
              </a:ext>
            </a:extLst>
          </p:cNvPr>
          <p:cNvSpPr/>
          <p:nvPr/>
        </p:nvSpPr>
        <p:spPr>
          <a:xfrm>
            <a:off x="3358142" y="2643073"/>
            <a:ext cx="2685661" cy="3629711"/>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D2439FE-3C86-A55B-D494-C932B5234BA9}"/>
              </a:ext>
            </a:extLst>
          </p:cNvPr>
          <p:cNvSpPr/>
          <p:nvPr/>
        </p:nvSpPr>
        <p:spPr>
          <a:xfrm>
            <a:off x="6038417" y="2643771"/>
            <a:ext cx="2742918" cy="362971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D5F3AC5-3061-ECA2-96B4-211E4945731C}"/>
              </a:ext>
            </a:extLst>
          </p:cNvPr>
          <p:cNvSpPr/>
          <p:nvPr/>
        </p:nvSpPr>
        <p:spPr>
          <a:xfrm>
            <a:off x="8785582" y="2628137"/>
            <a:ext cx="2737532" cy="3654171"/>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CCA83A8-183F-593D-62F6-B9524C931009}"/>
              </a:ext>
            </a:extLst>
          </p:cNvPr>
          <p:cNvSpPr/>
          <p:nvPr/>
        </p:nvSpPr>
        <p:spPr>
          <a:xfrm>
            <a:off x="596282" y="2643073"/>
            <a:ext cx="2761860" cy="36297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3D0BC366-2D5B-423E-4391-7322943DD806}"/>
              </a:ext>
            </a:extLst>
          </p:cNvPr>
          <p:cNvSpPr>
            <a:spLocks noGrp="1"/>
          </p:cNvSpPr>
          <p:nvPr>
            <p:ph type="title"/>
          </p:nvPr>
        </p:nvSpPr>
        <p:spPr>
          <a:xfrm>
            <a:off x="219456" y="585216"/>
            <a:ext cx="8577072" cy="1440442"/>
          </a:xfrm>
        </p:spPr>
        <p:txBody>
          <a:bodyPr/>
          <a:lstStyle/>
          <a:p>
            <a:r>
              <a:rPr lang="en-US"/>
              <a:t>AI IS REWRITING SEARCH AT INTERNET SPEED</a:t>
            </a:r>
          </a:p>
        </p:txBody>
      </p:sp>
      <p:sp>
        <p:nvSpPr>
          <p:cNvPr id="5" name="Slide Number Placeholder 4">
            <a:extLst>
              <a:ext uri="{FF2B5EF4-FFF2-40B4-BE49-F238E27FC236}">
                <a16:creationId xmlns:a16="http://schemas.microsoft.com/office/drawing/2014/main" id="{E053E412-9507-31E3-DEDB-137079FE0D9E}"/>
              </a:ext>
            </a:extLst>
          </p:cNvPr>
          <p:cNvSpPr>
            <a:spLocks noGrp="1"/>
          </p:cNvSpPr>
          <p:nvPr>
            <p:ph type="sldNum" sz="quarter" idx="12"/>
          </p:nvPr>
        </p:nvSpPr>
        <p:spPr>
          <a:xfrm>
            <a:off x="11779250" y="6540500"/>
            <a:ext cx="354250" cy="254000"/>
          </a:xfrm>
        </p:spPr>
        <p:txBody>
          <a:bodyPr/>
          <a:lstStyle/>
          <a:p>
            <a:fld id="{ED47D9D2-1C31-4C47-A687-7F3FAAAF0239}" type="slidenum">
              <a:rPr lang="en-US" smtClean="0"/>
              <a:pPr/>
              <a:t>7</a:t>
            </a:fld>
            <a:endParaRPr lang="en-US"/>
          </a:p>
        </p:txBody>
      </p:sp>
      <p:sp>
        <p:nvSpPr>
          <p:cNvPr id="18" name="Text Placeholder 17">
            <a:extLst>
              <a:ext uri="{FF2B5EF4-FFF2-40B4-BE49-F238E27FC236}">
                <a16:creationId xmlns:a16="http://schemas.microsoft.com/office/drawing/2014/main" id="{42D522A2-21E1-E54D-0DB0-9E66924BF4B0}"/>
              </a:ext>
            </a:extLst>
          </p:cNvPr>
          <p:cNvSpPr>
            <a:spLocks noGrp="1"/>
          </p:cNvSpPr>
          <p:nvPr>
            <p:ph type="body" sz="quarter" idx="13"/>
          </p:nvPr>
        </p:nvSpPr>
        <p:spPr>
          <a:xfrm>
            <a:off x="247650" y="296863"/>
            <a:ext cx="2668588" cy="155575"/>
          </a:xfrm>
        </p:spPr>
        <p:txBody>
          <a:bodyPr/>
          <a:lstStyle/>
          <a:p>
            <a:r>
              <a:rPr lang="en-US"/>
              <a:t>HOW AI IS RESHAPING SEARCH STRATEGY</a:t>
            </a:r>
          </a:p>
        </p:txBody>
      </p:sp>
      <p:sp>
        <p:nvSpPr>
          <p:cNvPr id="2" name="Text Placeholder 9">
            <a:extLst>
              <a:ext uri="{FF2B5EF4-FFF2-40B4-BE49-F238E27FC236}">
                <a16:creationId xmlns:a16="http://schemas.microsoft.com/office/drawing/2014/main" id="{DA3A62A4-71B6-993F-D504-8727D0A53EBC}"/>
              </a:ext>
            </a:extLst>
          </p:cNvPr>
          <p:cNvSpPr txBox="1">
            <a:spLocks/>
          </p:cNvSpPr>
          <p:nvPr/>
        </p:nvSpPr>
        <p:spPr>
          <a:xfrm>
            <a:off x="263520" y="2117097"/>
            <a:ext cx="11652250" cy="39998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None/>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Four milestones that show why playbooks expire fast</a:t>
            </a:r>
          </a:p>
        </p:txBody>
      </p:sp>
      <p:sp>
        <p:nvSpPr>
          <p:cNvPr id="9" name="Text 10">
            <a:extLst>
              <a:ext uri="{FF2B5EF4-FFF2-40B4-BE49-F238E27FC236}">
                <a16:creationId xmlns:a16="http://schemas.microsoft.com/office/drawing/2014/main" id="{43A39B62-7280-1958-B9D4-FF86F78B3DB5}"/>
              </a:ext>
            </a:extLst>
          </p:cNvPr>
          <p:cNvSpPr/>
          <p:nvPr/>
        </p:nvSpPr>
        <p:spPr>
          <a:xfrm>
            <a:off x="1181716" y="5645502"/>
            <a:ext cx="1371600" cy="228600"/>
          </a:xfrm>
          <a:prstGeom prst="rect">
            <a:avLst/>
          </a:prstGeom>
          <a:noFill/>
          <a:ln/>
        </p:spPr>
        <p:txBody>
          <a:bodyPr wrap="square" rtlCol="0" anchor="ctr"/>
          <a:lstStyle/>
          <a:p>
            <a:pPr marL="0" indent="0" algn="ctr">
              <a:buNone/>
            </a:pPr>
            <a:r>
              <a:rPr lang="en-US" sz="1200" b="1">
                <a:solidFill>
                  <a:schemeClr val="bg1"/>
                </a:solidFill>
                <a:ea typeface="Calibri" pitchFamily="34" charset="-122"/>
                <a:cs typeface="Calibri" pitchFamily="34" charset="-120"/>
              </a:rPr>
              <a:t>Nov 30, 2022</a:t>
            </a:r>
            <a:endParaRPr lang="en-US" sz="1200">
              <a:solidFill>
                <a:schemeClr val="bg1"/>
              </a:solidFill>
            </a:endParaRPr>
          </a:p>
        </p:txBody>
      </p:sp>
      <p:sp>
        <p:nvSpPr>
          <p:cNvPr id="11" name="Text 11">
            <a:extLst>
              <a:ext uri="{FF2B5EF4-FFF2-40B4-BE49-F238E27FC236}">
                <a16:creationId xmlns:a16="http://schemas.microsoft.com/office/drawing/2014/main" id="{1B7F0C6E-5C72-1B7C-1E45-B09DD8AA27BB}"/>
              </a:ext>
            </a:extLst>
          </p:cNvPr>
          <p:cNvSpPr/>
          <p:nvPr/>
        </p:nvSpPr>
        <p:spPr>
          <a:xfrm>
            <a:off x="919624" y="3187698"/>
            <a:ext cx="2200465" cy="647982"/>
          </a:xfrm>
          <a:prstGeom prst="rect">
            <a:avLst/>
          </a:prstGeom>
          <a:noFill/>
          <a:ln/>
        </p:spPr>
        <p:txBody>
          <a:bodyPr wrap="square" rtlCol="0" anchor="ctr"/>
          <a:lstStyle/>
          <a:p>
            <a:pPr marL="0" indent="0">
              <a:buNone/>
            </a:pPr>
            <a:r>
              <a:rPr lang="en-US" sz="1800" b="1">
                <a:solidFill>
                  <a:srgbClr val="FFFFFF"/>
                </a:solidFill>
                <a:ea typeface="Calibri" pitchFamily="34" charset="-122"/>
                <a:cs typeface="Calibri" pitchFamily="34" charset="-120"/>
              </a:rPr>
              <a:t>ChatGPT launches publicly</a:t>
            </a:r>
            <a:endParaRPr lang="en-US" sz="1800"/>
          </a:p>
        </p:txBody>
      </p:sp>
      <p:sp>
        <p:nvSpPr>
          <p:cNvPr id="12" name="Text 12">
            <a:extLst>
              <a:ext uri="{FF2B5EF4-FFF2-40B4-BE49-F238E27FC236}">
                <a16:creationId xmlns:a16="http://schemas.microsoft.com/office/drawing/2014/main" id="{2C77896B-4742-4B7F-224F-F8AABE89BACA}"/>
              </a:ext>
            </a:extLst>
          </p:cNvPr>
          <p:cNvSpPr/>
          <p:nvPr/>
        </p:nvSpPr>
        <p:spPr>
          <a:xfrm>
            <a:off x="899644" y="4029434"/>
            <a:ext cx="2285754" cy="921862"/>
          </a:xfrm>
          <a:prstGeom prst="rect">
            <a:avLst/>
          </a:prstGeom>
          <a:noFill/>
          <a:ln/>
        </p:spPr>
        <p:txBody>
          <a:bodyPr wrap="square" rtlCol="0" anchor="ctr"/>
          <a:lstStyle/>
          <a:p>
            <a:pPr marL="0" indent="0">
              <a:buNone/>
            </a:pPr>
            <a:r>
              <a:rPr lang="en-US" sz="1400">
                <a:solidFill>
                  <a:schemeClr val="bg1"/>
                </a:solidFill>
                <a:ea typeface="Calibri" pitchFamily="34" charset="-122"/>
                <a:cs typeface="Calibri" pitchFamily="34" charset="-120"/>
              </a:rPr>
              <a:t>Answer-first UX goes mainstream, expectations for “search” shift overnight.</a:t>
            </a:r>
            <a:endParaRPr lang="en-US" sz="1400">
              <a:solidFill>
                <a:schemeClr val="bg1"/>
              </a:solidFill>
            </a:endParaRPr>
          </a:p>
        </p:txBody>
      </p:sp>
      <p:sp>
        <p:nvSpPr>
          <p:cNvPr id="17" name="Text 17">
            <a:extLst>
              <a:ext uri="{FF2B5EF4-FFF2-40B4-BE49-F238E27FC236}">
                <a16:creationId xmlns:a16="http://schemas.microsoft.com/office/drawing/2014/main" id="{BCB5B7CA-07C6-727E-B553-2CC9F8D3857D}"/>
              </a:ext>
            </a:extLst>
          </p:cNvPr>
          <p:cNvSpPr/>
          <p:nvPr/>
        </p:nvSpPr>
        <p:spPr>
          <a:xfrm>
            <a:off x="3927973" y="5623474"/>
            <a:ext cx="1371600" cy="228600"/>
          </a:xfrm>
          <a:prstGeom prst="rect">
            <a:avLst/>
          </a:prstGeom>
          <a:noFill/>
          <a:ln/>
        </p:spPr>
        <p:txBody>
          <a:bodyPr wrap="square" rtlCol="0" anchor="ctr"/>
          <a:lstStyle/>
          <a:p>
            <a:pPr marL="0" indent="0" algn="ctr">
              <a:buNone/>
            </a:pPr>
            <a:r>
              <a:rPr lang="en-US" sz="1200" b="1">
                <a:ea typeface="Calibri" pitchFamily="34" charset="-122"/>
                <a:cs typeface="Calibri" pitchFamily="34" charset="-120"/>
              </a:rPr>
              <a:t>Oct 28, 2024</a:t>
            </a:r>
            <a:endParaRPr lang="en-US" sz="1200"/>
          </a:p>
        </p:txBody>
      </p:sp>
      <p:sp>
        <p:nvSpPr>
          <p:cNvPr id="19" name="Text 18">
            <a:extLst>
              <a:ext uri="{FF2B5EF4-FFF2-40B4-BE49-F238E27FC236}">
                <a16:creationId xmlns:a16="http://schemas.microsoft.com/office/drawing/2014/main" id="{B5DEB832-4CDC-61AD-11AE-46B1ECC6BC03}"/>
              </a:ext>
            </a:extLst>
          </p:cNvPr>
          <p:cNvSpPr/>
          <p:nvPr/>
        </p:nvSpPr>
        <p:spPr>
          <a:xfrm>
            <a:off x="3681484" y="3132278"/>
            <a:ext cx="2162366" cy="783901"/>
          </a:xfrm>
          <a:prstGeom prst="rect">
            <a:avLst/>
          </a:prstGeom>
          <a:noFill/>
          <a:ln/>
        </p:spPr>
        <p:txBody>
          <a:bodyPr wrap="square" rtlCol="0" anchor="ctr"/>
          <a:lstStyle/>
          <a:p>
            <a:pPr marL="0" indent="0">
              <a:buNone/>
            </a:pPr>
            <a:r>
              <a:rPr lang="en-US" sz="1800" b="1">
                <a:ea typeface="Calibri" pitchFamily="34" charset="-122"/>
                <a:cs typeface="Calibri" pitchFamily="34" charset="-120"/>
              </a:rPr>
              <a:t>AI Overviews scale globally</a:t>
            </a:r>
            <a:endParaRPr lang="en-US" sz="1800"/>
          </a:p>
        </p:txBody>
      </p:sp>
      <p:sp>
        <p:nvSpPr>
          <p:cNvPr id="20" name="Text 19">
            <a:extLst>
              <a:ext uri="{FF2B5EF4-FFF2-40B4-BE49-F238E27FC236}">
                <a16:creationId xmlns:a16="http://schemas.microsoft.com/office/drawing/2014/main" id="{602DEC18-D53A-076D-8F66-F82F71896869}"/>
              </a:ext>
            </a:extLst>
          </p:cNvPr>
          <p:cNvSpPr/>
          <p:nvPr/>
        </p:nvSpPr>
        <p:spPr>
          <a:xfrm>
            <a:off x="3596195" y="3932538"/>
            <a:ext cx="2162366" cy="896392"/>
          </a:xfrm>
          <a:prstGeom prst="rect">
            <a:avLst/>
          </a:prstGeom>
          <a:noFill/>
          <a:ln/>
        </p:spPr>
        <p:txBody>
          <a:bodyPr wrap="square" rtlCol="0" anchor="ctr"/>
          <a:lstStyle/>
          <a:p>
            <a:pPr marL="0" indent="0">
              <a:buNone/>
            </a:pPr>
            <a:r>
              <a:rPr lang="en-US" sz="1400">
                <a:ea typeface="Calibri" pitchFamily="34" charset="-122"/>
                <a:cs typeface="Calibri" pitchFamily="34" charset="-120"/>
              </a:rPr>
              <a:t>Google expands to 100+ countries, reaching 1B+ monthly users.</a:t>
            </a:r>
            <a:endParaRPr lang="en-US" sz="1400"/>
          </a:p>
        </p:txBody>
      </p:sp>
      <p:sp>
        <p:nvSpPr>
          <p:cNvPr id="26" name="Text 24">
            <a:extLst>
              <a:ext uri="{FF2B5EF4-FFF2-40B4-BE49-F238E27FC236}">
                <a16:creationId xmlns:a16="http://schemas.microsoft.com/office/drawing/2014/main" id="{E9BF28CC-7CE6-3FF7-5E32-77420ACBF124}"/>
              </a:ext>
            </a:extLst>
          </p:cNvPr>
          <p:cNvSpPr/>
          <p:nvPr/>
        </p:nvSpPr>
        <p:spPr>
          <a:xfrm>
            <a:off x="6684663" y="5645502"/>
            <a:ext cx="1371600" cy="228600"/>
          </a:xfrm>
          <a:prstGeom prst="rect">
            <a:avLst/>
          </a:prstGeom>
          <a:noFill/>
          <a:ln/>
        </p:spPr>
        <p:txBody>
          <a:bodyPr wrap="square" rtlCol="0" anchor="ctr"/>
          <a:lstStyle/>
          <a:p>
            <a:pPr marL="0" indent="0" algn="ctr">
              <a:buNone/>
            </a:pPr>
            <a:r>
              <a:rPr lang="en-US" sz="1200" b="1">
                <a:solidFill>
                  <a:schemeClr val="bg1"/>
                </a:solidFill>
                <a:ea typeface="Calibri" pitchFamily="34" charset="-122"/>
                <a:cs typeface="Calibri" pitchFamily="34" charset="-120"/>
              </a:rPr>
              <a:t>Oct 6, 2025</a:t>
            </a:r>
            <a:endParaRPr lang="en-US" sz="1200">
              <a:solidFill>
                <a:schemeClr val="bg1"/>
              </a:solidFill>
            </a:endParaRPr>
          </a:p>
        </p:txBody>
      </p:sp>
      <p:sp>
        <p:nvSpPr>
          <p:cNvPr id="28" name="Text 25">
            <a:extLst>
              <a:ext uri="{FF2B5EF4-FFF2-40B4-BE49-F238E27FC236}">
                <a16:creationId xmlns:a16="http://schemas.microsoft.com/office/drawing/2014/main" id="{9F016321-309E-AD02-9B2B-67FE1146C3C1}"/>
              </a:ext>
            </a:extLst>
          </p:cNvPr>
          <p:cNvSpPr/>
          <p:nvPr/>
        </p:nvSpPr>
        <p:spPr>
          <a:xfrm>
            <a:off x="6163172" y="2959678"/>
            <a:ext cx="2066428" cy="956501"/>
          </a:xfrm>
          <a:prstGeom prst="rect">
            <a:avLst/>
          </a:prstGeom>
          <a:noFill/>
          <a:ln/>
        </p:spPr>
        <p:txBody>
          <a:bodyPr wrap="square" rtlCol="0" anchor="ctr"/>
          <a:lstStyle/>
          <a:p>
            <a:pPr marL="0" indent="0">
              <a:buNone/>
            </a:pPr>
            <a:r>
              <a:rPr lang="en-US" sz="1800" b="1">
                <a:solidFill>
                  <a:srgbClr val="FFFFFF"/>
                </a:solidFill>
                <a:ea typeface="Calibri" pitchFamily="34" charset="-122"/>
                <a:cs typeface="Calibri" pitchFamily="34" charset="-120"/>
              </a:rPr>
              <a:t>ChatGPT hits 800M weekly active users</a:t>
            </a:r>
            <a:endParaRPr lang="en-US" sz="1800"/>
          </a:p>
        </p:txBody>
      </p:sp>
      <p:sp>
        <p:nvSpPr>
          <p:cNvPr id="30" name="Text 26">
            <a:extLst>
              <a:ext uri="{FF2B5EF4-FFF2-40B4-BE49-F238E27FC236}">
                <a16:creationId xmlns:a16="http://schemas.microsoft.com/office/drawing/2014/main" id="{2D4A2F5D-EB23-3DDC-14A8-54ADCD777B0D}"/>
              </a:ext>
            </a:extLst>
          </p:cNvPr>
          <p:cNvSpPr/>
          <p:nvPr/>
        </p:nvSpPr>
        <p:spPr>
          <a:xfrm>
            <a:off x="6168172" y="3916179"/>
            <a:ext cx="2380324" cy="848302"/>
          </a:xfrm>
          <a:prstGeom prst="rect">
            <a:avLst/>
          </a:prstGeom>
          <a:noFill/>
          <a:ln/>
        </p:spPr>
        <p:txBody>
          <a:bodyPr wrap="square" rtlCol="0" anchor="ctr"/>
          <a:lstStyle/>
          <a:p>
            <a:pPr marL="0" indent="0">
              <a:buNone/>
            </a:pPr>
            <a:r>
              <a:rPr lang="en-US" sz="1400">
                <a:solidFill>
                  <a:schemeClr val="bg1"/>
                </a:solidFill>
                <a:ea typeface="Calibri" pitchFamily="34" charset="-122"/>
                <a:cs typeface="Calibri" pitchFamily="34" charset="-120"/>
              </a:rPr>
              <a:t>Consumer adoption reaches internet-scale, reshaping discovery habits.</a:t>
            </a:r>
            <a:endParaRPr lang="en-US" sz="1400">
              <a:solidFill>
                <a:schemeClr val="bg1"/>
              </a:solidFill>
            </a:endParaRPr>
          </a:p>
        </p:txBody>
      </p:sp>
      <p:sp>
        <p:nvSpPr>
          <p:cNvPr id="34" name="Text 31">
            <a:extLst>
              <a:ext uri="{FF2B5EF4-FFF2-40B4-BE49-F238E27FC236}">
                <a16:creationId xmlns:a16="http://schemas.microsoft.com/office/drawing/2014/main" id="{4FA1FD47-7C65-3B2B-7289-9716297AF496}"/>
              </a:ext>
            </a:extLst>
          </p:cNvPr>
          <p:cNvSpPr/>
          <p:nvPr/>
        </p:nvSpPr>
        <p:spPr>
          <a:xfrm>
            <a:off x="9478073" y="5645502"/>
            <a:ext cx="1371600" cy="228600"/>
          </a:xfrm>
          <a:prstGeom prst="rect">
            <a:avLst/>
          </a:prstGeom>
          <a:noFill/>
          <a:ln/>
        </p:spPr>
        <p:txBody>
          <a:bodyPr wrap="square" rtlCol="0" anchor="ctr"/>
          <a:lstStyle/>
          <a:p>
            <a:pPr marL="0" indent="0" algn="ctr">
              <a:buNone/>
            </a:pPr>
            <a:r>
              <a:rPr lang="en-US" sz="1200" b="1">
                <a:ea typeface="Calibri" pitchFamily="34" charset="-122"/>
                <a:cs typeface="Calibri" pitchFamily="34" charset="-120"/>
              </a:rPr>
              <a:t>Jan 16, 2026</a:t>
            </a:r>
            <a:endParaRPr lang="en-US" sz="1200"/>
          </a:p>
        </p:txBody>
      </p:sp>
      <p:sp>
        <p:nvSpPr>
          <p:cNvPr id="35" name="Text 32">
            <a:extLst>
              <a:ext uri="{FF2B5EF4-FFF2-40B4-BE49-F238E27FC236}">
                <a16:creationId xmlns:a16="http://schemas.microsoft.com/office/drawing/2014/main" id="{FB76E831-CAE5-251F-50AB-F34D70013B0A}"/>
              </a:ext>
            </a:extLst>
          </p:cNvPr>
          <p:cNvSpPr/>
          <p:nvPr/>
        </p:nvSpPr>
        <p:spPr>
          <a:xfrm>
            <a:off x="9017390" y="2975430"/>
            <a:ext cx="2761860" cy="620912"/>
          </a:xfrm>
          <a:prstGeom prst="rect">
            <a:avLst/>
          </a:prstGeom>
          <a:noFill/>
          <a:ln/>
        </p:spPr>
        <p:txBody>
          <a:bodyPr wrap="square" rtlCol="0" anchor="ctr"/>
          <a:lstStyle/>
          <a:p>
            <a:pPr marL="0" indent="0">
              <a:buNone/>
            </a:pPr>
            <a:r>
              <a:rPr lang="en-US" sz="1800" b="1">
                <a:ea typeface="Calibri" pitchFamily="34" charset="-122"/>
                <a:cs typeface="Calibri" pitchFamily="34" charset="-120"/>
              </a:rPr>
              <a:t>ChatGPT begins testing ads</a:t>
            </a:r>
          </a:p>
        </p:txBody>
      </p:sp>
      <p:sp>
        <p:nvSpPr>
          <p:cNvPr id="36" name="Text 33">
            <a:extLst>
              <a:ext uri="{FF2B5EF4-FFF2-40B4-BE49-F238E27FC236}">
                <a16:creationId xmlns:a16="http://schemas.microsoft.com/office/drawing/2014/main" id="{185033C4-1735-8E06-C943-7B8CE7188E31}"/>
              </a:ext>
            </a:extLst>
          </p:cNvPr>
          <p:cNvSpPr/>
          <p:nvPr/>
        </p:nvSpPr>
        <p:spPr>
          <a:xfrm>
            <a:off x="8964175" y="3897487"/>
            <a:ext cx="2448724" cy="1649048"/>
          </a:xfrm>
          <a:prstGeom prst="rect">
            <a:avLst/>
          </a:prstGeom>
          <a:noFill/>
          <a:ln/>
        </p:spPr>
        <p:txBody>
          <a:bodyPr wrap="square" rtlCol="0" anchor="ctr"/>
          <a:lstStyle/>
          <a:p>
            <a:pPr marL="0" indent="0">
              <a:buNone/>
            </a:pPr>
            <a:r>
              <a:rPr lang="en-US" sz="1400">
                <a:ea typeface="Calibri" pitchFamily="34" charset="-122"/>
                <a:cs typeface="Calibri" pitchFamily="34" charset="-120"/>
              </a:rPr>
              <a:t>Sponsored placements launch for Free/Go users, signaling AI search is moving toward paid distribution and “sponsored answers” alongside organic results</a:t>
            </a:r>
            <a:endParaRPr lang="en-US" sz="1400"/>
          </a:p>
        </p:txBody>
      </p:sp>
      <p:sp>
        <p:nvSpPr>
          <p:cNvPr id="41" name="Shape 6">
            <a:extLst>
              <a:ext uri="{FF2B5EF4-FFF2-40B4-BE49-F238E27FC236}">
                <a16:creationId xmlns:a16="http://schemas.microsoft.com/office/drawing/2014/main" id="{3C772746-076E-1D87-3773-0BB2F01BB30B}"/>
              </a:ext>
            </a:extLst>
          </p:cNvPr>
          <p:cNvSpPr/>
          <p:nvPr/>
        </p:nvSpPr>
        <p:spPr>
          <a:xfrm flipV="1">
            <a:off x="639434" y="6573929"/>
            <a:ext cx="10808738" cy="2759"/>
          </a:xfrm>
          <a:prstGeom prst="line">
            <a:avLst/>
          </a:prstGeom>
          <a:ln/>
        </p:spPr>
        <p:style>
          <a:lnRef idx="1">
            <a:schemeClr val="accent6"/>
          </a:lnRef>
          <a:fillRef idx="0">
            <a:schemeClr val="accent6"/>
          </a:fillRef>
          <a:effectRef idx="0">
            <a:schemeClr val="accent6"/>
          </a:effectRef>
          <a:fontRef idx="minor">
            <a:schemeClr val="tx1"/>
          </a:fontRef>
        </p:style>
        <p:txBody>
          <a:bodyPr/>
          <a:lstStyle/>
          <a:p>
            <a:endParaRPr lang="en-US"/>
          </a:p>
        </p:txBody>
      </p:sp>
      <p:sp>
        <p:nvSpPr>
          <p:cNvPr id="42" name="Shape 7">
            <a:extLst>
              <a:ext uri="{FF2B5EF4-FFF2-40B4-BE49-F238E27FC236}">
                <a16:creationId xmlns:a16="http://schemas.microsoft.com/office/drawing/2014/main" id="{CB291C24-938C-7D09-D951-79A2BCD2190D}"/>
              </a:ext>
            </a:extLst>
          </p:cNvPr>
          <p:cNvSpPr/>
          <p:nvPr/>
        </p:nvSpPr>
        <p:spPr>
          <a:xfrm>
            <a:off x="1762360" y="6478068"/>
            <a:ext cx="210312" cy="210312"/>
          </a:xfrm>
          <a:prstGeom prst="ellipse">
            <a:avLst/>
          </a:prstGeom>
          <a:solidFill>
            <a:schemeClr val="accent5"/>
          </a:solidFill>
          <a:ln w="12700">
            <a:solidFill>
              <a:srgbClr val="FFFFFF">
                <a:alpha val="30000"/>
              </a:srgbClr>
            </a:solidFill>
            <a:prstDash val="solid"/>
          </a:ln>
          <a:effectLst>
            <a:outerShdw blurRad="31750" dist="19050" dir="2700000" algn="bl" rotWithShape="0">
              <a:srgbClr val="000000">
                <a:alpha val="25000"/>
              </a:srgbClr>
            </a:outerShdw>
          </a:effectLst>
        </p:spPr>
        <p:txBody>
          <a:bodyPr/>
          <a:lstStyle/>
          <a:p>
            <a:endParaRPr lang="en-US">
              <a:solidFill>
                <a:schemeClr val="accent5"/>
              </a:solidFill>
            </a:endParaRPr>
          </a:p>
        </p:txBody>
      </p:sp>
      <p:sp>
        <p:nvSpPr>
          <p:cNvPr id="43" name="Shape 14">
            <a:extLst>
              <a:ext uri="{FF2B5EF4-FFF2-40B4-BE49-F238E27FC236}">
                <a16:creationId xmlns:a16="http://schemas.microsoft.com/office/drawing/2014/main" id="{269CAA3E-80DD-E06E-C1A7-60FD47FC4CCB}"/>
              </a:ext>
            </a:extLst>
          </p:cNvPr>
          <p:cNvSpPr/>
          <p:nvPr/>
        </p:nvSpPr>
        <p:spPr>
          <a:xfrm>
            <a:off x="4524220" y="6478580"/>
            <a:ext cx="210312" cy="210312"/>
          </a:xfrm>
          <a:prstGeom prst="ellipse">
            <a:avLst/>
          </a:prstGeom>
          <a:solidFill>
            <a:schemeClr val="accent4"/>
          </a:solidFill>
          <a:ln w="12700">
            <a:solidFill>
              <a:srgbClr val="FFFFFF">
                <a:alpha val="30000"/>
              </a:srgbClr>
            </a:solidFill>
            <a:prstDash val="solid"/>
          </a:ln>
          <a:effectLst>
            <a:outerShdw blurRad="31750" dist="19050" dir="2700000" algn="bl" rotWithShape="0">
              <a:srgbClr val="000000">
                <a:alpha val="25000"/>
              </a:srgbClr>
            </a:outerShdw>
          </a:effectLst>
        </p:spPr>
        <p:txBody>
          <a:bodyPr/>
          <a:lstStyle/>
          <a:p>
            <a:endParaRPr lang="en-US"/>
          </a:p>
        </p:txBody>
      </p:sp>
      <p:sp>
        <p:nvSpPr>
          <p:cNvPr id="44" name="Shape 21">
            <a:extLst>
              <a:ext uri="{FF2B5EF4-FFF2-40B4-BE49-F238E27FC236}">
                <a16:creationId xmlns:a16="http://schemas.microsoft.com/office/drawing/2014/main" id="{E6E40781-9016-CAC0-7E80-7FA4341A8F81}"/>
              </a:ext>
            </a:extLst>
          </p:cNvPr>
          <p:cNvSpPr/>
          <p:nvPr/>
        </p:nvSpPr>
        <p:spPr>
          <a:xfrm>
            <a:off x="7247158" y="6463053"/>
            <a:ext cx="210312" cy="210312"/>
          </a:xfrm>
          <a:prstGeom prst="ellipse">
            <a:avLst/>
          </a:prstGeom>
          <a:solidFill>
            <a:schemeClr val="accent3"/>
          </a:solidFill>
          <a:ln w="12700">
            <a:solidFill>
              <a:srgbClr val="FFFFFF">
                <a:alpha val="30000"/>
              </a:srgbClr>
            </a:solidFill>
            <a:prstDash val="solid"/>
          </a:ln>
          <a:effectLst>
            <a:outerShdw blurRad="31750" dist="19050" dir="2700000" algn="bl" rotWithShape="0">
              <a:srgbClr val="000000">
                <a:alpha val="25000"/>
              </a:srgbClr>
            </a:outerShdw>
          </a:effectLst>
        </p:spPr>
        <p:txBody>
          <a:bodyPr/>
          <a:lstStyle/>
          <a:p>
            <a:endParaRPr lang="en-US"/>
          </a:p>
        </p:txBody>
      </p:sp>
      <p:sp>
        <p:nvSpPr>
          <p:cNvPr id="45" name="Shape 28">
            <a:extLst>
              <a:ext uri="{FF2B5EF4-FFF2-40B4-BE49-F238E27FC236}">
                <a16:creationId xmlns:a16="http://schemas.microsoft.com/office/drawing/2014/main" id="{165E9B35-2DFD-4202-89D3-F297F278AC6A}"/>
              </a:ext>
            </a:extLst>
          </p:cNvPr>
          <p:cNvSpPr/>
          <p:nvPr/>
        </p:nvSpPr>
        <p:spPr>
          <a:xfrm>
            <a:off x="10119346" y="6444488"/>
            <a:ext cx="210312" cy="210312"/>
          </a:xfrm>
          <a:prstGeom prst="ellipse">
            <a:avLst/>
          </a:prstGeom>
          <a:solidFill>
            <a:schemeClr val="accent2"/>
          </a:solidFill>
          <a:ln w="12700">
            <a:solidFill>
              <a:srgbClr val="FFFFFF">
                <a:alpha val="30000"/>
              </a:srgbClr>
            </a:solidFill>
            <a:prstDash val="solid"/>
          </a:ln>
          <a:effectLst>
            <a:outerShdw blurRad="31750" dist="19050" dir="2700000" algn="bl" rotWithShape="0">
              <a:srgbClr val="000000">
                <a:alpha val="25000"/>
              </a:srgbClr>
            </a:outerShdw>
          </a:effectLst>
        </p:spPr>
        <p:txBody>
          <a:bodyPr/>
          <a:lstStyle/>
          <a:p>
            <a:endParaRPr lang="en-US"/>
          </a:p>
        </p:txBody>
      </p:sp>
    </p:spTree>
    <p:extLst>
      <p:ext uri="{BB962C8B-B14F-4D97-AF65-F5344CB8AC3E}">
        <p14:creationId xmlns:p14="http://schemas.microsoft.com/office/powerpoint/2010/main" val="3185314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9891E-00CC-04C1-FFD3-C679170D219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8302814-DF54-0E17-5D72-184C24C1A1E1}"/>
              </a:ext>
            </a:extLst>
          </p:cNvPr>
          <p:cNvSpPr>
            <a:spLocks noGrp="1"/>
          </p:cNvSpPr>
          <p:nvPr>
            <p:ph type="title"/>
          </p:nvPr>
        </p:nvSpPr>
        <p:spPr>
          <a:xfrm>
            <a:off x="219075" y="585788"/>
            <a:ext cx="12074525" cy="831850"/>
          </a:xfrm>
        </p:spPr>
        <p:txBody>
          <a:bodyPr/>
          <a:lstStyle/>
          <a:p>
            <a:r>
              <a:rPr lang="en-US"/>
              <a:t>PEOPLE NO LONGER SEARCH, THEY ASK</a:t>
            </a:r>
          </a:p>
        </p:txBody>
      </p:sp>
      <p:sp>
        <p:nvSpPr>
          <p:cNvPr id="2" name="Slide Number Placeholder 1">
            <a:extLst>
              <a:ext uri="{FF2B5EF4-FFF2-40B4-BE49-F238E27FC236}">
                <a16:creationId xmlns:a16="http://schemas.microsoft.com/office/drawing/2014/main" id="{9F7A1BB9-C337-C5A3-D78C-6D3A42AA1E8D}"/>
              </a:ext>
            </a:extLst>
          </p:cNvPr>
          <p:cNvSpPr>
            <a:spLocks noGrp="1"/>
          </p:cNvSpPr>
          <p:nvPr>
            <p:ph type="sldNum" sz="quarter" idx="12"/>
          </p:nvPr>
        </p:nvSpPr>
        <p:spPr>
          <a:xfrm>
            <a:off x="11779250" y="6540500"/>
            <a:ext cx="354250" cy="254000"/>
          </a:xfrm>
        </p:spPr>
        <p:txBody>
          <a:bodyPr/>
          <a:lstStyle/>
          <a:p>
            <a:fld id="{6D05E8BB-FF85-4620-9298-8F3F48811131}" type="slidenum">
              <a:rPr lang="en-US" smtClean="0"/>
              <a:t>8</a:t>
            </a:fld>
            <a:endParaRPr lang="en-US"/>
          </a:p>
        </p:txBody>
      </p:sp>
      <p:sp>
        <p:nvSpPr>
          <p:cNvPr id="8" name="Text Placeholder 7">
            <a:extLst>
              <a:ext uri="{FF2B5EF4-FFF2-40B4-BE49-F238E27FC236}">
                <a16:creationId xmlns:a16="http://schemas.microsoft.com/office/drawing/2014/main" id="{8020F6D3-05B2-9188-7B3D-6212944C5787}"/>
              </a:ext>
            </a:extLst>
          </p:cNvPr>
          <p:cNvSpPr>
            <a:spLocks noGrp="1"/>
          </p:cNvSpPr>
          <p:nvPr>
            <p:ph type="body" sz="quarter" idx="13"/>
          </p:nvPr>
        </p:nvSpPr>
        <p:spPr>
          <a:xfrm>
            <a:off x="246888" y="297370"/>
            <a:ext cx="2670048" cy="155448"/>
          </a:xfrm>
        </p:spPr>
        <p:txBody>
          <a:bodyPr/>
          <a:lstStyle/>
          <a:p>
            <a:r>
              <a:rPr lang="en-US"/>
              <a:t>HOW AI IS RESHAPING SEARCH STRATEGY</a:t>
            </a:r>
          </a:p>
        </p:txBody>
      </p:sp>
      <p:sp>
        <p:nvSpPr>
          <p:cNvPr id="9" name="Text Placeholder 8">
            <a:extLst>
              <a:ext uri="{FF2B5EF4-FFF2-40B4-BE49-F238E27FC236}">
                <a16:creationId xmlns:a16="http://schemas.microsoft.com/office/drawing/2014/main" id="{99757730-7CB3-E2A8-9C96-46F8B00A3C0B}"/>
              </a:ext>
            </a:extLst>
          </p:cNvPr>
          <p:cNvSpPr>
            <a:spLocks noGrp="1"/>
          </p:cNvSpPr>
          <p:nvPr>
            <p:ph type="body" sz="quarter" idx="14"/>
          </p:nvPr>
        </p:nvSpPr>
        <p:spPr>
          <a:xfrm>
            <a:off x="228601" y="2564678"/>
            <a:ext cx="5029200" cy="3707534"/>
          </a:xfrm>
        </p:spPr>
        <p:txBody>
          <a:bodyPr/>
          <a:lstStyle/>
          <a:p>
            <a:pPr marL="0" indent="0">
              <a:spcAft>
                <a:spcPts val="1800"/>
              </a:spcAft>
              <a:buNone/>
            </a:pPr>
            <a:r>
              <a:rPr lang="en-US" sz="1800" b="1"/>
              <a:t>The Rise of Zero-Clicks Searches: </a:t>
            </a:r>
          </a:p>
          <a:p>
            <a:pPr>
              <a:spcAft>
                <a:spcPts val="1800"/>
              </a:spcAft>
            </a:pPr>
            <a:r>
              <a:rPr lang="en-US" sz="1800"/>
              <a:t>When AI Overviews appear in search results, 58% result in zero clicks.</a:t>
            </a:r>
          </a:p>
          <a:p>
            <a:pPr>
              <a:spcAft>
                <a:spcPts val="1800"/>
              </a:spcAft>
            </a:pPr>
            <a:r>
              <a:rPr lang="en-US" sz="1800"/>
              <a:t>In 2026, it’s expected to reach 75%.</a:t>
            </a:r>
          </a:p>
        </p:txBody>
      </p:sp>
      <p:sp>
        <p:nvSpPr>
          <p:cNvPr id="10" name="Text Placeholder 9">
            <a:extLst>
              <a:ext uri="{FF2B5EF4-FFF2-40B4-BE49-F238E27FC236}">
                <a16:creationId xmlns:a16="http://schemas.microsoft.com/office/drawing/2014/main" id="{B50B1335-EE9C-E03C-733D-09B3CA36BA7F}"/>
              </a:ext>
            </a:extLst>
          </p:cNvPr>
          <p:cNvSpPr>
            <a:spLocks noGrp="1"/>
          </p:cNvSpPr>
          <p:nvPr>
            <p:ph type="body" sz="quarter" idx="15"/>
          </p:nvPr>
        </p:nvSpPr>
        <p:spPr>
          <a:xfrm>
            <a:off x="263520" y="1299802"/>
            <a:ext cx="11652250" cy="550862"/>
          </a:xfrm>
        </p:spPr>
        <p:txBody>
          <a:bodyPr/>
          <a:lstStyle/>
          <a:p>
            <a:r>
              <a:rPr lang="en-US"/>
              <a:t>From Keywords to Conversations</a:t>
            </a:r>
          </a:p>
        </p:txBody>
      </p:sp>
      <p:pic>
        <p:nvPicPr>
          <p:cNvPr id="3" name="Picture 2">
            <a:extLst>
              <a:ext uri="{FF2B5EF4-FFF2-40B4-BE49-F238E27FC236}">
                <a16:creationId xmlns:a16="http://schemas.microsoft.com/office/drawing/2014/main" id="{0069C5F9-FE90-B529-5783-54B66681638D}"/>
              </a:ext>
            </a:extLst>
          </p:cNvPr>
          <p:cNvPicPr>
            <a:picLocks noChangeAspect="1"/>
          </p:cNvPicPr>
          <p:nvPr/>
        </p:nvPicPr>
        <p:blipFill>
          <a:blip r:embed="rId4"/>
          <a:srcRect t="9510"/>
          <a:stretch>
            <a:fillRect/>
          </a:stretch>
        </p:blipFill>
        <p:spPr>
          <a:xfrm>
            <a:off x="5942328" y="2242303"/>
            <a:ext cx="5924156" cy="3452279"/>
          </a:xfrm>
          <a:prstGeom prst="rect">
            <a:avLst/>
          </a:prstGeom>
        </p:spPr>
      </p:pic>
      <p:sp>
        <p:nvSpPr>
          <p:cNvPr id="4" name="Text Placeholder 9">
            <a:extLst>
              <a:ext uri="{FF2B5EF4-FFF2-40B4-BE49-F238E27FC236}">
                <a16:creationId xmlns:a16="http://schemas.microsoft.com/office/drawing/2014/main" id="{E32A740F-5DBB-2700-9324-0BDF7011F1B1}"/>
              </a:ext>
            </a:extLst>
          </p:cNvPr>
          <p:cNvSpPr txBox="1">
            <a:spLocks/>
          </p:cNvSpPr>
          <p:nvPr/>
        </p:nvSpPr>
        <p:spPr>
          <a:xfrm>
            <a:off x="5884732" y="1905391"/>
            <a:ext cx="5149993" cy="55086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None/>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Percentage of Google Zero-Click Searches </a:t>
            </a:r>
          </a:p>
        </p:txBody>
      </p:sp>
      <p:sp>
        <p:nvSpPr>
          <p:cNvPr id="5" name="Text 5">
            <a:extLst>
              <a:ext uri="{FF2B5EF4-FFF2-40B4-BE49-F238E27FC236}">
                <a16:creationId xmlns:a16="http://schemas.microsoft.com/office/drawing/2014/main" id="{AF69CA01-4992-017E-CB50-72BD374D2D27}"/>
              </a:ext>
            </a:extLst>
          </p:cNvPr>
          <p:cNvSpPr/>
          <p:nvPr/>
        </p:nvSpPr>
        <p:spPr>
          <a:xfrm>
            <a:off x="9395791" y="6382205"/>
            <a:ext cx="1918651" cy="426720"/>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5"/>
              </a:rPr>
              <a:t>Search Engine Land</a:t>
            </a:r>
            <a:endParaRPr lang="en-US" sz="1200"/>
          </a:p>
        </p:txBody>
      </p:sp>
    </p:spTree>
    <p:extLst>
      <p:ext uri="{BB962C8B-B14F-4D97-AF65-F5344CB8AC3E}">
        <p14:creationId xmlns:p14="http://schemas.microsoft.com/office/powerpoint/2010/main" val="2000976745"/>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2AA5-848D-5FC5-40BD-977046BB41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FCC2B2-1264-4D91-772B-DBA0311F6624}"/>
              </a:ext>
            </a:extLst>
          </p:cNvPr>
          <p:cNvSpPr>
            <a:spLocks noGrp="1"/>
          </p:cNvSpPr>
          <p:nvPr>
            <p:ph type="title"/>
          </p:nvPr>
        </p:nvSpPr>
        <p:spPr>
          <a:xfrm>
            <a:off x="219456" y="585216"/>
            <a:ext cx="11590742" cy="832104"/>
          </a:xfrm>
        </p:spPr>
        <p:txBody>
          <a:bodyPr/>
          <a:lstStyle/>
          <a:p>
            <a:r>
              <a:rPr lang="en-US" b="1"/>
              <a:t>AI SEARCH ADOPTION + TRAFFIC SHIFT</a:t>
            </a:r>
            <a:endParaRPr lang="en-US"/>
          </a:p>
        </p:txBody>
      </p:sp>
      <p:sp>
        <p:nvSpPr>
          <p:cNvPr id="2" name="Slide Number Placeholder 1">
            <a:extLst>
              <a:ext uri="{FF2B5EF4-FFF2-40B4-BE49-F238E27FC236}">
                <a16:creationId xmlns:a16="http://schemas.microsoft.com/office/drawing/2014/main" id="{AEC37C74-00DB-4FC7-C1A8-0AA04DF3BC78}"/>
              </a:ext>
            </a:extLst>
          </p:cNvPr>
          <p:cNvSpPr>
            <a:spLocks noGrp="1"/>
          </p:cNvSpPr>
          <p:nvPr>
            <p:ph type="sldNum" sz="quarter" idx="12"/>
          </p:nvPr>
        </p:nvSpPr>
        <p:spPr/>
        <p:txBody>
          <a:bodyPr/>
          <a:lstStyle/>
          <a:p>
            <a:fld id="{6D05E8BB-FF85-4620-9298-8F3F48811131}" type="slidenum">
              <a:rPr lang="en-US" smtClean="0"/>
              <a:t>9</a:t>
            </a:fld>
            <a:endParaRPr lang="en-US"/>
          </a:p>
        </p:txBody>
      </p:sp>
      <p:sp>
        <p:nvSpPr>
          <p:cNvPr id="8" name="Text Placeholder 7">
            <a:extLst>
              <a:ext uri="{FF2B5EF4-FFF2-40B4-BE49-F238E27FC236}">
                <a16:creationId xmlns:a16="http://schemas.microsoft.com/office/drawing/2014/main" id="{C9B320D0-BCF3-1E54-C8C8-E6A447170FEE}"/>
              </a:ext>
            </a:extLst>
          </p:cNvPr>
          <p:cNvSpPr>
            <a:spLocks noGrp="1"/>
          </p:cNvSpPr>
          <p:nvPr>
            <p:ph type="body" sz="quarter" idx="13"/>
          </p:nvPr>
        </p:nvSpPr>
        <p:spPr/>
        <p:txBody>
          <a:bodyPr/>
          <a:lstStyle/>
          <a:p>
            <a:r>
              <a:rPr lang="en-US"/>
              <a:t>HOW AI IS RESHAPING SEARCH STRATEGY</a:t>
            </a:r>
          </a:p>
        </p:txBody>
      </p:sp>
      <p:sp>
        <p:nvSpPr>
          <p:cNvPr id="9" name="Text Placeholder 8">
            <a:extLst>
              <a:ext uri="{FF2B5EF4-FFF2-40B4-BE49-F238E27FC236}">
                <a16:creationId xmlns:a16="http://schemas.microsoft.com/office/drawing/2014/main" id="{4E23F53C-00FE-B5C4-D1D6-AC7DDBB06F4F}"/>
              </a:ext>
            </a:extLst>
          </p:cNvPr>
          <p:cNvSpPr>
            <a:spLocks noGrp="1"/>
          </p:cNvSpPr>
          <p:nvPr>
            <p:ph type="body" sz="quarter" idx="14"/>
          </p:nvPr>
        </p:nvSpPr>
        <p:spPr>
          <a:xfrm>
            <a:off x="228600" y="2565250"/>
            <a:ext cx="5591755" cy="3504810"/>
          </a:xfrm>
        </p:spPr>
        <p:txBody>
          <a:bodyPr/>
          <a:lstStyle/>
          <a:p>
            <a:pPr>
              <a:spcAft>
                <a:spcPts val="1800"/>
              </a:spcAft>
            </a:pPr>
            <a:r>
              <a:rPr lang="en-US" sz="1800"/>
              <a:t>By 2028, LLM search traffic is projected to surpass traditional organic search</a:t>
            </a:r>
          </a:p>
          <a:p>
            <a:pPr>
              <a:spcAft>
                <a:spcPts val="1800"/>
              </a:spcAft>
            </a:pPr>
            <a:r>
              <a:rPr lang="en-US" sz="1800"/>
              <a:t>ChatGPT now has 900M+ weekly active users (growing 9x from 100M in November 2023 to over 900M by December 2025)</a:t>
            </a:r>
          </a:p>
          <a:p>
            <a:pPr>
              <a:spcAft>
                <a:spcPts val="1800"/>
              </a:spcAft>
            </a:pPr>
            <a:r>
              <a:rPr lang="en-US" sz="1800"/>
              <a:t>AI platforms only represent 3% of search engine traffic currently, but we're in a paradigm shift of consumer search behavior</a:t>
            </a:r>
          </a:p>
          <a:p>
            <a:pPr marL="0" indent="0">
              <a:spcAft>
                <a:spcPts val="1800"/>
              </a:spcAft>
              <a:buNone/>
            </a:pPr>
            <a:endParaRPr lang="en-US" sz="1800"/>
          </a:p>
          <a:p>
            <a:pPr marL="0" indent="0">
              <a:spcAft>
                <a:spcPts val="1800"/>
              </a:spcAft>
              <a:buNone/>
            </a:pPr>
            <a:endParaRPr lang="en-US" sz="1800"/>
          </a:p>
        </p:txBody>
      </p:sp>
      <p:sp>
        <p:nvSpPr>
          <p:cNvPr id="10" name="Text Placeholder 9">
            <a:extLst>
              <a:ext uri="{FF2B5EF4-FFF2-40B4-BE49-F238E27FC236}">
                <a16:creationId xmlns:a16="http://schemas.microsoft.com/office/drawing/2014/main" id="{9C06AAAC-1351-87B7-2A18-A7A5FA0FA16A}"/>
              </a:ext>
            </a:extLst>
          </p:cNvPr>
          <p:cNvSpPr>
            <a:spLocks noGrp="1"/>
          </p:cNvSpPr>
          <p:nvPr>
            <p:ph type="body" sz="quarter" idx="15"/>
          </p:nvPr>
        </p:nvSpPr>
        <p:spPr/>
        <p:txBody>
          <a:bodyPr/>
          <a:lstStyle/>
          <a:p>
            <a:r>
              <a:rPr lang="en-US"/>
              <a:t>The Velocity of Change</a:t>
            </a:r>
          </a:p>
        </p:txBody>
      </p:sp>
      <p:pic>
        <p:nvPicPr>
          <p:cNvPr id="1026" name="Picture 2" descr="AD_4nXfQPDrzn2UPTGTHHDG774PuvleO3U3mD-xDHBgfvP-X0vli7-LPm5X0gGF46mLwzg3ECbVHAP_qWSV3-YbNIB7ga6QaXZgRm0d3iTRjJ-AZv00SNrpiA_oOeQwoYQxEgKMSfxo1ZA?key=GLvVZDrrB_n5uusAuKWGAQ">
            <a:extLst>
              <a:ext uri="{FF2B5EF4-FFF2-40B4-BE49-F238E27FC236}">
                <a16:creationId xmlns:a16="http://schemas.microsoft.com/office/drawing/2014/main" id="{F3E85939-321C-E147-AE56-28C27D543C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31"/>
          <a:stretch>
            <a:fillRect/>
          </a:stretch>
        </p:blipFill>
        <p:spPr bwMode="auto">
          <a:xfrm>
            <a:off x="6096000" y="1608529"/>
            <a:ext cx="5753100" cy="4226052"/>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a:extLst>
              <a:ext uri="{FF2B5EF4-FFF2-40B4-BE49-F238E27FC236}">
                <a16:creationId xmlns:a16="http://schemas.microsoft.com/office/drawing/2014/main" id="{CFCC4370-9566-C359-6F5F-1F38C070ED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 5">
            <a:extLst>
              <a:ext uri="{FF2B5EF4-FFF2-40B4-BE49-F238E27FC236}">
                <a16:creationId xmlns:a16="http://schemas.microsoft.com/office/drawing/2014/main" id="{CC039907-DC92-4209-4585-049003183660}"/>
              </a:ext>
            </a:extLst>
          </p:cNvPr>
          <p:cNvSpPr/>
          <p:nvPr/>
        </p:nvSpPr>
        <p:spPr>
          <a:xfrm>
            <a:off x="7964557" y="6367780"/>
            <a:ext cx="3310129" cy="426720"/>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5"/>
              </a:rPr>
              <a:t>SemRush</a:t>
            </a:r>
            <a:r>
              <a:rPr lang="en-US" sz="1200">
                <a:ea typeface="Arial" pitchFamily="34" charset="-122"/>
                <a:cs typeface="Arial" pitchFamily="34" charset="-120"/>
              </a:rPr>
              <a:t> | </a:t>
            </a:r>
            <a:r>
              <a:rPr lang="en-US" sz="1200">
                <a:ea typeface="Arial" pitchFamily="34" charset="-122"/>
                <a:cs typeface="Arial" pitchFamily="34" charset="-120"/>
                <a:hlinkClick r:id="rId6"/>
              </a:rPr>
              <a:t>CNBC</a:t>
            </a:r>
            <a:r>
              <a:rPr lang="en-US" sz="1200">
                <a:ea typeface="Arial" pitchFamily="34" charset="-122"/>
                <a:cs typeface="Arial" pitchFamily="34" charset="-120"/>
              </a:rPr>
              <a:t> | </a:t>
            </a:r>
            <a:r>
              <a:rPr lang="en-US" sz="1200">
                <a:ea typeface="Arial" pitchFamily="34" charset="-122"/>
                <a:cs typeface="Arial" pitchFamily="34" charset="-120"/>
                <a:hlinkClick r:id="rId7"/>
              </a:rPr>
              <a:t>Seeking Alpha </a:t>
            </a:r>
            <a:r>
              <a:rPr lang="en-US" sz="1200">
                <a:ea typeface="Arial" pitchFamily="34" charset="-122"/>
                <a:cs typeface="Arial" pitchFamily="34" charset="-120"/>
              </a:rPr>
              <a:t>| </a:t>
            </a:r>
            <a:endParaRPr lang="en-US" sz="1200"/>
          </a:p>
        </p:txBody>
      </p:sp>
    </p:spTree>
    <p:extLst>
      <p:ext uri="{BB962C8B-B14F-4D97-AF65-F5344CB8AC3E}">
        <p14:creationId xmlns:p14="http://schemas.microsoft.com/office/powerpoint/2010/main" val="90275343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BBC71-FE05-E3BA-EC71-2EE9E2DDD15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F052C24-F4FF-8839-E9B3-AB61BC8C481D}"/>
              </a:ext>
            </a:extLst>
          </p:cNvPr>
          <p:cNvSpPr>
            <a:spLocks noGrp="1"/>
          </p:cNvSpPr>
          <p:nvPr>
            <p:ph type="title"/>
          </p:nvPr>
        </p:nvSpPr>
        <p:spPr>
          <a:xfrm>
            <a:off x="219455" y="585216"/>
            <a:ext cx="11559795" cy="832104"/>
          </a:xfrm>
        </p:spPr>
        <p:txBody>
          <a:bodyPr/>
          <a:lstStyle/>
          <a:p>
            <a:r>
              <a:rPr lang="en-US"/>
              <a:t>FROM KEYWORDS TO CONVERSATIONS</a:t>
            </a:r>
          </a:p>
        </p:txBody>
      </p:sp>
      <p:sp>
        <p:nvSpPr>
          <p:cNvPr id="2" name="Slide Number Placeholder 1">
            <a:extLst>
              <a:ext uri="{FF2B5EF4-FFF2-40B4-BE49-F238E27FC236}">
                <a16:creationId xmlns:a16="http://schemas.microsoft.com/office/drawing/2014/main" id="{F0B950E1-95F8-FD25-876C-2BC27C5F3F3B}"/>
              </a:ext>
            </a:extLst>
          </p:cNvPr>
          <p:cNvSpPr>
            <a:spLocks noGrp="1"/>
          </p:cNvSpPr>
          <p:nvPr>
            <p:ph type="sldNum" sz="quarter" idx="12"/>
          </p:nvPr>
        </p:nvSpPr>
        <p:spPr/>
        <p:txBody>
          <a:bodyPr/>
          <a:lstStyle/>
          <a:p>
            <a:fld id="{6D05E8BB-FF85-4620-9298-8F3F48811131}" type="slidenum">
              <a:rPr lang="en-US" smtClean="0"/>
              <a:t>10</a:t>
            </a:fld>
            <a:endParaRPr lang="en-US"/>
          </a:p>
        </p:txBody>
      </p:sp>
      <p:sp>
        <p:nvSpPr>
          <p:cNvPr id="8" name="Text Placeholder 7">
            <a:extLst>
              <a:ext uri="{FF2B5EF4-FFF2-40B4-BE49-F238E27FC236}">
                <a16:creationId xmlns:a16="http://schemas.microsoft.com/office/drawing/2014/main" id="{EDCA584F-5725-74AF-4B51-8C80770783D1}"/>
              </a:ext>
            </a:extLst>
          </p:cNvPr>
          <p:cNvSpPr>
            <a:spLocks noGrp="1"/>
          </p:cNvSpPr>
          <p:nvPr>
            <p:ph type="body" sz="quarter" idx="13"/>
          </p:nvPr>
        </p:nvSpPr>
        <p:spPr/>
        <p:txBody>
          <a:bodyPr/>
          <a:lstStyle/>
          <a:p>
            <a:r>
              <a:rPr lang="en-US"/>
              <a:t>HOW AI IS RESHAPING SEARCH STRATEGY</a:t>
            </a:r>
          </a:p>
        </p:txBody>
      </p:sp>
      <p:sp>
        <p:nvSpPr>
          <p:cNvPr id="9" name="Text Placeholder 8">
            <a:extLst>
              <a:ext uri="{FF2B5EF4-FFF2-40B4-BE49-F238E27FC236}">
                <a16:creationId xmlns:a16="http://schemas.microsoft.com/office/drawing/2014/main" id="{99095439-6645-5DBD-D0DC-C40D5F9AD3FC}"/>
              </a:ext>
            </a:extLst>
          </p:cNvPr>
          <p:cNvSpPr>
            <a:spLocks noGrp="1"/>
          </p:cNvSpPr>
          <p:nvPr>
            <p:ph type="body" sz="quarter" idx="14"/>
          </p:nvPr>
        </p:nvSpPr>
        <p:spPr>
          <a:xfrm>
            <a:off x="228601" y="2140871"/>
            <a:ext cx="5024718" cy="4408594"/>
          </a:xfrm>
        </p:spPr>
        <p:txBody>
          <a:bodyPr/>
          <a:lstStyle/>
          <a:p>
            <a:pPr marL="0" indent="0">
              <a:spcAft>
                <a:spcPts val="1200"/>
              </a:spcAft>
              <a:buNone/>
            </a:pPr>
            <a:r>
              <a:rPr lang="en-US" sz="1600" b="1"/>
              <a:t>SEO (Search Engine Optimization) </a:t>
            </a:r>
            <a:endParaRPr lang="en-US" sz="1600"/>
          </a:p>
          <a:p>
            <a:pPr>
              <a:spcAft>
                <a:spcPts val="600"/>
              </a:spcAft>
            </a:pPr>
            <a:r>
              <a:rPr lang="en-US" sz="1600"/>
              <a:t>‘Traditional Search’ based upon keyword ranking. </a:t>
            </a:r>
          </a:p>
          <a:p>
            <a:pPr>
              <a:spcAft>
                <a:spcPts val="600"/>
              </a:spcAft>
            </a:pPr>
            <a:r>
              <a:rPr lang="en-US" sz="1600"/>
              <a:t>Still relevant, but declining influence. Much of the foundational practices still apply.</a:t>
            </a:r>
          </a:p>
          <a:p>
            <a:pPr marL="0" indent="0">
              <a:spcBef>
                <a:spcPts val="600"/>
              </a:spcBef>
              <a:spcAft>
                <a:spcPts val="1200"/>
              </a:spcAft>
              <a:buNone/>
            </a:pPr>
            <a:r>
              <a:rPr lang="en-US" sz="1600" b="1"/>
              <a:t>GEO (Generative Engine Optimization)</a:t>
            </a:r>
            <a:r>
              <a:rPr lang="en-US" sz="1600"/>
              <a:t> </a:t>
            </a:r>
          </a:p>
          <a:p>
            <a:pPr>
              <a:spcAft>
                <a:spcPts val="600"/>
              </a:spcAft>
            </a:pPr>
            <a:r>
              <a:rPr lang="en-US" sz="1600"/>
              <a:t>Deals with brand visibility ‘inside’ generative-AI responses, not on keyword rank performance.</a:t>
            </a:r>
          </a:p>
          <a:p>
            <a:pPr>
              <a:spcAft>
                <a:spcPts val="600"/>
              </a:spcAft>
            </a:pPr>
            <a:r>
              <a:rPr lang="en-US" sz="1600"/>
              <a:t>ChatGPT, Perplexity, Claude, Gemini, etc. Separate website or app. </a:t>
            </a:r>
          </a:p>
          <a:p>
            <a:pPr>
              <a:spcAft>
                <a:spcPts val="600"/>
              </a:spcAft>
            </a:pPr>
            <a:r>
              <a:rPr lang="en-US" sz="1600"/>
              <a:t>The lines begin to blur with Google AI Overviews/Mode &amp; Gemini</a:t>
            </a:r>
          </a:p>
        </p:txBody>
      </p:sp>
      <p:sp>
        <p:nvSpPr>
          <p:cNvPr id="10" name="Text Placeholder 9">
            <a:extLst>
              <a:ext uri="{FF2B5EF4-FFF2-40B4-BE49-F238E27FC236}">
                <a16:creationId xmlns:a16="http://schemas.microsoft.com/office/drawing/2014/main" id="{6CD17297-0CA0-352A-1866-5812B1D350A4}"/>
              </a:ext>
            </a:extLst>
          </p:cNvPr>
          <p:cNvSpPr>
            <a:spLocks noGrp="1"/>
          </p:cNvSpPr>
          <p:nvPr>
            <p:ph type="body" sz="quarter" idx="15"/>
          </p:nvPr>
        </p:nvSpPr>
        <p:spPr>
          <a:xfrm>
            <a:off x="271986" y="1299802"/>
            <a:ext cx="11652250" cy="550862"/>
          </a:xfrm>
        </p:spPr>
        <p:txBody>
          <a:bodyPr/>
          <a:lstStyle/>
          <a:p>
            <a:r>
              <a:rPr lang="en-US"/>
              <a:t>The New Search Ecosystem</a:t>
            </a:r>
          </a:p>
        </p:txBody>
      </p:sp>
      <p:sp>
        <p:nvSpPr>
          <p:cNvPr id="5" name="Text Placeholder 8">
            <a:extLst>
              <a:ext uri="{FF2B5EF4-FFF2-40B4-BE49-F238E27FC236}">
                <a16:creationId xmlns:a16="http://schemas.microsoft.com/office/drawing/2014/main" id="{04F074BB-3F36-F568-8F0F-75D8AA00FF4B}"/>
              </a:ext>
            </a:extLst>
          </p:cNvPr>
          <p:cNvSpPr txBox="1">
            <a:spLocks/>
          </p:cNvSpPr>
          <p:nvPr/>
        </p:nvSpPr>
        <p:spPr>
          <a:xfrm>
            <a:off x="6096000" y="2147475"/>
            <a:ext cx="5310351" cy="835550"/>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800" b="1">
                <a:solidFill>
                  <a:schemeClr val="accent1"/>
                </a:solidFill>
              </a:rPr>
              <a:t>As of February 2026, ChatGPT Owns over 60% of the AI Model Market Share</a:t>
            </a:r>
            <a:endParaRPr lang="en-US" sz="1600">
              <a:solidFill>
                <a:schemeClr val="accent1"/>
              </a:solidFill>
            </a:endParaRPr>
          </a:p>
        </p:txBody>
      </p:sp>
      <p:pic>
        <p:nvPicPr>
          <p:cNvPr id="12" name="Picture 11" descr="A colorful circle with different colored lines&#10;&#10;AI-generated content may be incorrect.">
            <a:extLst>
              <a:ext uri="{FF2B5EF4-FFF2-40B4-BE49-F238E27FC236}">
                <a16:creationId xmlns:a16="http://schemas.microsoft.com/office/drawing/2014/main" id="{AC5EF6E1-FEDB-54A6-61FA-96380FC92DE8}"/>
              </a:ext>
            </a:extLst>
          </p:cNvPr>
          <p:cNvPicPr>
            <a:picLocks noChangeAspect="1"/>
          </p:cNvPicPr>
          <p:nvPr/>
        </p:nvPicPr>
        <p:blipFill>
          <a:blip r:embed="rId4"/>
          <a:stretch>
            <a:fillRect/>
          </a:stretch>
        </p:blipFill>
        <p:spPr>
          <a:xfrm>
            <a:off x="5999352" y="2856025"/>
            <a:ext cx="5224256" cy="3684475"/>
          </a:xfrm>
          <a:prstGeom prst="rect">
            <a:avLst/>
          </a:prstGeom>
        </p:spPr>
      </p:pic>
      <p:sp>
        <p:nvSpPr>
          <p:cNvPr id="3" name="Text 5">
            <a:extLst>
              <a:ext uri="{FF2B5EF4-FFF2-40B4-BE49-F238E27FC236}">
                <a16:creationId xmlns:a16="http://schemas.microsoft.com/office/drawing/2014/main" id="{9DD2053E-B159-ECA1-809F-A9FC13101BD8}"/>
              </a:ext>
            </a:extLst>
          </p:cNvPr>
          <p:cNvSpPr/>
          <p:nvPr/>
        </p:nvSpPr>
        <p:spPr>
          <a:xfrm>
            <a:off x="9795288" y="6447734"/>
            <a:ext cx="1428320" cy="254001"/>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5"/>
              </a:rPr>
              <a:t>First Page Sage</a:t>
            </a:r>
            <a:endParaRPr lang="en-US" sz="1200"/>
          </a:p>
        </p:txBody>
      </p:sp>
    </p:spTree>
    <p:extLst>
      <p:ext uri="{BB962C8B-B14F-4D97-AF65-F5344CB8AC3E}">
        <p14:creationId xmlns:p14="http://schemas.microsoft.com/office/powerpoint/2010/main" val="171165289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2CAAA-63BA-B512-92FC-92A99556C2A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50570E0-3BAE-934A-291D-FDBBE06B7583}"/>
              </a:ext>
            </a:extLst>
          </p:cNvPr>
          <p:cNvSpPr>
            <a:spLocks noGrp="1"/>
          </p:cNvSpPr>
          <p:nvPr>
            <p:ph type="title"/>
          </p:nvPr>
        </p:nvSpPr>
        <p:spPr>
          <a:xfrm>
            <a:off x="219455" y="585216"/>
            <a:ext cx="10694077" cy="832104"/>
          </a:xfrm>
        </p:spPr>
        <p:txBody>
          <a:bodyPr/>
          <a:lstStyle/>
          <a:p>
            <a:r>
              <a:rPr lang="en-US"/>
              <a:t>GOOGLE'S PATH TO AI DOMINANCE</a:t>
            </a:r>
          </a:p>
        </p:txBody>
      </p:sp>
      <p:sp>
        <p:nvSpPr>
          <p:cNvPr id="2" name="Slide Number Placeholder 1">
            <a:extLst>
              <a:ext uri="{FF2B5EF4-FFF2-40B4-BE49-F238E27FC236}">
                <a16:creationId xmlns:a16="http://schemas.microsoft.com/office/drawing/2014/main" id="{1D59ECA6-417E-E3C3-1CFA-7A2D297FF9FD}"/>
              </a:ext>
            </a:extLst>
          </p:cNvPr>
          <p:cNvSpPr>
            <a:spLocks noGrp="1"/>
          </p:cNvSpPr>
          <p:nvPr>
            <p:ph type="sldNum" sz="quarter" idx="12"/>
          </p:nvPr>
        </p:nvSpPr>
        <p:spPr/>
        <p:txBody>
          <a:bodyPr/>
          <a:lstStyle/>
          <a:p>
            <a:fld id="{6D05E8BB-FF85-4620-9298-8F3F48811131}" type="slidenum">
              <a:rPr lang="en-US" smtClean="0"/>
              <a:t>11</a:t>
            </a:fld>
            <a:endParaRPr lang="en-US"/>
          </a:p>
        </p:txBody>
      </p:sp>
      <p:sp>
        <p:nvSpPr>
          <p:cNvPr id="11" name="Text Placeholder 10">
            <a:extLst>
              <a:ext uri="{FF2B5EF4-FFF2-40B4-BE49-F238E27FC236}">
                <a16:creationId xmlns:a16="http://schemas.microsoft.com/office/drawing/2014/main" id="{52E00BEA-FBFF-7F64-06B3-2B3E2919815B}"/>
              </a:ext>
            </a:extLst>
          </p:cNvPr>
          <p:cNvSpPr>
            <a:spLocks noGrp="1"/>
          </p:cNvSpPr>
          <p:nvPr>
            <p:ph type="body" sz="quarter" idx="13"/>
          </p:nvPr>
        </p:nvSpPr>
        <p:spPr>
          <a:xfrm>
            <a:off x="246888" y="297370"/>
            <a:ext cx="4007612" cy="155448"/>
          </a:xfrm>
        </p:spPr>
        <p:txBody>
          <a:bodyPr/>
          <a:lstStyle/>
          <a:p>
            <a:r>
              <a:rPr lang="en-US"/>
              <a:t>HOW AI IS RESHAPING SEARCH STRATEGY</a:t>
            </a:r>
          </a:p>
        </p:txBody>
      </p:sp>
      <p:sp>
        <p:nvSpPr>
          <p:cNvPr id="12" name="Text Placeholder 11">
            <a:extLst>
              <a:ext uri="{FF2B5EF4-FFF2-40B4-BE49-F238E27FC236}">
                <a16:creationId xmlns:a16="http://schemas.microsoft.com/office/drawing/2014/main" id="{49DC922D-F051-EEAD-93C1-61144167892B}"/>
              </a:ext>
            </a:extLst>
          </p:cNvPr>
          <p:cNvSpPr>
            <a:spLocks noGrp="1"/>
          </p:cNvSpPr>
          <p:nvPr>
            <p:ph type="body" sz="quarter" idx="14"/>
          </p:nvPr>
        </p:nvSpPr>
        <p:spPr>
          <a:xfrm>
            <a:off x="228602" y="2013284"/>
            <a:ext cx="5445036" cy="4140288"/>
          </a:xfrm>
        </p:spPr>
        <p:txBody>
          <a:bodyPr/>
          <a:lstStyle/>
          <a:p>
            <a:pPr>
              <a:spcAft>
                <a:spcPts val="1200"/>
              </a:spcAft>
            </a:pPr>
            <a:r>
              <a:rPr lang="en-US" sz="1600" b="1"/>
              <a:t>Active user dominance </a:t>
            </a:r>
            <a:r>
              <a:rPr lang="en-US" sz="1600"/>
              <a:t>— 8.5B+ Google searches/day; AI Overviews supplement existing search behavior</a:t>
            </a:r>
          </a:p>
          <a:p>
            <a:pPr>
              <a:spcAft>
                <a:spcPts val="1200"/>
              </a:spcAft>
            </a:pPr>
            <a:r>
              <a:rPr lang="en-US" sz="1600" b="1"/>
              <a:t>No behavior change </a:t>
            </a:r>
            <a:r>
              <a:rPr lang="en-US" sz="1600"/>
              <a:t>— AI appears inside familiar Google Search</a:t>
            </a:r>
          </a:p>
          <a:p>
            <a:pPr>
              <a:spcAft>
                <a:spcPts val="1200"/>
              </a:spcAft>
            </a:pPr>
            <a:r>
              <a:rPr lang="en-US" sz="1600" b="1"/>
              <a:t>AI Overviews reach </a:t>
            </a:r>
            <a:r>
              <a:rPr lang="en-US" sz="1600"/>
              <a:t>— Now appearing in an estimated 20–30% of U.S. desktop queries</a:t>
            </a:r>
          </a:p>
          <a:p>
            <a:pPr>
              <a:spcAft>
                <a:spcPts val="1200"/>
              </a:spcAft>
            </a:pPr>
            <a:r>
              <a:rPr lang="en-US" sz="1600" b="1"/>
              <a:t>Ecosystem lock-in </a:t>
            </a:r>
            <a:r>
              <a:rPr lang="en-US" sz="1600"/>
              <a:t>— Chrome, Android, Gmail, Workspace create constant touchpoints</a:t>
            </a:r>
          </a:p>
          <a:p>
            <a:pPr>
              <a:spcAft>
                <a:spcPts val="1200"/>
              </a:spcAft>
            </a:pPr>
            <a:r>
              <a:rPr lang="en-US" sz="1600" b="1"/>
              <a:t>Infrastructure + data </a:t>
            </a:r>
            <a:r>
              <a:rPr lang="en-US" sz="1600"/>
              <a:t>— Decades of search data + massive AI training stack</a:t>
            </a:r>
          </a:p>
        </p:txBody>
      </p:sp>
      <p:sp>
        <p:nvSpPr>
          <p:cNvPr id="13" name="Text Placeholder 12">
            <a:extLst>
              <a:ext uri="{FF2B5EF4-FFF2-40B4-BE49-F238E27FC236}">
                <a16:creationId xmlns:a16="http://schemas.microsoft.com/office/drawing/2014/main" id="{A6A9C1FA-BB76-5CDC-6C1C-C9FDB5FD3E11}"/>
              </a:ext>
            </a:extLst>
          </p:cNvPr>
          <p:cNvSpPr>
            <a:spLocks noGrp="1"/>
          </p:cNvSpPr>
          <p:nvPr>
            <p:ph type="body" sz="quarter" idx="15"/>
          </p:nvPr>
        </p:nvSpPr>
        <p:spPr/>
        <p:txBody>
          <a:bodyPr/>
          <a:lstStyle/>
          <a:p>
            <a:r>
              <a:rPr lang="en-US"/>
              <a:t>The Distribution Advantage</a:t>
            </a:r>
          </a:p>
        </p:txBody>
      </p:sp>
      <p:grpSp>
        <p:nvGrpSpPr>
          <p:cNvPr id="46" name="Group 45">
            <a:extLst>
              <a:ext uri="{FF2B5EF4-FFF2-40B4-BE49-F238E27FC236}">
                <a16:creationId xmlns:a16="http://schemas.microsoft.com/office/drawing/2014/main" id="{43AFF154-D538-DB33-7DBA-0A4574FEEC9F}"/>
              </a:ext>
            </a:extLst>
          </p:cNvPr>
          <p:cNvGrpSpPr/>
          <p:nvPr/>
        </p:nvGrpSpPr>
        <p:grpSpPr>
          <a:xfrm>
            <a:off x="6455905" y="1886837"/>
            <a:ext cx="5219736" cy="4266734"/>
            <a:chOff x="6455905" y="1886837"/>
            <a:chExt cx="5219736" cy="4266734"/>
          </a:xfrm>
        </p:grpSpPr>
        <p:pic>
          <p:nvPicPr>
            <p:cNvPr id="4" name="Picture 3">
              <a:extLst>
                <a:ext uri="{FF2B5EF4-FFF2-40B4-BE49-F238E27FC236}">
                  <a16:creationId xmlns:a16="http://schemas.microsoft.com/office/drawing/2014/main" id="{460DF9EE-7BF7-DD95-8C15-29410AD11CA5}"/>
                </a:ext>
              </a:extLst>
            </p:cNvPr>
            <p:cNvPicPr>
              <a:picLocks noChangeAspect="1"/>
            </p:cNvPicPr>
            <p:nvPr/>
          </p:nvPicPr>
          <p:blipFill>
            <a:blip r:embed="rId4"/>
            <a:srcRect l="11430" t="81875" r="12062" b="4594"/>
            <a:stretch>
              <a:fillRect/>
            </a:stretch>
          </p:blipFill>
          <p:spPr>
            <a:xfrm>
              <a:off x="6716104" y="5383492"/>
              <a:ext cx="4875710" cy="574863"/>
            </a:xfrm>
            <a:prstGeom prst="rect">
              <a:avLst/>
            </a:prstGeom>
          </p:spPr>
        </p:pic>
        <p:sp>
          <p:nvSpPr>
            <p:cNvPr id="5" name="TextBox 4">
              <a:extLst>
                <a:ext uri="{FF2B5EF4-FFF2-40B4-BE49-F238E27FC236}">
                  <a16:creationId xmlns:a16="http://schemas.microsoft.com/office/drawing/2014/main" id="{C1ECF5BA-33A6-6539-418D-ED2059D3647E}"/>
                </a:ext>
              </a:extLst>
            </p:cNvPr>
            <p:cNvSpPr txBox="1"/>
            <p:nvPr/>
          </p:nvSpPr>
          <p:spPr>
            <a:xfrm>
              <a:off x="6998886" y="3092878"/>
              <a:ext cx="1935509"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endParaRPr lang="en-US" sz="4800">
                <a:solidFill>
                  <a:schemeClr val="tx1"/>
                </a:solidFill>
              </a:endParaRPr>
            </a:p>
          </p:txBody>
        </p:sp>
        <p:sp>
          <p:nvSpPr>
            <p:cNvPr id="6" name="TextBox 5">
              <a:extLst>
                <a:ext uri="{FF2B5EF4-FFF2-40B4-BE49-F238E27FC236}">
                  <a16:creationId xmlns:a16="http://schemas.microsoft.com/office/drawing/2014/main" id="{1CF7718B-C030-EC79-0C76-4D72A233B3EA}"/>
                </a:ext>
              </a:extLst>
            </p:cNvPr>
            <p:cNvSpPr txBox="1"/>
            <p:nvPr/>
          </p:nvSpPr>
          <p:spPr>
            <a:xfrm>
              <a:off x="6998886" y="3102630"/>
              <a:ext cx="1935509"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4800">
                  <a:solidFill>
                    <a:schemeClr val="tx1"/>
                  </a:solidFill>
                </a:rPr>
                <a:t>~10X</a:t>
              </a:r>
            </a:p>
          </p:txBody>
        </p:sp>
        <p:sp>
          <p:nvSpPr>
            <p:cNvPr id="7" name="TextBox 6">
              <a:extLst>
                <a:ext uri="{FF2B5EF4-FFF2-40B4-BE49-F238E27FC236}">
                  <a16:creationId xmlns:a16="http://schemas.microsoft.com/office/drawing/2014/main" id="{B84ACEE1-636D-6AA8-C24B-481444C876FD}"/>
                </a:ext>
              </a:extLst>
            </p:cNvPr>
            <p:cNvSpPr txBox="1"/>
            <p:nvPr/>
          </p:nvSpPr>
          <p:spPr>
            <a:xfrm>
              <a:off x="6887451" y="3508487"/>
              <a:ext cx="2371797"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1600">
                  <a:solidFill>
                    <a:schemeClr val="tx1"/>
                  </a:solidFill>
                </a:rPr>
                <a:t>Google DAUs over ChatGPT DAUs</a:t>
              </a:r>
            </a:p>
          </p:txBody>
        </p:sp>
        <p:pic>
          <p:nvPicPr>
            <p:cNvPr id="8" name="Picture 7">
              <a:extLst>
                <a:ext uri="{FF2B5EF4-FFF2-40B4-BE49-F238E27FC236}">
                  <a16:creationId xmlns:a16="http://schemas.microsoft.com/office/drawing/2014/main" id="{8FAA50AD-A218-1273-5A97-DAD346C293E4}"/>
                </a:ext>
              </a:extLst>
            </p:cNvPr>
            <p:cNvPicPr>
              <a:picLocks noChangeAspect="1"/>
            </p:cNvPicPr>
            <p:nvPr/>
          </p:nvPicPr>
          <p:blipFill>
            <a:blip r:embed="rId4"/>
            <a:srcRect l="55082" t="11051" r="8750"/>
            <a:stretch>
              <a:fillRect/>
            </a:stretch>
          </p:blipFill>
          <p:spPr>
            <a:xfrm>
              <a:off x="9370682" y="2374516"/>
              <a:ext cx="2304959" cy="3779055"/>
            </a:xfrm>
            <a:prstGeom prst="rect">
              <a:avLst/>
            </a:prstGeom>
          </p:spPr>
        </p:pic>
        <p:pic>
          <p:nvPicPr>
            <p:cNvPr id="9" name="Picture 8">
              <a:extLst>
                <a:ext uri="{FF2B5EF4-FFF2-40B4-BE49-F238E27FC236}">
                  <a16:creationId xmlns:a16="http://schemas.microsoft.com/office/drawing/2014/main" id="{D86BA375-684A-A64B-A7DB-82DF048F3BFF}"/>
                </a:ext>
              </a:extLst>
            </p:cNvPr>
            <p:cNvPicPr>
              <a:picLocks noChangeAspect="1"/>
            </p:cNvPicPr>
            <p:nvPr/>
          </p:nvPicPr>
          <p:blipFill>
            <a:blip r:embed="rId4"/>
            <a:srcRect l="11429" r="12064" b="86469"/>
            <a:stretch>
              <a:fillRect/>
            </a:stretch>
          </p:blipFill>
          <p:spPr>
            <a:xfrm>
              <a:off x="6455905" y="1886837"/>
              <a:ext cx="4875710" cy="574864"/>
            </a:xfrm>
            <a:prstGeom prst="rect">
              <a:avLst/>
            </a:prstGeom>
          </p:spPr>
        </p:pic>
        <p:pic>
          <p:nvPicPr>
            <p:cNvPr id="14" name="Picture 13">
              <a:extLst>
                <a:ext uri="{FF2B5EF4-FFF2-40B4-BE49-F238E27FC236}">
                  <a16:creationId xmlns:a16="http://schemas.microsoft.com/office/drawing/2014/main" id="{031A6E10-B103-725E-3789-F76365F950C1}"/>
                </a:ext>
              </a:extLst>
            </p:cNvPr>
            <p:cNvPicPr>
              <a:picLocks noChangeAspect="1"/>
            </p:cNvPicPr>
            <p:nvPr/>
          </p:nvPicPr>
          <p:blipFill>
            <a:blip r:embed="rId4"/>
            <a:srcRect l="21946" t="64992" r="59165" b="27507"/>
            <a:stretch>
              <a:fillRect/>
            </a:stretch>
          </p:blipFill>
          <p:spPr>
            <a:xfrm>
              <a:off x="7384648" y="4941461"/>
              <a:ext cx="1203767" cy="318672"/>
            </a:xfrm>
            <a:prstGeom prst="rect">
              <a:avLst/>
            </a:prstGeom>
          </p:spPr>
        </p:pic>
      </p:grpSp>
      <p:sp>
        <p:nvSpPr>
          <p:cNvPr id="3" name="Text 5">
            <a:extLst>
              <a:ext uri="{FF2B5EF4-FFF2-40B4-BE49-F238E27FC236}">
                <a16:creationId xmlns:a16="http://schemas.microsoft.com/office/drawing/2014/main" id="{795C5B21-68E8-363E-F7E2-A1D9C0C45989}"/>
              </a:ext>
            </a:extLst>
          </p:cNvPr>
          <p:cNvSpPr/>
          <p:nvPr/>
        </p:nvSpPr>
        <p:spPr>
          <a:xfrm>
            <a:off x="9809001" y="6447734"/>
            <a:ext cx="1428320" cy="254001"/>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5"/>
              </a:rPr>
              <a:t>Business Insider</a:t>
            </a:r>
            <a:endParaRPr lang="en-US" sz="1200"/>
          </a:p>
        </p:txBody>
      </p:sp>
    </p:spTree>
    <p:extLst>
      <p:ext uri="{BB962C8B-B14F-4D97-AF65-F5344CB8AC3E}">
        <p14:creationId xmlns:p14="http://schemas.microsoft.com/office/powerpoint/2010/main" val="373061144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97732EC-1A4D-D1BA-BA63-84A5B32EF9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991327-9369-5016-E629-12BFB206E53C}"/>
              </a:ext>
            </a:extLst>
          </p:cNvPr>
          <p:cNvSpPr>
            <a:spLocks noGrp="1"/>
          </p:cNvSpPr>
          <p:nvPr>
            <p:ph type="sldNum" sz="quarter" idx="12"/>
          </p:nvPr>
        </p:nvSpPr>
        <p:spPr/>
        <p:txBody>
          <a:bodyPr/>
          <a:lstStyle/>
          <a:p>
            <a:fld id="{6D05E8BB-FF85-4620-9298-8F3F48811131}" type="slidenum">
              <a:rPr lang="en-US" smtClean="0">
                <a:solidFill>
                  <a:schemeClr val="bg1"/>
                </a:solidFill>
              </a:rPr>
              <a:t>12</a:t>
            </a:fld>
            <a:endParaRPr lang="en-US">
              <a:solidFill>
                <a:schemeClr val="bg1"/>
              </a:solidFill>
            </a:endParaRPr>
          </a:p>
        </p:txBody>
      </p:sp>
      <p:sp>
        <p:nvSpPr>
          <p:cNvPr id="7" name="TextBox 6">
            <a:extLst>
              <a:ext uri="{FF2B5EF4-FFF2-40B4-BE49-F238E27FC236}">
                <a16:creationId xmlns:a16="http://schemas.microsoft.com/office/drawing/2014/main" id="{0E925150-6005-EF97-2511-C5778E692B66}"/>
              </a:ext>
            </a:extLst>
          </p:cNvPr>
          <p:cNvSpPr txBox="1"/>
          <p:nvPr/>
        </p:nvSpPr>
        <p:spPr>
          <a:xfrm>
            <a:off x="0" y="2828835"/>
            <a:ext cx="12192000" cy="1200329"/>
          </a:xfrm>
          <a:prstGeom prst="rect">
            <a:avLst/>
          </a:prstGeom>
          <a:noFill/>
        </p:spPr>
        <p:txBody>
          <a:bodyPr wrap="square">
            <a:spAutoFit/>
          </a:bodyPr>
          <a:lstStyle/>
          <a:p>
            <a:pPr algn="ctr"/>
            <a:r>
              <a:rPr lang="en-US" sz="7200">
                <a:solidFill>
                  <a:schemeClr val="bg1"/>
                </a:solidFill>
                <a:latin typeface="+mj-lt"/>
              </a:rPr>
              <a:t>WHY IT MATTERS</a:t>
            </a:r>
          </a:p>
        </p:txBody>
      </p:sp>
    </p:spTree>
    <p:extLst>
      <p:ext uri="{BB962C8B-B14F-4D97-AF65-F5344CB8AC3E}">
        <p14:creationId xmlns:p14="http://schemas.microsoft.com/office/powerpoint/2010/main" val="100047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7DD7A-1EBF-60BD-14DC-F84D91CE05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18C2A46-7161-3C57-3E1D-917C38FB32D4}"/>
              </a:ext>
            </a:extLst>
          </p:cNvPr>
          <p:cNvSpPr>
            <a:spLocks noGrp="1"/>
          </p:cNvSpPr>
          <p:nvPr>
            <p:ph type="title"/>
          </p:nvPr>
        </p:nvSpPr>
        <p:spPr>
          <a:xfrm>
            <a:off x="219075" y="585788"/>
            <a:ext cx="12074525" cy="831850"/>
          </a:xfrm>
        </p:spPr>
        <p:txBody>
          <a:bodyPr/>
          <a:lstStyle/>
          <a:p>
            <a:r>
              <a:rPr lang="en-US"/>
              <a:t>ZERO-CLICK IMPACTS BUSINESS</a:t>
            </a:r>
          </a:p>
        </p:txBody>
      </p:sp>
      <p:sp>
        <p:nvSpPr>
          <p:cNvPr id="2" name="Slide Number Placeholder 1">
            <a:extLst>
              <a:ext uri="{FF2B5EF4-FFF2-40B4-BE49-F238E27FC236}">
                <a16:creationId xmlns:a16="http://schemas.microsoft.com/office/drawing/2014/main" id="{B5E18245-D9E9-9EA1-FB40-53E80A97B6E5}"/>
              </a:ext>
            </a:extLst>
          </p:cNvPr>
          <p:cNvSpPr>
            <a:spLocks noGrp="1"/>
          </p:cNvSpPr>
          <p:nvPr>
            <p:ph type="sldNum" sz="quarter" idx="12"/>
          </p:nvPr>
        </p:nvSpPr>
        <p:spPr>
          <a:xfrm>
            <a:off x="11779250" y="6540500"/>
            <a:ext cx="354250" cy="254000"/>
          </a:xfrm>
        </p:spPr>
        <p:txBody>
          <a:bodyPr/>
          <a:lstStyle/>
          <a:p>
            <a:fld id="{6D05E8BB-FF85-4620-9298-8F3F48811131}" type="slidenum">
              <a:rPr lang="en-US" smtClean="0"/>
              <a:t>13</a:t>
            </a:fld>
            <a:endParaRPr lang="en-US"/>
          </a:p>
        </p:txBody>
      </p:sp>
      <p:sp>
        <p:nvSpPr>
          <p:cNvPr id="8" name="Text Placeholder 7">
            <a:extLst>
              <a:ext uri="{FF2B5EF4-FFF2-40B4-BE49-F238E27FC236}">
                <a16:creationId xmlns:a16="http://schemas.microsoft.com/office/drawing/2014/main" id="{ACF078F5-FCB6-450D-B5B9-4552547EE8F8}"/>
              </a:ext>
            </a:extLst>
          </p:cNvPr>
          <p:cNvSpPr>
            <a:spLocks noGrp="1"/>
          </p:cNvSpPr>
          <p:nvPr>
            <p:ph type="body" sz="quarter" idx="13"/>
          </p:nvPr>
        </p:nvSpPr>
        <p:spPr>
          <a:xfrm>
            <a:off x="246888" y="297370"/>
            <a:ext cx="2670048" cy="155448"/>
          </a:xfrm>
        </p:spPr>
        <p:txBody>
          <a:bodyPr/>
          <a:lstStyle/>
          <a:p>
            <a:r>
              <a:rPr lang="en-US"/>
              <a:t>HOW AI IS RESHAPING SEARCH STRATEGY</a:t>
            </a:r>
          </a:p>
        </p:txBody>
      </p:sp>
      <p:sp>
        <p:nvSpPr>
          <p:cNvPr id="10" name="Text Placeholder 9">
            <a:extLst>
              <a:ext uri="{FF2B5EF4-FFF2-40B4-BE49-F238E27FC236}">
                <a16:creationId xmlns:a16="http://schemas.microsoft.com/office/drawing/2014/main" id="{FEA87F4A-E0A3-48DA-5BC6-55668CB41145}"/>
              </a:ext>
            </a:extLst>
          </p:cNvPr>
          <p:cNvSpPr>
            <a:spLocks noGrp="1"/>
          </p:cNvSpPr>
          <p:nvPr>
            <p:ph type="body" sz="quarter" idx="15"/>
          </p:nvPr>
        </p:nvSpPr>
        <p:spPr>
          <a:xfrm>
            <a:off x="263520" y="1299802"/>
            <a:ext cx="11652250" cy="550862"/>
          </a:xfrm>
        </p:spPr>
        <p:txBody>
          <a:bodyPr/>
          <a:lstStyle/>
          <a:p>
            <a:r>
              <a:rPr lang="en-US"/>
              <a:t>Implications for Clients and Our Work</a:t>
            </a:r>
          </a:p>
        </p:txBody>
      </p:sp>
      <p:sp>
        <p:nvSpPr>
          <p:cNvPr id="6" name="Text Placeholder 8">
            <a:extLst>
              <a:ext uri="{FF2B5EF4-FFF2-40B4-BE49-F238E27FC236}">
                <a16:creationId xmlns:a16="http://schemas.microsoft.com/office/drawing/2014/main" id="{0D01CF65-F387-0C1C-D16B-0086CA102075}"/>
              </a:ext>
            </a:extLst>
          </p:cNvPr>
          <p:cNvSpPr txBox="1">
            <a:spLocks/>
          </p:cNvSpPr>
          <p:nvPr/>
        </p:nvSpPr>
        <p:spPr>
          <a:xfrm>
            <a:off x="263520" y="2030910"/>
            <a:ext cx="4181259" cy="2843239"/>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800"/>
              </a:spcAft>
              <a:buFont typeface="Arial" panose="020B0604020202020204" pitchFamily="34" charset="0"/>
              <a:buNone/>
            </a:pPr>
            <a:r>
              <a:rPr lang="en-US" sz="2400" b="1"/>
              <a:t>Channels that have reliably driven conversion are now being disrupted by zero-click behavior — reducing both traffic and downstream pipeline</a:t>
            </a:r>
          </a:p>
        </p:txBody>
      </p:sp>
      <p:grpSp>
        <p:nvGrpSpPr>
          <p:cNvPr id="18" name="Group 17">
            <a:extLst>
              <a:ext uri="{FF2B5EF4-FFF2-40B4-BE49-F238E27FC236}">
                <a16:creationId xmlns:a16="http://schemas.microsoft.com/office/drawing/2014/main" id="{D9C9C857-C44C-4C0A-6213-7A83BB2E80ED}"/>
              </a:ext>
            </a:extLst>
          </p:cNvPr>
          <p:cNvGrpSpPr/>
          <p:nvPr/>
        </p:nvGrpSpPr>
        <p:grpSpPr>
          <a:xfrm>
            <a:off x="5751095" y="1522283"/>
            <a:ext cx="5611118" cy="2352575"/>
            <a:chOff x="402336" y="2676086"/>
            <a:chExt cx="5611118" cy="2352575"/>
          </a:xfrm>
        </p:grpSpPr>
        <p:sp>
          <p:nvSpPr>
            <p:cNvPr id="11" name="Rectangle 10">
              <a:extLst>
                <a:ext uri="{FF2B5EF4-FFF2-40B4-BE49-F238E27FC236}">
                  <a16:creationId xmlns:a16="http://schemas.microsoft.com/office/drawing/2014/main" id="{79C9EEFB-05F8-86D8-D8A3-48D77EAF4C40}"/>
                </a:ext>
              </a:extLst>
            </p:cNvPr>
            <p:cNvSpPr/>
            <p:nvPr/>
          </p:nvSpPr>
          <p:spPr>
            <a:xfrm>
              <a:off x="402336" y="2676086"/>
              <a:ext cx="5611118" cy="23525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091BB91-85F4-6D49-B37C-2AEA74455FF3}"/>
                </a:ext>
              </a:extLst>
            </p:cNvPr>
            <p:cNvSpPr txBox="1"/>
            <p:nvPr/>
          </p:nvSpPr>
          <p:spPr>
            <a:xfrm>
              <a:off x="2208071" y="3293933"/>
              <a:ext cx="3805383" cy="1577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spcAft>
                  <a:spcPts val="1800"/>
                </a:spcAft>
              </a:pPr>
              <a:r>
                <a:rPr lang="en-US" b="0"/>
                <a:t>When AI Overview is present &amp; not cited, organic click-through rate dropped 65.2% YoY.</a:t>
              </a:r>
            </a:p>
          </p:txBody>
        </p:sp>
        <p:sp>
          <p:nvSpPr>
            <p:cNvPr id="13" name="TextBox 12">
              <a:extLst>
                <a:ext uri="{FF2B5EF4-FFF2-40B4-BE49-F238E27FC236}">
                  <a16:creationId xmlns:a16="http://schemas.microsoft.com/office/drawing/2014/main" id="{121B8ED3-9C5E-17AB-D193-FE6778516EF7}"/>
                </a:ext>
              </a:extLst>
            </p:cNvPr>
            <p:cNvSpPr txBox="1"/>
            <p:nvPr/>
          </p:nvSpPr>
          <p:spPr>
            <a:xfrm>
              <a:off x="461051" y="2676087"/>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t>ORGANIC SEARCH</a:t>
              </a:r>
            </a:p>
          </p:txBody>
        </p:sp>
        <p:sp>
          <p:nvSpPr>
            <p:cNvPr id="15" name="TextBox 14">
              <a:extLst>
                <a:ext uri="{FF2B5EF4-FFF2-40B4-BE49-F238E27FC236}">
                  <a16:creationId xmlns:a16="http://schemas.microsoft.com/office/drawing/2014/main" id="{41137646-6ACD-6248-CD85-418A9CF539DE}"/>
                </a:ext>
              </a:extLst>
            </p:cNvPr>
            <p:cNvSpPr txBox="1"/>
            <p:nvPr/>
          </p:nvSpPr>
          <p:spPr>
            <a:xfrm>
              <a:off x="567705" y="3723312"/>
              <a:ext cx="1640366"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3200"/>
                <a:t>-65.2%</a:t>
              </a:r>
            </a:p>
          </p:txBody>
        </p:sp>
      </p:grpSp>
      <p:grpSp>
        <p:nvGrpSpPr>
          <p:cNvPr id="19" name="Group 18">
            <a:extLst>
              <a:ext uri="{FF2B5EF4-FFF2-40B4-BE49-F238E27FC236}">
                <a16:creationId xmlns:a16="http://schemas.microsoft.com/office/drawing/2014/main" id="{A9F4E7AA-C0E5-E074-86B5-82612FA6B359}"/>
              </a:ext>
            </a:extLst>
          </p:cNvPr>
          <p:cNvGrpSpPr/>
          <p:nvPr/>
        </p:nvGrpSpPr>
        <p:grpSpPr>
          <a:xfrm>
            <a:off x="5751095" y="4147379"/>
            <a:ext cx="5611118" cy="2352575"/>
            <a:chOff x="402336" y="2676086"/>
            <a:chExt cx="5611118" cy="2352575"/>
          </a:xfrm>
        </p:grpSpPr>
        <p:sp>
          <p:nvSpPr>
            <p:cNvPr id="20" name="Rectangle 19">
              <a:extLst>
                <a:ext uri="{FF2B5EF4-FFF2-40B4-BE49-F238E27FC236}">
                  <a16:creationId xmlns:a16="http://schemas.microsoft.com/office/drawing/2014/main" id="{4E92FAFB-7DA8-49F1-B163-A0BA3F19A808}"/>
                </a:ext>
              </a:extLst>
            </p:cNvPr>
            <p:cNvSpPr/>
            <p:nvPr/>
          </p:nvSpPr>
          <p:spPr>
            <a:xfrm>
              <a:off x="402336" y="2676086"/>
              <a:ext cx="5611118" cy="23525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C14D6CC-921F-550D-09C5-E2205CFE726D}"/>
                </a:ext>
              </a:extLst>
            </p:cNvPr>
            <p:cNvSpPr txBox="1"/>
            <p:nvPr/>
          </p:nvSpPr>
          <p:spPr>
            <a:xfrm>
              <a:off x="2208071" y="3293935"/>
              <a:ext cx="3805383" cy="1577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spcAft>
                  <a:spcPts val="1800"/>
                </a:spcAft>
              </a:pPr>
              <a:r>
                <a:rPr lang="en-US" b="0">
                  <a:solidFill>
                    <a:schemeClr val="tx1"/>
                  </a:solidFill>
                </a:rPr>
                <a:t>When AI Overview is present &amp; not cited, paid click-through rate dropped 78.4% YoY.</a:t>
              </a:r>
            </a:p>
          </p:txBody>
        </p:sp>
        <p:sp>
          <p:nvSpPr>
            <p:cNvPr id="22" name="TextBox 21">
              <a:extLst>
                <a:ext uri="{FF2B5EF4-FFF2-40B4-BE49-F238E27FC236}">
                  <a16:creationId xmlns:a16="http://schemas.microsoft.com/office/drawing/2014/main" id="{7BB5E2D3-43A3-EF77-1071-35D20B1A6ACC}"/>
                </a:ext>
              </a:extLst>
            </p:cNvPr>
            <p:cNvSpPr txBox="1"/>
            <p:nvPr/>
          </p:nvSpPr>
          <p:spPr>
            <a:xfrm>
              <a:off x="461051" y="2676087"/>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solidFill>
                    <a:schemeClr val="tx1"/>
                  </a:solidFill>
                </a:rPr>
                <a:t>PAID SEARCH</a:t>
              </a:r>
            </a:p>
          </p:txBody>
        </p:sp>
        <p:sp>
          <p:nvSpPr>
            <p:cNvPr id="23" name="TextBox 22">
              <a:extLst>
                <a:ext uri="{FF2B5EF4-FFF2-40B4-BE49-F238E27FC236}">
                  <a16:creationId xmlns:a16="http://schemas.microsoft.com/office/drawing/2014/main" id="{298470A4-7ABD-5383-8078-9513BA40D046}"/>
                </a:ext>
              </a:extLst>
            </p:cNvPr>
            <p:cNvSpPr txBox="1"/>
            <p:nvPr/>
          </p:nvSpPr>
          <p:spPr>
            <a:xfrm>
              <a:off x="526294" y="3759342"/>
              <a:ext cx="1557820"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3200">
                  <a:solidFill>
                    <a:schemeClr val="tx1"/>
                  </a:solidFill>
                </a:rPr>
                <a:t>-78.4%</a:t>
              </a:r>
            </a:p>
          </p:txBody>
        </p:sp>
      </p:grpSp>
      <p:sp>
        <p:nvSpPr>
          <p:cNvPr id="3" name="Text 5">
            <a:extLst>
              <a:ext uri="{FF2B5EF4-FFF2-40B4-BE49-F238E27FC236}">
                <a16:creationId xmlns:a16="http://schemas.microsoft.com/office/drawing/2014/main" id="{A059016E-8240-51CF-6C84-ED4E758CCE5E}"/>
              </a:ext>
            </a:extLst>
          </p:cNvPr>
          <p:cNvSpPr/>
          <p:nvPr/>
        </p:nvSpPr>
        <p:spPr>
          <a:xfrm>
            <a:off x="9753600" y="6460198"/>
            <a:ext cx="1428320" cy="426720"/>
          </a:xfrm>
          <a:prstGeom prst="rect">
            <a:avLst/>
          </a:prstGeom>
          <a:noFill/>
          <a:ln/>
        </p:spPr>
        <p:txBody>
          <a:bodyPr wrap="square" lIns="0" tIns="0" rIns="0" bIns="0" rtlCol="0" anchor="ctr"/>
          <a:lstStyle/>
          <a:p>
            <a:pPr algn="r"/>
            <a:r>
              <a:rPr lang="en-US" sz="1200">
                <a:hlinkClick r:id="rId3"/>
              </a:rPr>
              <a:t>Seer Interactive</a:t>
            </a:r>
            <a:endParaRPr lang="en-US" sz="1200"/>
          </a:p>
        </p:txBody>
      </p:sp>
    </p:spTree>
    <p:extLst>
      <p:ext uri="{BB962C8B-B14F-4D97-AF65-F5344CB8AC3E}">
        <p14:creationId xmlns:p14="http://schemas.microsoft.com/office/powerpoint/2010/main" val="221906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ADDF4-27AE-7BB0-5A84-5923A3282406}"/>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F5267EEA-67E9-3CF8-98A0-C50BD0DA0C0A}"/>
              </a:ext>
            </a:extLst>
          </p:cNvPr>
          <p:cNvSpPr>
            <a:spLocks noGrp="1"/>
          </p:cNvSpPr>
          <p:nvPr>
            <p:ph type="title"/>
          </p:nvPr>
        </p:nvSpPr>
        <p:spPr>
          <a:xfrm>
            <a:off x="219456" y="585216"/>
            <a:ext cx="11559794" cy="832104"/>
          </a:xfrm>
        </p:spPr>
        <p:txBody>
          <a:bodyPr/>
          <a:lstStyle/>
          <a:p>
            <a:r>
              <a:rPr lang="en-US"/>
              <a:t>SEARCH BEHAVIOR ACROSS VERTICALS</a:t>
            </a:r>
          </a:p>
        </p:txBody>
      </p:sp>
      <p:sp>
        <p:nvSpPr>
          <p:cNvPr id="5" name="Slide Number Placeholder 4">
            <a:extLst>
              <a:ext uri="{FF2B5EF4-FFF2-40B4-BE49-F238E27FC236}">
                <a16:creationId xmlns:a16="http://schemas.microsoft.com/office/drawing/2014/main" id="{C5133E89-1630-7534-2787-CCDE97DBF519}"/>
              </a:ext>
            </a:extLst>
          </p:cNvPr>
          <p:cNvSpPr>
            <a:spLocks noGrp="1"/>
          </p:cNvSpPr>
          <p:nvPr>
            <p:ph type="sldNum" sz="quarter" idx="12"/>
          </p:nvPr>
        </p:nvSpPr>
        <p:spPr>
          <a:xfrm>
            <a:off x="11779250" y="6540500"/>
            <a:ext cx="354250" cy="254000"/>
          </a:xfrm>
        </p:spPr>
        <p:txBody>
          <a:bodyPr/>
          <a:lstStyle/>
          <a:p>
            <a:fld id="{ED47D9D2-1C31-4C47-A687-7F3FAAAF0239}" type="slidenum">
              <a:rPr lang="en-US" smtClean="0"/>
              <a:pPr/>
              <a:t>14</a:t>
            </a:fld>
            <a:endParaRPr lang="en-US"/>
          </a:p>
        </p:txBody>
      </p:sp>
      <p:sp>
        <p:nvSpPr>
          <p:cNvPr id="18" name="Text Placeholder 17">
            <a:extLst>
              <a:ext uri="{FF2B5EF4-FFF2-40B4-BE49-F238E27FC236}">
                <a16:creationId xmlns:a16="http://schemas.microsoft.com/office/drawing/2014/main" id="{B7841219-E954-5D00-BD7F-EB4D76440808}"/>
              </a:ext>
            </a:extLst>
          </p:cNvPr>
          <p:cNvSpPr>
            <a:spLocks noGrp="1"/>
          </p:cNvSpPr>
          <p:nvPr>
            <p:ph type="body" sz="quarter" idx="13"/>
          </p:nvPr>
        </p:nvSpPr>
        <p:spPr>
          <a:xfrm>
            <a:off x="247650" y="296863"/>
            <a:ext cx="2668588" cy="155575"/>
          </a:xfrm>
        </p:spPr>
        <p:txBody>
          <a:bodyPr/>
          <a:lstStyle/>
          <a:p>
            <a:r>
              <a:rPr lang="en-US"/>
              <a:t>HOW AI IS RESHAPING SEARCH STRATEGY</a:t>
            </a:r>
          </a:p>
        </p:txBody>
      </p:sp>
      <p:sp>
        <p:nvSpPr>
          <p:cNvPr id="25" name="TextBox 24">
            <a:extLst>
              <a:ext uri="{FF2B5EF4-FFF2-40B4-BE49-F238E27FC236}">
                <a16:creationId xmlns:a16="http://schemas.microsoft.com/office/drawing/2014/main" id="{E7665FD8-A916-57F9-8D1E-6B4566303A65}"/>
              </a:ext>
            </a:extLst>
          </p:cNvPr>
          <p:cNvSpPr txBox="1"/>
          <p:nvPr/>
        </p:nvSpPr>
        <p:spPr>
          <a:xfrm>
            <a:off x="9875212" y="17004"/>
            <a:ext cx="2165991"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r>
              <a:rPr lang="en-US" sz="750">
                <a:solidFill>
                  <a:schemeClr val="accent1"/>
                </a:solidFill>
                <a:hlinkClick r:id="rId4"/>
              </a:rPr>
              <a:t>Adobe 1</a:t>
            </a:r>
            <a:endParaRPr lang="en-US" sz="750">
              <a:solidFill>
                <a:schemeClr val="accent1"/>
              </a:solidFill>
            </a:endParaRPr>
          </a:p>
          <a:p>
            <a:pPr algn="r"/>
            <a:r>
              <a:rPr lang="en-US" sz="750">
                <a:solidFill>
                  <a:schemeClr val="accent1"/>
                </a:solidFill>
                <a:hlinkClick r:id="rId5"/>
              </a:rPr>
              <a:t>Adobe 2</a:t>
            </a:r>
            <a:endParaRPr lang="en-US" sz="750">
              <a:solidFill>
                <a:schemeClr val="accent1"/>
              </a:solidFill>
            </a:endParaRPr>
          </a:p>
          <a:p>
            <a:pPr algn="r"/>
            <a:endParaRPr lang="en-US" sz="750">
              <a:solidFill>
                <a:schemeClr val="accent1"/>
              </a:solidFill>
            </a:endParaRPr>
          </a:p>
        </p:txBody>
      </p:sp>
      <p:grpSp>
        <p:nvGrpSpPr>
          <p:cNvPr id="13" name="Group 12">
            <a:extLst>
              <a:ext uri="{FF2B5EF4-FFF2-40B4-BE49-F238E27FC236}">
                <a16:creationId xmlns:a16="http://schemas.microsoft.com/office/drawing/2014/main" id="{D24C490F-6592-7297-A477-0C0DB6CB2E4E}"/>
              </a:ext>
            </a:extLst>
          </p:cNvPr>
          <p:cNvGrpSpPr/>
          <p:nvPr/>
        </p:nvGrpSpPr>
        <p:grpSpPr>
          <a:xfrm>
            <a:off x="6139382" y="1409070"/>
            <a:ext cx="5611118" cy="2352575"/>
            <a:chOff x="402336" y="2676086"/>
            <a:chExt cx="5611118" cy="2352575"/>
          </a:xfrm>
        </p:grpSpPr>
        <p:sp>
          <p:nvSpPr>
            <p:cNvPr id="14" name="Rectangle 13">
              <a:extLst>
                <a:ext uri="{FF2B5EF4-FFF2-40B4-BE49-F238E27FC236}">
                  <a16:creationId xmlns:a16="http://schemas.microsoft.com/office/drawing/2014/main" id="{4CA24DDF-E031-903F-2968-BAF8E700697D}"/>
                </a:ext>
              </a:extLst>
            </p:cNvPr>
            <p:cNvSpPr/>
            <p:nvPr/>
          </p:nvSpPr>
          <p:spPr>
            <a:xfrm>
              <a:off x="402336" y="2676086"/>
              <a:ext cx="5611118" cy="23525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3A7B871-D72C-2293-2A54-1D984C8A2CEF}"/>
                </a:ext>
              </a:extLst>
            </p:cNvPr>
            <p:cNvSpPr txBox="1"/>
            <p:nvPr/>
          </p:nvSpPr>
          <p:spPr>
            <a:xfrm>
              <a:off x="2208071" y="3293933"/>
              <a:ext cx="3805383" cy="1577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b="0"/>
                <a:t>Nearly 25% of B2B buyers use generative AI more often than traditional search</a:t>
              </a:r>
            </a:p>
          </p:txBody>
        </p:sp>
        <p:sp>
          <p:nvSpPr>
            <p:cNvPr id="17" name="TextBox 16">
              <a:extLst>
                <a:ext uri="{FF2B5EF4-FFF2-40B4-BE49-F238E27FC236}">
                  <a16:creationId xmlns:a16="http://schemas.microsoft.com/office/drawing/2014/main" id="{47928141-B97C-B63B-D3F9-96EEBF218818}"/>
                </a:ext>
              </a:extLst>
            </p:cNvPr>
            <p:cNvSpPr txBox="1"/>
            <p:nvPr/>
          </p:nvSpPr>
          <p:spPr>
            <a:xfrm>
              <a:off x="461051" y="2676087"/>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t>B2B</a:t>
              </a:r>
            </a:p>
          </p:txBody>
        </p:sp>
        <p:sp>
          <p:nvSpPr>
            <p:cNvPr id="19" name="TextBox 18">
              <a:extLst>
                <a:ext uri="{FF2B5EF4-FFF2-40B4-BE49-F238E27FC236}">
                  <a16:creationId xmlns:a16="http://schemas.microsoft.com/office/drawing/2014/main" id="{E0B42044-1814-7F9E-02FC-215EEF343911}"/>
                </a:ext>
              </a:extLst>
            </p:cNvPr>
            <p:cNvSpPr txBox="1"/>
            <p:nvPr/>
          </p:nvSpPr>
          <p:spPr>
            <a:xfrm>
              <a:off x="406043" y="3759342"/>
              <a:ext cx="1911290"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4800"/>
                <a:t>25%</a:t>
              </a:r>
            </a:p>
          </p:txBody>
        </p:sp>
      </p:grpSp>
      <p:grpSp>
        <p:nvGrpSpPr>
          <p:cNvPr id="20" name="Group 19">
            <a:extLst>
              <a:ext uri="{FF2B5EF4-FFF2-40B4-BE49-F238E27FC236}">
                <a16:creationId xmlns:a16="http://schemas.microsoft.com/office/drawing/2014/main" id="{87B844F7-32E0-CBC8-E9F6-A9CC1C1B1734}"/>
              </a:ext>
            </a:extLst>
          </p:cNvPr>
          <p:cNvGrpSpPr/>
          <p:nvPr/>
        </p:nvGrpSpPr>
        <p:grpSpPr>
          <a:xfrm>
            <a:off x="6139381" y="4001898"/>
            <a:ext cx="5611119" cy="2352575"/>
            <a:chOff x="402335" y="2676086"/>
            <a:chExt cx="5611119" cy="2352575"/>
          </a:xfrm>
        </p:grpSpPr>
        <p:sp>
          <p:nvSpPr>
            <p:cNvPr id="21" name="Rectangle 20">
              <a:extLst>
                <a:ext uri="{FF2B5EF4-FFF2-40B4-BE49-F238E27FC236}">
                  <a16:creationId xmlns:a16="http://schemas.microsoft.com/office/drawing/2014/main" id="{D14D9FDB-D274-6FEF-7E03-A9A9A35C8294}"/>
                </a:ext>
              </a:extLst>
            </p:cNvPr>
            <p:cNvSpPr/>
            <p:nvPr/>
          </p:nvSpPr>
          <p:spPr>
            <a:xfrm>
              <a:off x="402336" y="2676086"/>
              <a:ext cx="5611118" cy="23525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2B36A8E-4197-DC86-2C41-0278DE960FAA}"/>
                </a:ext>
              </a:extLst>
            </p:cNvPr>
            <p:cNvSpPr txBox="1"/>
            <p:nvPr/>
          </p:nvSpPr>
          <p:spPr>
            <a:xfrm>
              <a:off x="2208071" y="3293933"/>
              <a:ext cx="3805383" cy="1577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b="0">
                  <a:solidFill>
                    <a:schemeClr val="tx1"/>
                  </a:solidFill>
                </a:rPr>
                <a:t>77% of journalists use AI tools in their work, with 42% using ChatGPT</a:t>
              </a:r>
            </a:p>
          </p:txBody>
        </p:sp>
        <p:sp>
          <p:nvSpPr>
            <p:cNvPr id="23" name="TextBox 22">
              <a:extLst>
                <a:ext uri="{FF2B5EF4-FFF2-40B4-BE49-F238E27FC236}">
                  <a16:creationId xmlns:a16="http://schemas.microsoft.com/office/drawing/2014/main" id="{D15EBD50-A9D5-FEFE-46FA-97585B0308AB}"/>
                </a:ext>
              </a:extLst>
            </p:cNvPr>
            <p:cNvSpPr txBox="1"/>
            <p:nvPr/>
          </p:nvSpPr>
          <p:spPr>
            <a:xfrm>
              <a:off x="461051" y="2676087"/>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solidFill>
                    <a:schemeClr val="tx1"/>
                  </a:solidFill>
                </a:rPr>
                <a:t>Corp Comms</a:t>
              </a:r>
            </a:p>
          </p:txBody>
        </p:sp>
        <p:sp>
          <p:nvSpPr>
            <p:cNvPr id="26" name="TextBox 25">
              <a:extLst>
                <a:ext uri="{FF2B5EF4-FFF2-40B4-BE49-F238E27FC236}">
                  <a16:creationId xmlns:a16="http://schemas.microsoft.com/office/drawing/2014/main" id="{6A144BED-E479-8335-B78B-103D9EBA486E}"/>
                </a:ext>
              </a:extLst>
            </p:cNvPr>
            <p:cNvSpPr txBox="1"/>
            <p:nvPr/>
          </p:nvSpPr>
          <p:spPr>
            <a:xfrm>
              <a:off x="402335" y="3759342"/>
              <a:ext cx="1935509"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4800">
                  <a:solidFill>
                    <a:schemeClr val="tx1"/>
                  </a:solidFill>
                </a:rPr>
                <a:t>77%</a:t>
              </a:r>
            </a:p>
          </p:txBody>
        </p:sp>
      </p:grpSp>
      <p:grpSp>
        <p:nvGrpSpPr>
          <p:cNvPr id="28" name="Group 27">
            <a:extLst>
              <a:ext uri="{FF2B5EF4-FFF2-40B4-BE49-F238E27FC236}">
                <a16:creationId xmlns:a16="http://schemas.microsoft.com/office/drawing/2014/main" id="{FF398060-7578-C3A7-AC9E-24996B01DEAA}"/>
              </a:ext>
            </a:extLst>
          </p:cNvPr>
          <p:cNvGrpSpPr/>
          <p:nvPr/>
        </p:nvGrpSpPr>
        <p:grpSpPr>
          <a:xfrm>
            <a:off x="300612" y="1409070"/>
            <a:ext cx="5611118" cy="2352575"/>
            <a:chOff x="-5476839" y="2538451"/>
            <a:chExt cx="5611118" cy="2352575"/>
          </a:xfrm>
        </p:grpSpPr>
        <p:sp>
          <p:nvSpPr>
            <p:cNvPr id="30" name="Rectangle 29">
              <a:extLst>
                <a:ext uri="{FF2B5EF4-FFF2-40B4-BE49-F238E27FC236}">
                  <a16:creationId xmlns:a16="http://schemas.microsoft.com/office/drawing/2014/main" id="{99E4E76C-7C0F-FA81-A2FB-F1DA71C67450}"/>
                </a:ext>
              </a:extLst>
            </p:cNvPr>
            <p:cNvSpPr/>
            <p:nvPr/>
          </p:nvSpPr>
          <p:spPr>
            <a:xfrm>
              <a:off x="-5476839" y="2538451"/>
              <a:ext cx="5611118" cy="23525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290DC90-E16D-A90E-AD43-784E92BCEE5C}"/>
                </a:ext>
              </a:extLst>
            </p:cNvPr>
            <p:cNvSpPr txBox="1"/>
            <p:nvPr/>
          </p:nvSpPr>
          <p:spPr>
            <a:xfrm>
              <a:off x="-3618663" y="2929733"/>
              <a:ext cx="3309684" cy="17896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b="0"/>
                <a:t>60% of U.S. adults use AI to search for information; </a:t>
              </a:r>
            </a:p>
            <a:p>
              <a:r>
                <a:rPr lang="en-US" b="0"/>
                <a:t>74% for adults under 30 use AI search</a:t>
              </a:r>
            </a:p>
            <a:p>
              <a:endParaRPr lang="en-US" b="0"/>
            </a:p>
          </p:txBody>
        </p:sp>
        <p:sp>
          <p:nvSpPr>
            <p:cNvPr id="32" name="TextBox 31">
              <a:extLst>
                <a:ext uri="{FF2B5EF4-FFF2-40B4-BE49-F238E27FC236}">
                  <a16:creationId xmlns:a16="http://schemas.microsoft.com/office/drawing/2014/main" id="{F8A5AFFA-7976-74EE-D06A-EC03AFD842A0}"/>
                </a:ext>
              </a:extLst>
            </p:cNvPr>
            <p:cNvSpPr txBox="1"/>
            <p:nvPr/>
          </p:nvSpPr>
          <p:spPr>
            <a:xfrm>
              <a:off x="-5391534" y="2606034"/>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t>B2C</a:t>
              </a:r>
            </a:p>
          </p:txBody>
        </p:sp>
        <p:sp>
          <p:nvSpPr>
            <p:cNvPr id="33" name="TextBox 32">
              <a:extLst>
                <a:ext uri="{FF2B5EF4-FFF2-40B4-BE49-F238E27FC236}">
                  <a16:creationId xmlns:a16="http://schemas.microsoft.com/office/drawing/2014/main" id="{3BC13803-27E2-0C97-BEEA-B6DC3529744C}"/>
                </a:ext>
              </a:extLst>
            </p:cNvPr>
            <p:cNvSpPr txBox="1"/>
            <p:nvPr/>
          </p:nvSpPr>
          <p:spPr>
            <a:xfrm>
              <a:off x="-5446033" y="3571764"/>
              <a:ext cx="1849004"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4800"/>
                <a:t>60%</a:t>
              </a:r>
            </a:p>
          </p:txBody>
        </p:sp>
      </p:grpSp>
      <p:grpSp>
        <p:nvGrpSpPr>
          <p:cNvPr id="34" name="Group 33">
            <a:extLst>
              <a:ext uri="{FF2B5EF4-FFF2-40B4-BE49-F238E27FC236}">
                <a16:creationId xmlns:a16="http://schemas.microsoft.com/office/drawing/2014/main" id="{1A8FFE76-D768-EF6F-4069-9FEBFE7FFEE1}"/>
              </a:ext>
            </a:extLst>
          </p:cNvPr>
          <p:cNvGrpSpPr/>
          <p:nvPr/>
        </p:nvGrpSpPr>
        <p:grpSpPr>
          <a:xfrm>
            <a:off x="282304" y="3987133"/>
            <a:ext cx="5611119" cy="2352575"/>
            <a:chOff x="402335" y="2676086"/>
            <a:chExt cx="5611119" cy="2352575"/>
          </a:xfrm>
        </p:grpSpPr>
        <p:sp>
          <p:nvSpPr>
            <p:cNvPr id="35" name="Rectangle 34">
              <a:extLst>
                <a:ext uri="{FF2B5EF4-FFF2-40B4-BE49-F238E27FC236}">
                  <a16:creationId xmlns:a16="http://schemas.microsoft.com/office/drawing/2014/main" id="{70BD4F32-6D1B-C604-2921-323A66FBA51A}"/>
                </a:ext>
              </a:extLst>
            </p:cNvPr>
            <p:cNvSpPr/>
            <p:nvPr/>
          </p:nvSpPr>
          <p:spPr>
            <a:xfrm>
              <a:off x="402336" y="2676086"/>
              <a:ext cx="5611118" cy="23525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F11F79-ED0A-415B-01D7-EC947F2B7823}"/>
                </a:ext>
              </a:extLst>
            </p:cNvPr>
            <p:cNvSpPr txBox="1"/>
            <p:nvPr/>
          </p:nvSpPr>
          <p:spPr>
            <a:xfrm>
              <a:off x="2208071" y="3498573"/>
              <a:ext cx="3805383" cy="1373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b="0">
                  <a:solidFill>
                    <a:schemeClr val="tx1"/>
                  </a:solidFill>
                </a:rPr>
                <a:t>of travelers have used AI to find or book accommodations</a:t>
              </a:r>
            </a:p>
            <a:p>
              <a:endParaRPr lang="en-US" b="0">
                <a:solidFill>
                  <a:schemeClr val="tx1"/>
                </a:solidFill>
              </a:endParaRPr>
            </a:p>
          </p:txBody>
        </p:sp>
        <p:sp>
          <p:nvSpPr>
            <p:cNvPr id="37" name="TextBox 36">
              <a:extLst>
                <a:ext uri="{FF2B5EF4-FFF2-40B4-BE49-F238E27FC236}">
                  <a16:creationId xmlns:a16="http://schemas.microsoft.com/office/drawing/2014/main" id="{22C379DF-9826-4D31-D7B7-734491B5CD66}"/>
                </a:ext>
              </a:extLst>
            </p:cNvPr>
            <p:cNvSpPr txBox="1"/>
            <p:nvPr/>
          </p:nvSpPr>
          <p:spPr>
            <a:xfrm>
              <a:off x="461051" y="2676087"/>
              <a:ext cx="3046648"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r>
                <a:rPr lang="en-US" sz="2400">
                  <a:solidFill>
                    <a:schemeClr val="tx1"/>
                  </a:solidFill>
                </a:rPr>
                <a:t>Travel</a:t>
              </a:r>
            </a:p>
          </p:txBody>
        </p:sp>
        <p:sp>
          <p:nvSpPr>
            <p:cNvPr id="38" name="TextBox 37">
              <a:extLst>
                <a:ext uri="{FF2B5EF4-FFF2-40B4-BE49-F238E27FC236}">
                  <a16:creationId xmlns:a16="http://schemas.microsoft.com/office/drawing/2014/main" id="{3C21C3F9-38BB-EDBC-10A8-C333C96B4AAE}"/>
                </a:ext>
              </a:extLst>
            </p:cNvPr>
            <p:cNvSpPr txBox="1"/>
            <p:nvPr/>
          </p:nvSpPr>
          <p:spPr>
            <a:xfrm>
              <a:off x="402335" y="3759342"/>
              <a:ext cx="1896995" cy="4394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nSpc>
                  <a:spcPts val="2800"/>
                </a:lnSpc>
                <a:defRPr sz="2000" b="1">
                  <a:solidFill>
                    <a:schemeClr val="bg1"/>
                  </a:solidFill>
                </a:defRPr>
              </a:lvl1pPr>
            </a:lstStyle>
            <a:p>
              <a:pPr algn="ctr"/>
              <a:r>
                <a:rPr lang="en-US" sz="4800">
                  <a:solidFill>
                    <a:schemeClr val="tx1"/>
                  </a:solidFill>
                </a:rPr>
                <a:t>86%</a:t>
              </a:r>
            </a:p>
          </p:txBody>
        </p:sp>
      </p:grpSp>
      <p:sp>
        <p:nvSpPr>
          <p:cNvPr id="2" name="Text 5">
            <a:extLst>
              <a:ext uri="{FF2B5EF4-FFF2-40B4-BE49-F238E27FC236}">
                <a16:creationId xmlns:a16="http://schemas.microsoft.com/office/drawing/2014/main" id="{BD22E830-ACE6-2D15-73CC-8E38EA92E105}"/>
              </a:ext>
            </a:extLst>
          </p:cNvPr>
          <p:cNvSpPr/>
          <p:nvPr/>
        </p:nvSpPr>
        <p:spPr>
          <a:xfrm>
            <a:off x="7646504" y="6367780"/>
            <a:ext cx="3590817" cy="426720"/>
          </a:xfrm>
          <a:prstGeom prst="rect">
            <a:avLst/>
          </a:prstGeom>
          <a:noFill/>
          <a:ln/>
        </p:spPr>
        <p:txBody>
          <a:bodyPr wrap="square" lIns="0" tIns="0" rIns="0" bIns="0" rtlCol="0" anchor="ctr"/>
          <a:lstStyle/>
          <a:p>
            <a:pPr algn="r"/>
            <a:r>
              <a:rPr lang="en-US" sz="1200">
                <a:cs typeface="Arial" pitchFamily="34" charset="-120"/>
                <a:hlinkClick r:id="rId6"/>
              </a:rPr>
              <a:t>AP</a:t>
            </a:r>
            <a:r>
              <a:rPr lang="en-US" sz="1200">
                <a:cs typeface="Arial" pitchFamily="34" charset="-120"/>
              </a:rPr>
              <a:t> | </a:t>
            </a:r>
            <a:r>
              <a:rPr lang="en-US" sz="1200">
                <a:cs typeface="Arial" pitchFamily="34" charset="-120"/>
                <a:hlinkClick r:id="rId7"/>
              </a:rPr>
              <a:t>Digital Commerce 360 </a:t>
            </a:r>
            <a:r>
              <a:rPr lang="en-US" sz="1200">
                <a:cs typeface="Arial" pitchFamily="34" charset="-120"/>
              </a:rPr>
              <a:t>| </a:t>
            </a:r>
            <a:r>
              <a:rPr lang="en-US" sz="1200">
                <a:cs typeface="Arial" pitchFamily="34" charset="-120"/>
                <a:hlinkClick r:id="rId8"/>
              </a:rPr>
              <a:t>PR News</a:t>
            </a:r>
            <a:r>
              <a:rPr lang="en-US" sz="1200">
                <a:cs typeface="Arial" pitchFamily="34" charset="-120"/>
              </a:rPr>
              <a:t> | </a:t>
            </a:r>
            <a:r>
              <a:rPr lang="en-US" sz="1200">
                <a:cs typeface="Arial" pitchFamily="34" charset="-120"/>
                <a:hlinkClick r:id="rId9"/>
              </a:rPr>
              <a:t>Muck Rack</a:t>
            </a:r>
            <a:endParaRPr lang="en-US" sz="1200"/>
          </a:p>
        </p:txBody>
      </p:sp>
    </p:spTree>
    <p:extLst>
      <p:ext uri="{BB962C8B-B14F-4D97-AF65-F5344CB8AC3E}">
        <p14:creationId xmlns:p14="http://schemas.microsoft.com/office/powerpoint/2010/main" val="176142883"/>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B80F6-4DF2-53C0-F75D-8FFB3CFFF45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8160D08-D029-DADD-FFE6-391A45A7535A}"/>
              </a:ext>
            </a:extLst>
          </p:cNvPr>
          <p:cNvSpPr>
            <a:spLocks noGrp="1"/>
          </p:cNvSpPr>
          <p:nvPr>
            <p:ph type="title"/>
          </p:nvPr>
        </p:nvSpPr>
        <p:spPr>
          <a:xfrm>
            <a:off x="219455" y="585216"/>
            <a:ext cx="10694077" cy="832104"/>
          </a:xfrm>
        </p:spPr>
        <p:txBody>
          <a:bodyPr/>
          <a:lstStyle/>
          <a:p>
            <a:r>
              <a:rPr lang="en-US"/>
              <a:t>B2B CMOs ADOPTING GEO</a:t>
            </a:r>
          </a:p>
        </p:txBody>
      </p:sp>
      <p:sp>
        <p:nvSpPr>
          <p:cNvPr id="2" name="Slide Number Placeholder 1">
            <a:extLst>
              <a:ext uri="{FF2B5EF4-FFF2-40B4-BE49-F238E27FC236}">
                <a16:creationId xmlns:a16="http://schemas.microsoft.com/office/drawing/2014/main" id="{DC60745A-F657-3A2D-5B71-B8CFAD6A28F1}"/>
              </a:ext>
            </a:extLst>
          </p:cNvPr>
          <p:cNvSpPr>
            <a:spLocks noGrp="1"/>
          </p:cNvSpPr>
          <p:nvPr>
            <p:ph type="sldNum" sz="quarter" idx="12"/>
          </p:nvPr>
        </p:nvSpPr>
        <p:spPr/>
        <p:txBody>
          <a:bodyPr/>
          <a:lstStyle/>
          <a:p>
            <a:fld id="{6D05E8BB-FF85-4620-9298-8F3F48811131}" type="slidenum">
              <a:rPr lang="en-US" smtClean="0"/>
              <a:t>15</a:t>
            </a:fld>
            <a:endParaRPr lang="en-US"/>
          </a:p>
        </p:txBody>
      </p:sp>
      <p:sp>
        <p:nvSpPr>
          <p:cNvPr id="11" name="Text Placeholder 10">
            <a:extLst>
              <a:ext uri="{FF2B5EF4-FFF2-40B4-BE49-F238E27FC236}">
                <a16:creationId xmlns:a16="http://schemas.microsoft.com/office/drawing/2014/main" id="{2254496F-C1BF-3335-7915-A8EA561130FA}"/>
              </a:ext>
            </a:extLst>
          </p:cNvPr>
          <p:cNvSpPr>
            <a:spLocks noGrp="1"/>
          </p:cNvSpPr>
          <p:nvPr>
            <p:ph type="body" sz="quarter" idx="13"/>
          </p:nvPr>
        </p:nvSpPr>
        <p:spPr>
          <a:xfrm>
            <a:off x="246888" y="297370"/>
            <a:ext cx="4007612" cy="155448"/>
          </a:xfrm>
        </p:spPr>
        <p:txBody>
          <a:bodyPr/>
          <a:lstStyle/>
          <a:p>
            <a:r>
              <a:rPr lang="en-US"/>
              <a:t>HOW AI IS RESHAPING SEARCH STRATEGY</a:t>
            </a:r>
          </a:p>
        </p:txBody>
      </p:sp>
      <p:sp>
        <p:nvSpPr>
          <p:cNvPr id="12" name="Text Placeholder 11">
            <a:extLst>
              <a:ext uri="{FF2B5EF4-FFF2-40B4-BE49-F238E27FC236}">
                <a16:creationId xmlns:a16="http://schemas.microsoft.com/office/drawing/2014/main" id="{F94D0D57-E9ED-BCE9-943C-0BB393EE2206}"/>
              </a:ext>
            </a:extLst>
          </p:cNvPr>
          <p:cNvSpPr>
            <a:spLocks noGrp="1"/>
          </p:cNvSpPr>
          <p:nvPr>
            <p:ph type="body" sz="quarter" idx="14"/>
          </p:nvPr>
        </p:nvSpPr>
        <p:spPr>
          <a:xfrm>
            <a:off x="224613" y="2565250"/>
            <a:ext cx="4478016" cy="3588322"/>
          </a:xfrm>
        </p:spPr>
        <p:txBody>
          <a:bodyPr/>
          <a:lstStyle/>
          <a:p>
            <a:pPr marL="0" indent="0">
              <a:spcAft>
                <a:spcPts val="1200"/>
              </a:spcAft>
              <a:buNone/>
            </a:pPr>
            <a:r>
              <a:rPr lang="en-US" sz="1600" b="1"/>
              <a:t>Top reasons for adopting GEO (tied at 42%): </a:t>
            </a:r>
          </a:p>
          <a:p>
            <a:pPr>
              <a:spcAft>
                <a:spcPts val="1200"/>
              </a:spcAft>
            </a:pPr>
            <a:r>
              <a:rPr lang="en-US" sz="1600"/>
              <a:t>Declining SEO performance</a:t>
            </a:r>
          </a:p>
          <a:p>
            <a:pPr>
              <a:spcAft>
                <a:spcPts val="1200"/>
              </a:spcAft>
            </a:pPr>
            <a:r>
              <a:rPr lang="en-US" sz="1600"/>
              <a:t>Changing buying behavior</a:t>
            </a:r>
          </a:p>
          <a:p>
            <a:pPr marL="0" indent="0">
              <a:spcAft>
                <a:spcPts val="1200"/>
              </a:spcAft>
              <a:buNone/>
            </a:pPr>
            <a:endParaRPr lang="en-US" sz="1600" b="1"/>
          </a:p>
          <a:p>
            <a:pPr marL="0" indent="0">
              <a:spcAft>
                <a:spcPts val="1200"/>
              </a:spcAft>
              <a:buNone/>
            </a:pPr>
            <a:r>
              <a:rPr lang="en-US" sz="1600" b="1"/>
              <a:t>94% of CMOs plan to increase investment in GEO in 2026</a:t>
            </a:r>
            <a:endParaRPr lang="en-US" sz="1600"/>
          </a:p>
        </p:txBody>
      </p:sp>
      <p:sp>
        <p:nvSpPr>
          <p:cNvPr id="13" name="Text Placeholder 12">
            <a:extLst>
              <a:ext uri="{FF2B5EF4-FFF2-40B4-BE49-F238E27FC236}">
                <a16:creationId xmlns:a16="http://schemas.microsoft.com/office/drawing/2014/main" id="{F40285BC-353E-CB91-FDEE-90CDA7EB6278}"/>
              </a:ext>
            </a:extLst>
          </p:cNvPr>
          <p:cNvSpPr>
            <a:spLocks noGrp="1"/>
          </p:cNvSpPr>
          <p:nvPr>
            <p:ph type="body" sz="quarter" idx="15"/>
          </p:nvPr>
        </p:nvSpPr>
        <p:spPr/>
        <p:txBody>
          <a:bodyPr/>
          <a:lstStyle/>
          <a:p>
            <a:r>
              <a:rPr lang="en-US"/>
              <a:t>Responding to Zero-Click</a:t>
            </a:r>
          </a:p>
        </p:txBody>
      </p:sp>
      <p:sp>
        <p:nvSpPr>
          <p:cNvPr id="3" name="Text 5">
            <a:extLst>
              <a:ext uri="{FF2B5EF4-FFF2-40B4-BE49-F238E27FC236}">
                <a16:creationId xmlns:a16="http://schemas.microsoft.com/office/drawing/2014/main" id="{282B9049-B4A9-C497-7DB7-C97ABB108BD9}"/>
              </a:ext>
            </a:extLst>
          </p:cNvPr>
          <p:cNvSpPr/>
          <p:nvPr/>
        </p:nvSpPr>
        <p:spPr>
          <a:xfrm>
            <a:off x="9809001" y="6447734"/>
            <a:ext cx="1428320" cy="254001"/>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3"/>
              </a:rPr>
              <a:t>EMARKETER</a:t>
            </a:r>
            <a:endParaRPr lang="en-US" sz="1200"/>
          </a:p>
        </p:txBody>
      </p:sp>
      <p:pic>
        <p:nvPicPr>
          <p:cNvPr id="1026" name="Picture 2" descr="Reasons UK/US B2B Tech CMOs Are Adapting for GEO* and Zero-Click Search in 2026, Aug 2025">
            <a:extLst>
              <a:ext uri="{FF2B5EF4-FFF2-40B4-BE49-F238E27FC236}">
                <a16:creationId xmlns:a16="http://schemas.microsoft.com/office/drawing/2014/main" id="{66152069-965F-932F-B83F-F1BD05AA86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582" y="1575233"/>
            <a:ext cx="4766950" cy="4736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290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2128217-89C6-BD48-C1EE-B980D53EE3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A8A143-D3D0-BBFE-BE91-0B638F1867C3}"/>
              </a:ext>
            </a:extLst>
          </p:cNvPr>
          <p:cNvSpPr>
            <a:spLocks noGrp="1"/>
          </p:cNvSpPr>
          <p:nvPr>
            <p:ph type="sldNum" sz="quarter" idx="12"/>
          </p:nvPr>
        </p:nvSpPr>
        <p:spPr/>
        <p:txBody>
          <a:bodyPr/>
          <a:lstStyle/>
          <a:p>
            <a:fld id="{6D05E8BB-FF85-4620-9298-8F3F48811131}" type="slidenum">
              <a:rPr lang="en-US" smtClean="0">
                <a:solidFill>
                  <a:schemeClr val="bg1"/>
                </a:solidFill>
              </a:rPr>
              <a:t>16</a:t>
            </a:fld>
            <a:endParaRPr lang="en-US">
              <a:solidFill>
                <a:schemeClr val="bg1"/>
              </a:solidFill>
            </a:endParaRPr>
          </a:p>
        </p:txBody>
      </p:sp>
      <p:sp>
        <p:nvSpPr>
          <p:cNvPr id="7" name="TextBox 6">
            <a:extLst>
              <a:ext uri="{FF2B5EF4-FFF2-40B4-BE49-F238E27FC236}">
                <a16:creationId xmlns:a16="http://schemas.microsoft.com/office/drawing/2014/main" id="{0731A66A-F87D-67E2-F236-D4054219BD23}"/>
              </a:ext>
            </a:extLst>
          </p:cNvPr>
          <p:cNvSpPr txBox="1"/>
          <p:nvPr/>
        </p:nvSpPr>
        <p:spPr>
          <a:xfrm>
            <a:off x="0" y="2828835"/>
            <a:ext cx="12192000" cy="1200329"/>
          </a:xfrm>
          <a:prstGeom prst="rect">
            <a:avLst/>
          </a:prstGeom>
          <a:noFill/>
        </p:spPr>
        <p:txBody>
          <a:bodyPr wrap="square">
            <a:spAutoFit/>
          </a:bodyPr>
          <a:lstStyle/>
          <a:p>
            <a:pPr algn="ctr"/>
            <a:r>
              <a:rPr lang="en-US" sz="7200">
                <a:solidFill>
                  <a:schemeClr val="bg1"/>
                </a:solidFill>
                <a:latin typeface="+mj-lt"/>
              </a:rPr>
              <a:t>WHAT IT MEANS</a:t>
            </a:r>
          </a:p>
        </p:txBody>
      </p:sp>
    </p:spTree>
    <p:extLst>
      <p:ext uri="{BB962C8B-B14F-4D97-AF65-F5344CB8AC3E}">
        <p14:creationId xmlns:p14="http://schemas.microsoft.com/office/powerpoint/2010/main" val="308221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383BD-40B0-DE75-4A19-356CFCFE03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3B30272-5250-3670-960C-E51302A01292}"/>
              </a:ext>
            </a:extLst>
          </p:cNvPr>
          <p:cNvSpPr>
            <a:spLocks noGrp="1"/>
          </p:cNvSpPr>
          <p:nvPr>
            <p:ph type="title"/>
          </p:nvPr>
        </p:nvSpPr>
        <p:spPr>
          <a:xfrm>
            <a:off x="219455" y="585216"/>
            <a:ext cx="11706339" cy="832104"/>
          </a:xfrm>
        </p:spPr>
        <p:txBody>
          <a:bodyPr/>
          <a:lstStyle/>
          <a:p>
            <a:r>
              <a:rPr lang="en-US" b="1"/>
              <a:t>NEW PLAYBOOK FOR BRAND VISIBILITY</a:t>
            </a:r>
            <a:endParaRPr lang="en-US"/>
          </a:p>
        </p:txBody>
      </p:sp>
      <p:sp>
        <p:nvSpPr>
          <p:cNvPr id="2" name="Slide Number Placeholder 1">
            <a:extLst>
              <a:ext uri="{FF2B5EF4-FFF2-40B4-BE49-F238E27FC236}">
                <a16:creationId xmlns:a16="http://schemas.microsoft.com/office/drawing/2014/main" id="{4A951EA4-6EB0-1317-1A1F-44FFB743EC31}"/>
              </a:ext>
            </a:extLst>
          </p:cNvPr>
          <p:cNvSpPr>
            <a:spLocks noGrp="1"/>
          </p:cNvSpPr>
          <p:nvPr>
            <p:ph type="sldNum" sz="quarter" idx="12"/>
          </p:nvPr>
        </p:nvSpPr>
        <p:spPr/>
        <p:txBody>
          <a:bodyPr/>
          <a:lstStyle/>
          <a:p>
            <a:fld id="{6D05E8BB-FF85-4620-9298-8F3F48811131}" type="slidenum">
              <a:rPr lang="en-US" smtClean="0"/>
              <a:t>17</a:t>
            </a:fld>
            <a:endParaRPr lang="en-US"/>
          </a:p>
        </p:txBody>
      </p:sp>
      <p:sp>
        <p:nvSpPr>
          <p:cNvPr id="8" name="Text Placeholder 7">
            <a:extLst>
              <a:ext uri="{FF2B5EF4-FFF2-40B4-BE49-F238E27FC236}">
                <a16:creationId xmlns:a16="http://schemas.microsoft.com/office/drawing/2014/main" id="{4CF78AE6-EBE6-F681-84FF-DF0BED0B8C7C}"/>
              </a:ext>
            </a:extLst>
          </p:cNvPr>
          <p:cNvSpPr>
            <a:spLocks noGrp="1"/>
          </p:cNvSpPr>
          <p:nvPr>
            <p:ph type="body" sz="quarter" idx="13"/>
          </p:nvPr>
        </p:nvSpPr>
        <p:spPr/>
        <p:txBody>
          <a:bodyPr/>
          <a:lstStyle/>
          <a:p>
            <a:r>
              <a:rPr lang="en-US"/>
              <a:t>HOW AI IS RESHAPING SEARCH STRATEGY</a:t>
            </a:r>
          </a:p>
        </p:txBody>
      </p:sp>
      <p:sp>
        <p:nvSpPr>
          <p:cNvPr id="23" name="Text Placeholder 8">
            <a:extLst>
              <a:ext uri="{FF2B5EF4-FFF2-40B4-BE49-F238E27FC236}">
                <a16:creationId xmlns:a16="http://schemas.microsoft.com/office/drawing/2014/main" id="{90AF3AF2-9358-37D5-2D34-AEDC935C17C1}"/>
              </a:ext>
            </a:extLst>
          </p:cNvPr>
          <p:cNvSpPr txBox="1">
            <a:spLocks/>
          </p:cNvSpPr>
          <p:nvPr/>
        </p:nvSpPr>
        <p:spPr>
          <a:xfrm>
            <a:off x="342708" y="1941482"/>
            <a:ext cx="3438285" cy="2620892"/>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2400" b="1">
                <a:solidFill>
                  <a:schemeClr val="accent5"/>
                </a:solidFill>
              </a:rPr>
              <a:t>AI models do not see marketing silos. They use the total digital footprint to assemble and synthesize their answer. </a:t>
            </a:r>
          </a:p>
        </p:txBody>
      </p:sp>
      <p:grpSp>
        <p:nvGrpSpPr>
          <p:cNvPr id="14" name="Group 13">
            <a:extLst>
              <a:ext uri="{FF2B5EF4-FFF2-40B4-BE49-F238E27FC236}">
                <a16:creationId xmlns:a16="http://schemas.microsoft.com/office/drawing/2014/main" id="{BF5F6110-274E-E2B5-2C33-71A4D3FFCA55}"/>
              </a:ext>
            </a:extLst>
          </p:cNvPr>
          <p:cNvGrpSpPr/>
          <p:nvPr/>
        </p:nvGrpSpPr>
        <p:grpSpPr>
          <a:xfrm>
            <a:off x="3886083" y="1549718"/>
            <a:ext cx="8474208" cy="5199228"/>
            <a:chOff x="3659292" y="1480873"/>
            <a:chExt cx="8474208" cy="5199228"/>
          </a:xfrm>
        </p:grpSpPr>
        <p:grpSp>
          <p:nvGrpSpPr>
            <p:cNvPr id="5" name="Group 4">
              <a:extLst>
                <a:ext uri="{FF2B5EF4-FFF2-40B4-BE49-F238E27FC236}">
                  <a16:creationId xmlns:a16="http://schemas.microsoft.com/office/drawing/2014/main" id="{32AB1883-5768-D53C-1258-0FCEC9032109}"/>
                </a:ext>
              </a:extLst>
            </p:cNvPr>
            <p:cNvGrpSpPr/>
            <p:nvPr/>
          </p:nvGrpSpPr>
          <p:grpSpPr>
            <a:xfrm>
              <a:off x="3659292" y="1480873"/>
              <a:ext cx="6427712" cy="5199228"/>
              <a:chOff x="4808107" y="1358171"/>
              <a:chExt cx="6427712" cy="5199228"/>
            </a:xfrm>
          </p:grpSpPr>
          <p:sp>
            <p:nvSpPr>
              <p:cNvPr id="21" name="Oval 20">
                <a:extLst>
                  <a:ext uri="{FF2B5EF4-FFF2-40B4-BE49-F238E27FC236}">
                    <a16:creationId xmlns:a16="http://schemas.microsoft.com/office/drawing/2014/main" id="{79DF8E8C-958D-89FE-53A8-B18AA39B6E05}"/>
                  </a:ext>
                </a:extLst>
              </p:cNvPr>
              <p:cNvSpPr/>
              <p:nvPr/>
            </p:nvSpPr>
            <p:spPr>
              <a:xfrm>
                <a:off x="7584373" y="2107509"/>
                <a:ext cx="3651446" cy="3950486"/>
              </a:xfrm>
              <a:prstGeom prst="ellipse">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786955A-EA23-36EF-FD15-E209A8266DEE}"/>
                  </a:ext>
                </a:extLst>
              </p:cNvPr>
              <p:cNvSpPr>
                <a:spLocks noChangeAspect="1"/>
              </p:cNvSpPr>
              <p:nvPr/>
            </p:nvSpPr>
            <p:spPr>
              <a:xfrm>
                <a:off x="9599742" y="2471677"/>
                <a:ext cx="1311037" cy="1311037"/>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EARNED</a:t>
                </a:r>
              </a:p>
            </p:txBody>
          </p:sp>
          <p:sp>
            <p:nvSpPr>
              <p:cNvPr id="19" name="Oval 18">
                <a:extLst>
                  <a:ext uri="{FF2B5EF4-FFF2-40B4-BE49-F238E27FC236}">
                    <a16:creationId xmlns:a16="http://schemas.microsoft.com/office/drawing/2014/main" id="{A229277D-B4AB-967A-1F09-E9BF72CC85F1}"/>
                  </a:ext>
                </a:extLst>
              </p:cNvPr>
              <p:cNvSpPr>
                <a:spLocks noChangeAspect="1"/>
              </p:cNvSpPr>
              <p:nvPr/>
            </p:nvSpPr>
            <p:spPr>
              <a:xfrm>
                <a:off x="8221068" y="1358171"/>
                <a:ext cx="1311037" cy="131103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OWNED</a:t>
                </a:r>
              </a:p>
            </p:txBody>
          </p:sp>
          <p:sp>
            <p:nvSpPr>
              <p:cNvPr id="20" name="Oval 19">
                <a:extLst>
                  <a:ext uri="{FF2B5EF4-FFF2-40B4-BE49-F238E27FC236}">
                    <a16:creationId xmlns:a16="http://schemas.microsoft.com/office/drawing/2014/main" id="{A8D42C33-DC82-0881-FCF7-8A3315E838DF}"/>
                  </a:ext>
                </a:extLst>
              </p:cNvPr>
              <p:cNvSpPr>
                <a:spLocks noChangeAspect="1"/>
              </p:cNvSpPr>
              <p:nvPr/>
            </p:nvSpPr>
            <p:spPr>
              <a:xfrm>
                <a:off x="8275665" y="5246362"/>
                <a:ext cx="1311037" cy="1311037"/>
              </a:xfrm>
              <a:prstGeom prst="ellipse">
                <a:avLst/>
              </a:prstGeom>
              <a:solidFill>
                <a:schemeClr val="accent6">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PAID</a:t>
                </a:r>
              </a:p>
            </p:txBody>
          </p:sp>
          <p:sp>
            <p:nvSpPr>
              <p:cNvPr id="29" name="Oval 28">
                <a:extLst>
                  <a:ext uri="{FF2B5EF4-FFF2-40B4-BE49-F238E27FC236}">
                    <a16:creationId xmlns:a16="http://schemas.microsoft.com/office/drawing/2014/main" id="{16D842BA-EBA5-A2FD-A86A-F393B695F172}"/>
                  </a:ext>
                </a:extLst>
              </p:cNvPr>
              <p:cNvSpPr>
                <a:spLocks noChangeAspect="1"/>
              </p:cNvSpPr>
              <p:nvPr/>
            </p:nvSpPr>
            <p:spPr>
              <a:xfrm>
                <a:off x="9613898" y="4155551"/>
                <a:ext cx="1311037" cy="1311037"/>
              </a:xfrm>
              <a:prstGeom prst="ellips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SHARED</a:t>
                </a:r>
              </a:p>
            </p:txBody>
          </p:sp>
          <p:pic>
            <p:nvPicPr>
              <p:cNvPr id="31" name="Graphic 30" descr="Gears outline">
                <a:extLst>
                  <a:ext uri="{FF2B5EF4-FFF2-40B4-BE49-F238E27FC236}">
                    <a16:creationId xmlns:a16="http://schemas.microsoft.com/office/drawing/2014/main" id="{E8BCE2BA-A21E-67F8-3398-9056E00352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4870" y="3352900"/>
                <a:ext cx="1486353" cy="1486353"/>
              </a:xfrm>
              <a:prstGeom prst="rect">
                <a:avLst/>
              </a:prstGeom>
            </p:spPr>
          </p:pic>
          <p:pic>
            <p:nvPicPr>
              <p:cNvPr id="33" name="Graphic 32" descr="Speech with solid fill">
                <a:extLst>
                  <a:ext uri="{FF2B5EF4-FFF2-40B4-BE49-F238E27FC236}">
                    <a16:creationId xmlns:a16="http://schemas.microsoft.com/office/drawing/2014/main" id="{CCEFFC78-1972-9264-4BC1-ACD0EF0530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6119" y="2661016"/>
                <a:ext cx="2207325" cy="1431774"/>
              </a:xfrm>
              <a:prstGeom prst="rect">
                <a:avLst/>
              </a:prstGeom>
            </p:spPr>
          </p:pic>
          <p:pic>
            <p:nvPicPr>
              <p:cNvPr id="37" name="Graphic 36" descr="Speech outline">
                <a:extLst>
                  <a:ext uri="{FF2B5EF4-FFF2-40B4-BE49-F238E27FC236}">
                    <a16:creationId xmlns:a16="http://schemas.microsoft.com/office/drawing/2014/main" id="{B30CA6A7-06FB-8D6E-A169-4B250B9773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5409797" y="1757300"/>
                <a:ext cx="2206532" cy="1400554"/>
              </a:xfrm>
              <a:prstGeom prst="rect">
                <a:avLst/>
              </a:prstGeom>
            </p:spPr>
          </p:pic>
          <p:pic>
            <p:nvPicPr>
              <p:cNvPr id="39" name="Graphic 38" descr="Arrow: Straight with solid fill">
                <a:extLst>
                  <a:ext uri="{FF2B5EF4-FFF2-40B4-BE49-F238E27FC236}">
                    <a16:creationId xmlns:a16="http://schemas.microsoft.com/office/drawing/2014/main" id="{C903F536-1B6B-8E07-5BAF-BC27FD5DA6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6066805">
                <a:off x="8505064" y="2725717"/>
                <a:ext cx="542923" cy="565243"/>
              </a:xfrm>
              <a:prstGeom prst="rect">
                <a:avLst/>
              </a:prstGeom>
            </p:spPr>
          </p:pic>
          <p:pic>
            <p:nvPicPr>
              <p:cNvPr id="40" name="Graphic 39" descr="Arrow: Straight with solid fill">
                <a:extLst>
                  <a:ext uri="{FF2B5EF4-FFF2-40B4-BE49-F238E27FC236}">
                    <a16:creationId xmlns:a16="http://schemas.microsoft.com/office/drawing/2014/main" id="{FCF77EBC-9FB6-A84A-35F2-D4FE8F3612C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9762012">
                <a:off x="9110588" y="3318570"/>
                <a:ext cx="542923" cy="565243"/>
              </a:xfrm>
              <a:prstGeom prst="rect">
                <a:avLst/>
              </a:prstGeom>
            </p:spPr>
          </p:pic>
          <p:pic>
            <p:nvPicPr>
              <p:cNvPr id="41" name="Graphic 40" descr="Arrow: Straight with solid fill">
                <a:extLst>
                  <a:ext uri="{FF2B5EF4-FFF2-40B4-BE49-F238E27FC236}">
                    <a16:creationId xmlns:a16="http://schemas.microsoft.com/office/drawing/2014/main" id="{C33705F1-21E8-136F-EC0C-DB3E0560CC3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2472306">
                <a:off x="9014740" y="4051892"/>
                <a:ext cx="542923" cy="565243"/>
              </a:xfrm>
              <a:prstGeom prst="rect">
                <a:avLst/>
              </a:prstGeom>
            </p:spPr>
          </p:pic>
          <p:sp>
            <p:nvSpPr>
              <p:cNvPr id="42" name="Oval 41">
                <a:extLst>
                  <a:ext uri="{FF2B5EF4-FFF2-40B4-BE49-F238E27FC236}">
                    <a16:creationId xmlns:a16="http://schemas.microsoft.com/office/drawing/2014/main" id="{8B158BFC-C52B-7C96-4643-96E31B05B25F}"/>
                  </a:ext>
                </a:extLst>
              </p:cNvPr>
              <p:cNvSpPr>
                <a:spLocks noChangeAspect="1"/>
              </p:cNvSpPr>
              <p:nvPr/>
            </p:nvSpPr>
            <p:spPr>
              <a:xfrm>
                <a:off x="7797530" y="2682876"/>
                <a:ext cx="2467815" cy="2669920"/>
              </a:xfrm>
              <a:prstGeom prst="ellipse">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B0749B6-5279-AF6C-6E68-86243DA277A3}"/>
                  </a:ext>
                </a:extLst>
              </p:cNvPr>
              <p:cNvSpPr>
                <a:spLocks noChangeAspect="1"/>
              </p:cNvSpPr>
              <p:nvPr/>
            </p:nvSpPr>
            <p:spPr>
              <a:xfrm>
                <a:off x="7631558" y="3156193"/>
                <a:ext cx="1618491" cy="1751039"/>
              </a:xfrm>
              <a:prstGeom prst="ellipse">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Arrow: Straight with solid fill">
                <a:extLst>
                  <a:ext uri="{FF2B5EF4-FFF2-40B4-BE49-F238E27FC236}">
                    <a16:creationId xmlns:a16="http://schemas.microsoft.com/office/drawing/2014/main" id="{D77896A4-8B87-C3B9-3C96-D93613C886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5176498">
                <a:off x="8392009" y="4707611"/>
                <a:ext cx="542923" cy="565243"/>
              </a:xfrm>
              <a:prstGeom prst="rect">
                <a:avLst/>
              </a:prstGeom>
            </p:spPr>
          </p:pic>
          <p:sp>
            <p:nvSpPr>
              <p:cNvPr id="48" name="TextBox 47">
                <a:extLst>
                  <a:ext uri="{FF2B5EF4-FFF2-40B4-BE49-F238E27FC236}">
                    <a16:creationId xmlns:a16="http://schemas.microsoft.com/office/drawing/2014/main" id="{A7261FAF-3B7F-D72B-9F1B-10BE66BB6B1F}"/>
                  </a:ext>
                </a:extLst>
              </p:cNvPr>
              <p:cNvSpPr txBox="1"/>
              <p:nvPr/>
            </p:nvSpPr>
            <p:spPr>
              <a:xfrm>
                <a:off x="5712917" y="2057347"/>
                <a:ext cx="1564909" cy="584775"/>
              </a:xfrm>
              <a:prstGeom prst="rect">
                <a:avLst/>
              </a:prstGeom>
              <a:noFill/>
            </p:spPr>
            <p:txBody>
              <a:bodyPr wrap="square" rtlCol="0" anchor="ctr">
                <a:spAutoFit/>
              </a:bodyPr>
              <a:lstStyle/>
              <a:p>
                <a:pPr algn="ctr"/>
                <a:r>
                  <a:rPr lang="en-US" sz="1600" b="1"/>
                  <a:t>I HAVE A QUESTION</a:t>
                </a:r>
              </a:p>
            </p:txBody>
          </p:sp>
          <p:sp>
            <p:nvSpPr>
              <p:cNvPr id="49" name="TextBox 48">
                <a:extLst>
                  <a:ext uri="{FF2B5EF4-FFF2-40B4-BE49-F238E27FC236}">
                    <a16:creationId xmlns:a16="http://schemas.microsoft.com/office/drawing/2014/main" id="{6870C54E-BBD9-E720-5AEC-9DE6E407D6C5}"/>
                  </a:ext>
                </a:extLst>
              </p:cNvPr>
              <p:cNvSpPr txBox="1"/>
              <p:nvPr/>
            </p:nvSpPr>
            <p:spPr>
              <a:xfrm>
                <a:off x="6776880" y="2959144"/>
                <a:ext cx="1564909" cy="584775"/>
              </a:xfrm>
              <a:prstGeom prst="rect">
                <a:avLst/>
              </a:prstGeom>
              <a:noFill/>
            </p:spPr>
            <p:txBody>
              <a:bodyPr wrap="square" rtlCol="0" anchor="ctr">
                <a:spAutoFit/>
              </a:bodyPr>
              <a:lstStyle/>
              <a:p>
                <a:pPr algn="ctr"/>
                <a:r>
                  <a:rPr lang="en-US" sz="1600" b="1">
                    <a:solidFill>
                      <a:schemeClr val="bg1"/>
                    </a:solidFill>
                  </a:rPr>
                  <a:t>LET ME GET THE ANSWER</a:t>
                </a:r>
              </a:p>
            </p:txBody>
          </p:sp>
          <p:pic>
            <p:nvPicPr>
              <p:cNvPr id="4" name="Graphic 3" descr="Woman outline">
                <a:extLst>
                  <a:ext uri="{FF2B5EF4-FFF2-40B4-BE49-F238E27FC236}">
                    <a16:creationId xmlns:a16="http://schemas.microsoft.com/office/drawing/2014/main" id="{04899615-B10A-EB2C-6BFC-9F50E7CB3A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08107" y="2969758"/>
                <a:ext cx="1820909" cy="1820909"/>
              </a:xfrm>
              <a:prstGeom prst="rect">
                <a:avLst/>
              </a:prstGeom>
            </p:spPr>
          </p:pic>
        </p:grpSp>
        <p:sp>
          <p:nvSpPr>
            <p:cNvPr id="6" name="TextBox 5">
              <a:extLst>
                <a:ext uri="{FF2B5EF4-FFF2-40B4-BE49-F238E27FC236}">
                  <a16:creationId xmlns:a16="http://schemas.microsoft.com/office/drawing/2014/main" id="{74A28A4B-27E3-8CB2-7DC3-42B6B72A0ED0}"/>
                </a:ext>
              </a:extLst>
            </p:cNvPr>
            <p:cNvSpPr txBox="1"/>
            <p:nvPr/>
          </p:nvSpPr>
          <p:spPr>
            <a:xfrm>
              <a:off x="8465083" y="1782954"/>
              <a:ext cx="1844526" cy="461665"/>
            </a:xfrm>
            <a:prstGeom prst="rect">
              <a:avLst/>
            </a:prstGeom>
            <a:noFill/>
          </p:spPr>
          <p:txBody>
            <a:bodyPr wrap="square" rtlCol="0">
              <a:spAutoFit/>
            </a:bodyPr>
            <a:lstStyle/>
            <a:p>
              <a:r>
                <a:rPr lang="en-US" sz="1200"/>
                <a:t>Website</a:t>
              </a:r>
            </a:p>
            <a:p>
              <a:r>
                <a:rPr lang="en-US" sz="1200"/>
                <a:t>Blog</a:t>
              </a:r>
            </a:p>
          </p:txBody>
        </p:sp>
        <p:sp>
          <p:nvSpPr>
            <p:cNvPr id="10" name="TextBox 9">
              <a:extLst>
                <a:ext uri="{FF2B5EF4-FFF2-40B4-BE49-F238E27FC236}">
                  <a16:creationId xmlns:a16="http://schemas.microsoft.com/office/drawing/2014/main" id="{7156CDFF-A714-8EB1-EDD3-4E2046DFE666}"/>
                </a:ext>
              </a:extLst>
            </p:cNvPr>
            <p:cNvSpPr txBox="1"/>
            <p:nvPr/>
          </p:nvSpPr>
          <p:spPr>
            <a:xfrm>
              <a:off x="9854478" y="2959712"/>
              <a:ext cx="1844526" cy="461665"/>
            </a:xfrm>
            <a:prstGeom prst="rect">
              <a:avLst/>
            </a:prstGeom>
            <a:noFill/>
          </p:spPr>
          <p:txBody>
            <a:bodyPr wrap="square" rtlCol="0">
              <a:spAutoFit/>
            </a:bodyPr>
            <a:lstStyle/>
            <a:p>
              <a:r>
                <a:rPr lang="en-US" sz="1200"/>
                <a:t>Media Coverage</a:t>
              </a:r>
            </a:p>
            <a:p>
              <a:r>
                <a:rPr lang="en-US" sz="1200"/>
                <a:t>Influencers</a:t>
              </a:r>
            </a:p>
          </p:txBody>
        </p:sp>
        <p:sp>
          <p:nvSpPr>
            <p:cNvPr id="11" name="TextBox 10">
              <a:extLst>
                <a:ext uri="{FF2B5EF4-FFF2-40B4-BE49-F238E27FC236}">
                  <a16:creationId xmlns:a16="http://schemas.microsoft.com/office/drawing/2014/main" id="{D23BC6B6-2316-F1F8-D080-78B357E9A509}"/>
                </a:ext>
              </a:extLst>
            </p:cNvPr>
            <p:cNvSpPr txBox="1"/>
            <p:nvPr/>
          </p:nvSpPr>
          <p:spPr>
            <a:xfrm>
              <a:off x="9875912" y="4632297"/>
              <a:ext cx="2257588" cy="646331"/>
            </a:xfrm>
            <a:prstGeom prst="rect">
              <a:avLst/>
            </a:prstGeom>
            <a:noFill/>
          </p:spPr>
          <p:txBody>
            <a:bodyPr wrap="square" rtlCol="0">
              <a:spAutoFit/>
            </a:bodyPr>
            <a:lstStyle/>
            <a:p>
              <a:r>
                <a:rPr lang="en-US" sz="1200"/>
                <a:t>Ratings &amp; Reviews</a:t>
              </a:r>
            </a:p>
            <a:p>
              <a:r>
                <a:rPr lang="en-US" sz="1200"/>
                <a:t>User-Generated Content</a:t>
              </a:r>
            </a:p>
            <a:p>
              <a:r>
                <a:rPr lang="en-US" sz="1200"/>
                <a:t>Social </a:t>
              </a:r>
            </a:p>
          </p:txBody>
        </p:sp>
        <p:sp>
          <p:nvSpPr>
            <p:cNvPr id="12" name="TextBox 11">
              <a:extLst>
                <a:ext uri="{FF2B5EF4-FFF2-40B4-BE49-F238E27FC236}">
                  <a16:creationId xmlns:a16="http://schemas.microsoft.com/office/drawing/2014/main" id="{E5BF83D1-258A-3AD8-9799-7811DAC41DAA}"/>
                </a:ext>
              </a:extLst>
            </p:cNvPr>
            <p:cNvSpPr txBox="1"/>
            <p:nvPr/>
          </p:nvSpPr>
          <p:spPr>
            <a:xfrm>
              <a:off x="8465083" y="5919087"/>
              <a:ext cx="2257588" cy="646331"/>
            </a:xfrm>
            <a:prstGeom prst="rect">
              <a:avLst/>
            </a:prstGeom>
            <a:noFill/>
          </p:spPr>
          <p:txBody>
            <a:bodyPr wrap="square" rtlCol="0">
              <a:spAutoFit/>
            </a:bodyPr>
            <a:lstStyle/>
            <a:p>
              <a:r>
                <a:rPr lang="en-US" sz="1200"/>
                <a:t>Paid AI Placement (New)</a:t>
              </a:r>
            </a:p>
            <a:p>
              <a:r>
                <a:rPr lang="en-US" sz="1200"/>
                <a:t>Media Partnerships</a:t>
              </a:r>
            </a:p>
            <a:p>
              <a:endParaRPr lang="en-US" sz="1200"/>
            </a:p>
          </p:txBody>
        </p:sp>
      </p:grpSp>
    </p:spTree>
    <p:extLst>
      <p:ext uri="{BB962C8B-B14F-4D97-AF65-F5344CB8AC3E}">
        <p14:creationId xmlns:p14="http://schemas.microsoft.com/office/powerpoint/2010/main" val="4231545315"/>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36D34-B73C-577E-27DD-F41734E80D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E9DC4E-EB3E-71E8-C628-A19C8E3E2C4A}"/>
              </a:ext>
            </a:extLst>
          </p:cNvPr>
          <p:cNvSpPr/>
          <p:nvPr/>
        </p:nvSpPr>
        <p:spPr>
          <a:xfrm>
            <a:off x="6427177" y="1961999"/>
            <a:ext cx="4545624" cy="2413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997260E7-72A9-6772-2453-66166257BCD8}"/>
              </a:ext>
            </a:extLst>
          </p:cNvPr>
          <p:cNvSpPr>
            <a:spLocks noGrp="1"/>
          </p:cNvSpPr>
          <p:nvPr>
            <p:ph type="title"/>
          </p:nvPr>
        </p:nvSpPr>
        <p:spPr>
          <a:xfrm>
            <a:off x="219455" y="585216"/>
            <a:ext cx="11783247" cy="832104"/>
          </a:xfrm>
        </p:spPr>
        <p:txBody>
          <a:bodyPr/>
          <a:lstStyle/>
          <a:p>
            <a:r>
              <a:rPr lang="en-US" b="1"/>
              <a:t>OWNED: THE TRUTH ANCHOR</a:t>
            </a:r>
            <a:endParaRPr lang="en-US"/>
          </a:p>
        </p:txBody>
      </p:sp>
      <p:sp>
        <p:nvSpPr>
          <p:cNvPr id="2" name="Slide Number Placeholder 1">
            <a:extLst>
              <a:ext uri="{FF2B5EF4-FFF2-40B4-BE49-F238E27FC236}">
                <a16:creationId xmlns:a16="http://schemas.microsoft.com/office/drawing/2014/main" id="{A41D2653-FED7-9E7C-1229-C365BD5B9BBE}"/>
              </a:ext>
            </a:extLst>
          </p:cNvPr>
          <p:cNvSpPr>
            <a:spLocks noGrp="1"/>
          </p:cNvSpPr>
          <p:nvPr>
            <p:ph type="sldNum" sz="quarter" idx="12"/>
          </p:nvPr>
        </p:nvSpPr>
        <p:spPr/>
        <p:txBody>
          <a:bodyPr/>
          <a:lstStyle/>
          <a:p>
            <a:fld id="{6D05E8BB-FF85-4620-9298-8F3F48811131}" type="slidenum">
              <a:rPr lang="en-US" smtClean="0"/>
              <a:t>18</a:t>
            </a:fld>
            <a:endParaRPr lang="en-US"/>
          </a:p>
        </p:txBody>
      </p:sp>
      <p:sp>
        <p:nvSpPr>
          <p:cNvPr id="10" name="Text Placeholder 9">
            <a:extLst>
              <a:ext uri="{FF2B5EF4-FFF2-40B4-BE49-F238E27FC236}">
                <a16:creationId xmlns:a16="http://schemas.microsoft.com/office/drawing/2014/main" id="{21868815-26C1-552F-0BD0-A63316BD579F}"/>
              </a:ext>
            </a:extLst>
          </p:cNvPr>
          <p:cNvSpPr>
            <a:spLocks noGrp="1"/>
          </p:cNvSpPr>
          <p:nvPr>
            <p:ph type="body" sz="quarter" idx="13"/>
          </p:nvPr>
        </p:nvSpPr>
        <p:spPr/>
        <p:txBody>
          <a:bodyPr/>
          <a:lstStyle/>
          <a:p>
            <a:r>
              <a:rPr lang="en-US"/>
              <a:t>HOW AI IS RESHAPING SEARCH STRATEGY</a:t>
            </a:r>
          </a:p>
        </p:txBody>
      </p:sp>
      <p:sp>
        <p:nvSpPr>
          <p:cNvPr id="11" name="Text Placeholder 10">
            <a:extLst>
              <a:ext uri="{FF2B5EF4-FFF2-40B4-BE49-F238E27FC236}">
                <a16:creationId xmlns:a16="http://schemas.microsoft.com/office/drawing/2014/main" id="{142B3939-081A-A933-32FA-82E1698C2581}"/>
              </a:ext>
            </a:extLst>
          </p:cNvPr>
          <p:cNvSpPr>
            <a:spLocks noGrp="1"/>
          </p:cNvSpPr>
          <p:nvPr>
            <p:ph type="body" sz="quarter" idx="14"/>
          </p:nvPr>
        </p:nvSpPr>
        <p:spPr>
          <a:xfrm>
            <a:off x="342912" y="2580559"/>
            <a:ext cx="5559996" cy="3845659"/>
          </a:xfrm>
        </p:spPr>
        <p:txBody>
          <a:bodyPr/>
          <a:lstStyle/>
          <a:p>
            <a:pPr>
              <a:spcAft>
                <a:spcPts val="1200"/>
              </a:spcAft>
            </a:pPr>
            <a:r>
              <a:rPr lang="en-US" sz="1600" b="1"/>
              <a:t>Trust Anchor: </a:t>
            </a:r>
            <a:br>
              <a:rPr lang="en-US" sz="1600" b="1"/>
            </a:br>
            <a:r>
              <a:rPr lang="en-US" sz="1600"/>
              <a:t>Verification point for AI-generated information</a:t>
            </a:r>
          </a:p>
          <a:p>
            <a:pPr>
              <a:spcAft>
                <a:spcPts val="1200"/>
              </a:spcAft>
            </a:pPr>
            <a:r>
              <a:rPr lang="en-US" sz="1600" b="1"/>
              <a:t>Data Source: </a:t>
            </a:r>
            <a:br>
              <a:rPr lang="en-US" sz="1600" b="1"/>
            </a:br>
            <a:r>
              <a:rPr lang="en-US" sz="1600"/>
              <a:t>Training ground for AI systems</a:t>
            </a:r>
          </a:p>
          <a:p>
            <a:pPr>
              <a:spcAft>
                <a:spcPts val="1200"/>
              </a:spcAft>
            </a:pPr>
            <a:r>
              <a:rPr lang="en-US" sz="1600" b="1"/>
              <a:t>Conversion Hub: </a:t>
            </a:r>
            <a:br>
              <a:rPr lang="en-US" sz="1600" b="1"/>
            </a:br>
            <a:r>
              <a:rPr lang="en-US" sz="1600"/>
              <a:t>Website remains pivotal for conversion points and bottom funnel content (case studies, pricing, etc.) </a:t>
            </a:r>
          </a:p>
        </p:txBody>
      </p:sp>
      <p:sp>
        <p:nvSpPr>
          <p:cNvPr id="3" name="Content Placeholder 4">
            <a:extLst>
              <a:ext uri="{FF2B5EF4-FFF2-40B4-BE49-F238E27FC236}">
                <a16:creationId xmlns:a16="http://schemas.microsoft.com/office/drawing/2014/main" id="{346DECD9-65AF-6A07-74E7-3CA82E871437}"/>
              </a:ext>
            </a:extLst>
          </p:cNvPr>
          <p:cNvSpPr txBox="1">
            <a:spLocks/>
          </p:cNvSpPr>
          <p:nvPr/>
        </p:nvSpPr>
        <p:spPr>
          <a:xfrm>
            <a:off x="6728780" y="2936291"/>
            <a:ext cx="3657600" cy="1284950"/>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b="1">
                <a:solidFill>
                  <a:schemeClr val="tx1"/>
                </a:solidFill>
              </a:rPr>
              <a:t>On average, visitors referred by AI search convert at 4.4x the rate from traditional organic search</a:t>
            </a:r>
            <a:endParaRPr lang="en-US">
              <a:solidFill>
                <a:schemeClr val="tx1"/>
              </a:solidFill>
            </a:endParaRPr>
          </a:p>
        </p:txBody>
      </p:sp>
      <p:sp>
        <p:nvSpPr>
          <p:cNvPr id="7" name="Content Placeholder 4">
            <a:extLst>
              <a:ext uri="{FF2B5EF4-FFF2-40B4-BE49-F238E27FC236}">
                <a16:creationId xmlns:a16="http://schemas.microsoft.com/office/drawing/2014/main" id="{3C1D8B40-5820-8663-D05C-29CF3889A5F0}"/>
              </a:ext>
            </a:extLst>
          </p:cNvPr>
          <p:cNvSpPr txBox="1">
            <a:spLocks/>
          </p:cNvSpPr>
          <p:nvPr/>
        </p:nvSpPr>
        <p:spPr>
          <a:xfrm>
            <a:off x="7067574" y="2169948"/>
            <a:ext cx="2980013" cy="4668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4400" b="1">
                <a:solidFill>
                  <a:schemeClr val="tx1"/>
                </a:solidFill>
              </a:rPr>
              <a:t>+4.4X</a:t>
            </a:r>
            <a:endParaRPr lang="en-US" sz="4400">
              <a:solidFill>
                <a:schemeClr val="tx1"/>
              </a:solidFill>
            </a:endParaRPr>
          </a:p>
        </p:txBody>
      </p:sp>
      <p:sp>
        <p:nvSpPr>
          <p:cNvPr id="14" name="Text Placeholder 8">
            <a:extLst>
              <a:ext uri="{FF2B5EF4-FFF2-40B4-BE49-F238E27FC236}">
                <a16:creationId xmlns:a16="http://schemas.microsoft.com/office/drawing/2014/main" id="{A51BFC5F-3BAC-16C1-B542-56D0A17BCB53}"/>
              </a:ext>
            </a:extLst>
          </p:cNvPr>
          <p:cNvSpPr txBox="1">
            <a:spLocks/>
          </p:cNvSpPr>
          <p:nvPr/>
        </p:nvSpPr>
        <p:spPr>
          <a:xfrm>
            <a:off x="342911" y="1507212"/>
            <a:ext cx="5224511" cy="93383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2400" b="1">
                <a:solidFill>
                  <a:schemeClr val="accent1"/>
                </a:solidFill>
              </a:rPr>
              <a:t>Websites are not going away — they are transforming</a:t>
            </a:r>
          </a:p>
        </p:txBody>
      </p:sp>
      <p:sp>
        <p:nvSpPr>
          <p:cNvPr id="5" name="Text 5">
            <a:extLst>
              <a:ext uri="{FF2B5EF4-FFF2-40B4-BE49-F238E27FC236}">
                <a16:creationId xmlns:a16="http://schemas.microsoft.com/office/drawing/2014/main" id="{04F6FB3A-02A8-C2DB-63E2-80CFB62BBE45}"/>
              </a:ext>
            </a:extLst>
          </p:cNvPr>
          <p:cNvSpPr/>
          <p:nvPr/>
        </p:nvSpPr>
        <p:spPr>
          <a:xfrm>
            <a:off x="9544481" y="6426218"/>
            <a:ext cx="1428320" cy="254001"/>
          </a:xfrm>
          <a:prstGeom prst="rect">
            <a:avLst/>
          </a:prstGeom>
          <a:noFill/>
          <a:ln/>
        </p:spPr>
        <p:txBody>
          <a:bodyPr wrap="square" lIns="0" tIns="0" rIns="0" bIns="0" rtlCol="0" anchor="ctr"/>
          <a:lstStyle/>
          <a:p>
            <a:pPr algn="r"/>
            <a:r>
              <a:rPr lang="en-US" sz="1200" err="1">
                <a:ea typeface="Arial" pitchFamily="34" charset="-122"/>
                <a:cs typeface="Arial" pitchFamily="34" charset="-120"/>
                <a:hlinkClick r:id="rId3"/>
              </a:rPr>
              <a:t>SemRush</a:t>
            </a:r>
            <a:endParaRPr lang="en-US" sz="1200"/>
          </a:p>
        </p:txBody>
      </p:sp>
    </p:spTree>
    <p:extLst>
      <p:ext uri="{BB962C8B-B14F-4D97-AF65-F5344CB8AC3E}">
        <p14:creationId xmlns:p14="http://schemas.microsoft.com/office/powerpoint/2010/main" val="3863975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F40A-74E2-CDB4-F787-E86A8104C3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6F65999-008E-35B4-744F-AF125075C7ED}"/>
              </a:ext>
            </a:extLst>
          </p:cNvPr>
          <p:cNvSpPr>
            <a:spLocks noGrp="1"/>
          </p:cNvSpPr>
          <p:nvPr>
            <p:ph type="title"/>
          </p:nvPr>
        </p:nvSpPr>
        <p:spPr>
          <a:xfrm>
            <a:off x="228600" y="563628"/>
            <a:ext cx="11633877" cy="832104"/>
          </a:xfrm>
        </p:spPr>
        <p:txBody>
          <a:bodyPr/>
          <a:lstStyle/>
          <a:p>
            <a:r>
              <a:rPr lang="en-US"/>
              <a:t>OWNED: </a:t>
            </a:r>
            <a:br>
              <a:rPr lang="en-US"/>
            </a:br>
            <a:r>
              <a:rPr lang="en-US"/>
              <a:t>WHAT MATTERS</a:t>
            </a:r>
          </a:p>
        </p:txBody>
      </p:sp>
      <p:sp>
        <p:nvSpPr>
          <p:cNvPr id="2" name="Slide Number Placeholder 1">
            <a:extLst>
              <a:ext uri="{FF2B5EF4-FFF2-40B4-BE49-F238E27FC236}">
                <a16:creationId xmlns:a16="http://schemas.microsoft.com/office/drawing/2014/main" id="{16838CB4-F2B9-8AD3-513C-5CFAB59E9BA8}"/>
              </a:ext>
            </a:extLst>
          </p:cNvPr>
          <p:cNvSpPr>
            <a:spLocks noGrp="1"/>
          </p:cNvSpPr>
          <p:nvPr>
            <p:ph type="sldNum" sz="quarter" idx="12"/>
          </p:nvPr>
        </p:nvSpPr>
        <p:spPr/>
        <p:txBody>
          <a:bodyPr/>
          <a:lstStyle/>
          <a:p>
            <a:fld id="{6D05E8BB-FF85-4620-9298-8F3F48811131}" type="slidenum">
              <a:rPr lang="en-US" smtClean="0"/>
              <a:t>19</a:t>
            </a:fld>
            <a:endParaRPr lang="en-US"/>
          </a:p>
        </p:txBody>
      </p:sp>
      <p:sp>
        <p:nvSpPr>
          <p:cNvPr id="9" name="Text Placeholder 8">
            <a:extLst>
              <a:ext uri="{FF2B5EF4-FFF2-40B4-BE49-F238E27FC236}">
                <a16:creationId xmlns:a16="http://schemas.microsoft.com/office/drawing/2014/main" id="{6E17E6EA-A698-4DF7-F685-192AE3433FAE}"/>
              </a:ext>
            </a:extLst>
          </p:cNvPr>
          <p:cNvSpPr>
            <a:spLocks noGrp="1"/>
          </p:cNvSpPr>
          <p:nvPr>
            <p:ph type="body" sz="quarter" idx="13"/>
          </p:nvPr>
        </p:nvSpPr>
        <p:spPr/>
        <p:txBody>
          <a:bodyPr/>
          <a:lstStyle/>
          <a:p>
            <a:r>
              <a:rPr lang="en-US"/>
              <a:t>HOW AI IS RESHAPING SEARCH STRATEGY</a:t>
            </a:r>
          </a:p>
        </p:txBody>
      </p:sp>
      <p:sp>
        <p:nvSpPr>
          <p:cNvPr id="14" name="Text Placeholder 8">
            <a:extLst>
              <a:ext uri="{FF2B5EF4-FFF2-40B4-BE49-F238E27FC236}">
                <a16:creationId xmlns:a16="http://schemas.microsoft.com/office/drawing/2014/main" id="{32DC6AAB-DFE3-7728-C63F-73BF2F25D5C3}"/>
              </a:ext>
            </a:extLst>
          </p:cNvPr>
          <p:cNvSpPr txBox="1">
            <a:spLocks/>
          </p:cNvSpPr>
          <p:nvPr/>
        </p:nvSpPr>
        <p:spPr>
          <a:xfrm>
            <a:off x="342911" y="1417320"/>
            <a:ext cx="5224511"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endParaRPr lang="en-US" sz="2400" b="1">
              <a:solidFill>
                <a:schemeClr val="accent1"/>
              </a:solidFill>
            </a:endParaRPr>
          </a:p>
        </p:txBody>
      </p:sp>
      <p:sp>
        <p:nvSpPr>
          <p:cNvPr id="17" name="Text Placeholder 16">
            <a:extLst>
              <a:ext uri="{FF2B5EF4-FFF2-40B4-BE49-F238E27FC236}">
                <a16:creationId xmlns:a16="http://schemas.microsoft.com/office/drawing/2014/main" id="{B3753134-135C-8705-3DFF-BF7C2BFB6357}"/>
              </a:ext>
            </a:extLst>
          </p:cNvPr>
          <p:cNvSpPr>
            <a:spLocks noGrp="1"/>
          </p:cNvSpPr>
          <p:nvPr>
            <p:ph type="body" sz="quarter" idx="14"/>
          </p:nvPr>
        </p:nvSpPr>
        <p:spPr>
          <a:xfrm>
            <a:off x="392967" y="2239081"/>
            <a:ext cx="5873362" cy="4062466"/>
          </a:xfrm>
        </p:spPr>
        <p:txBody>
          <a:bodyPr/>
          <a:lstStyle/>
          <a:p>
            <a:pPr marL="0" indent="0">
              <a:buNone/>
            </a:pPr>
            <a:r>
              <a:rPr lang="en-US" sz="1400" b="1"/>
              <a:t>Establish owned content as the definitive source</a:t>
            </a:r>
          </a:p>
          <a:p>
            <a:pPr marL="0" indent="0">
              <a:buNone/>
            </a:pPr>
            <a:r>
              <a:rPr lang="en-US" sz="1400"/>
              <a:t>Ensure that your brand’s core entity data — names, products, leadership, positioning, value propositions — is clearly articulated, consistent, and prominent. </a:t>
            </a:r>
          </a:p>
          <a:p>
            <a:pPr marL="0" indent="0">
              <a:buNone/>
            </a:pPr>
            <a:endParaRPr lang="en-US" sz="1400" b="1"/>
          </a:p>
          <a:p>
            <a:pPr marL="0" indent="0">
              <a:buNone/>
            </a:pPr>
            <a:r>
              <a:rPr lang="en-US" sz="1400" b="1"/>
              <a:t>Structure content for extractability</a:t>
            </a:r>
          </a:p>
          <a:p>
            <a:pPr marL="0" indent="0">
              <a:buNone/>
            </a:pPr>
            <a:r>
              <a:rPr lang="en-US" sz="1400"/>
              <a:t>AI systems pull from self-contained passages. Structure content so that individual paragraphs can stand alone as citable answers. </a:t>
            </a:r>
          </a:p>
          <a:p>
            <a:pPr marL="0" indent="0">
              <a:buNone/>
            </a:pPr>
            <a:endParaRPr lang="en-US" sz="1400" b="1"/>
          </a:p>
          <a:p>
            <a:pPr marL="0" indent="0">
              <a:buNone/>
            </a:pPr>
            <a:r>
              <a:rPr lang="en-US" sz="1400" b="1"/>
              <a:t>Implement structured data </a:t>
            </a:r>
          </a:p>
          <a:p>
            <a:pPr marL="0" indent="0">
              <a:buNone/>
            </a:pPr>
            <a:r>
              <a:rPr lang="en-US" sz="1400"/>
              <a:t>Help AI systems understand and correctly attribute your content with structured data, semantic HTML5 markup, FAQ schema, and consistent entity information. </a:t>
            </a:r>
          </a:p>
          <a:p>
            <a:pPr marL="0" indent="0">
              <a:buNone/>
            </a:pPr>
            <a:endParaRPr lang="en-US" sz="1400"/>
          </a:p>
          <a:p>
            <a:pPr marL="0" indent="0">
              <a:buNone/>
            </a:pPr>
            <a:r>
              <a:rPr lang="en-US" sz="1400" b="1"/>
              <a:t>Retain the Conversion Hub</a:t>
            </a:r>
          </a:p>
          <a:p>
            <a:pPr marL="0" indent="0">
              <a:buNone/>
            </a:pPr>
            <a:r>
              <a:rPr lang="en-US" sz="1400"/>
              <a:t>As AI summaries have taken over the role of much of the higher funnel functions, lower funnel functions of deeper evaluation and conversion execution remain with the website.</a:t>
            </a:r>
          </a:p>
        </p:txBody>
      </p:sp>
      <p:pic>
        <p:nvPicPr>
          <p:cNvPr id="6" name="Picture 5" descr="A black rectangular sign with text and a tag&#10;&#10;AI-generated content may be incorrect.">
            <a:extLst>
              <a:ext uri="{FF2B5EF4-FFF2-40B4-BE49-F238E27FC236}">
                <a16:creationId xmlns:a16="http://schemas.microsoft.com/office/drawing/2014/main" id="{DC6A4759-7E36-18F3-B91C-6C31D03A5D7B}"/>
              </a:ext>
            </a:extLst>
          </p:cNvPr>
          <p:cNvPicPr>
            <a:picLocks noChangeAspect="1"/>
          </p:cNvPicPr>
          <p:nvPr/>
        </p:nvPicPr>
        <p:blipFill>
          <a:blip r:embed="rId3"/>
          <a:stretch>
            <a:fillRect/>
          </a:stretch>
        </p:blipFill>
        <p:spPr>
          <a:xfrm>
            <a:off x="7164173" y="2620748"/>
            <a:ext cx="4538314" cy="2514226"/>
          </a:xfrm>
          <a:prstGeom prst="rect">
            <a:avLst/>
          </a:prstGeom>
        </p:spPr>
      </p:pic>
    </p:spTree>
    <p:extLst>
      <p:ext uri="{BB962C8B-B14F-4D97-AF65-F5344CB8AC3E}">
        <p14:creationId xmlns:p14="http://schemas.microsoft.com/office/powerpoint/2010/main" val="814869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3E05A-5565-2922-E6C1-D72BA17762C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FA82C88-5D00-7729-DAF1-36A0AF35DB58}"/>
              </a:ext>
            </a:extLst>
          </p:cNvPr>
          <p:cNvSpPr>
            <a:spLocks noGrp="1"/>
          </p:cNvSpPr>
          <p:nvPr>
            <p:ph type="title"/>
          </p:nvPr>
        </p:nvSpPr>
        <p:spPr>
          <a:xfrm>
            <a:off x="219456" y="585216"/>
            <a:ext cx="11286744" cy="832104"/>
          </a:xfrm>
        </p:spPr>
        <p:txBody>
          <a:bodyPr/>
          <a:lstStyle/>
          <a:p>
            <a:r>
              <a:rPr lang="en-US" b="1"/>
              <a:t>OWNED:</a:t>
            </a:r>
            <a:br>
              <a:rPr lang="en-US" b="1"/>
            </a:br>
            <a:r>
              <a:rPr lang="en-US" b="1"/>
              <a:t>WHAT MATTERS</a:t>
            </a:r>
            <a:endParaRPr lang="en-US"/>
          </a:p>
        </p:txBody>
      </p:sp>
      <p:sp>
        <p:nvSpPr>
          <p:cNvPr id="2" name="Slide Number Placeholder 1">
            <a:extLst>
              <a:ext uri="{FF2B5EF4-FFF2-40B4-BE49-F238E27FC236}">
                <a16:creationId xmlns:a16="http://schemas.microsoft.com/office/drawing/2014/main" id="{1D322E23-4997-2CB4-BF19-9ABFC2DF3C08}"/>
              </a:ext>
            </a:extLst>
          </p:cNvPr>
          <p:cNvSpPr>
            <a:spLocks noGrp="1"/>
          </p:cNvSpPr>
          <p:nvPr>
            <p:ph type="sldNum" sz="quarter" idx="12"/>
          </p:nvPr>
        </p:nvSpPr>
        <p:spPr/>
        <p:txBody>
          <a:bodyPr/>
          <a:lstStyle/>
          <a:p>
            <a:fld id="{6D05E8BB-FF85-4620-9298-8F3F48811131}" type="slidenum">
              <a:rPr lang="en-US" smtClean="0"/>
              <a:t>20</a:t>
            </a:fld>
            <a:endParaRPr lang="en-US"/>
          </a:p>
        </p:txBody>
      </p:sp>
      <p:sp>
        <p:nvSpPr>
          <p:cNvPr id="8" name="Text Placeholder 7">
            <a:extLst>
              <a:ext uri="{FF2B5EF4-FFF2-40B4-BE49-F238E27FC236}">
                <a16:creationId xmlns:a16="http://schemas.microsoft.com/office/drawing/2014/main" id="{F9047BD0-FDE9-8B17-8A13-7D4816152A0A}"/>
              </a:ext>
            </a:extLst>
          </p:cNvPr>
          <p:cNvSpPr>
            <a:spLocks noGrp="1"/>
          </p:cNvSpPr>
          <p:nvPr>
            <p:ph type="body" sz="quarter" idx="13"/>
          </p:nvPr>
        </p:nvSpPr>
        <p:spPr/>
        <p:txBody>
          <a:bodyPr/>
          <a:lstStyle/>
          <a:p>
            <a:r>
              <a:rPr lang="en-US"/>
              <a:t>HOW AI IS RESHAPING SEARCH STRATEGY</a:t>
            </a:r>
          </a:p>
        </p:txBody>
      </p:sp>
      <p:sp>
        <p:nvSpPr>
          <p:cNvPr id="11" name="Text Placeholder 10">
            <a:extLst>
              <a:ext uri="{FF2B5EF4-FFF2-40B4-BE49-F238E27FC236}">
                <a16:creationId xmlns:a16="http://schemas.microsoft.com/office/drawing/2014/main" id="{23188904-593D-7CA1-1DB1-925EDB45507A}"/>
              </a:ext>
            </a:extLst>
          </p:cNvPr>
          <p:cNvSpPr>
            <a:spLocks noGrp="1"/>
          </p:cNvSpPr>
          <p:nvPr>
            <p:ph type="body" sz="quarter" idx="14"/>
          </p:nvPr>
        </p:nvSpPr>
        <p:spPr>
          <a:xfrm>
            <a:off x="298255" y="2534381"/>
            <a:ext cx="5637805" cy="3901291"/>
          </a:xfrm>
        </p:spPr>
        <p:txBody>
          <a:bodyPr/>
          <a:lstStyle/>
          <a:p>
            <a:pPr marL="0" indent="0">
              <a:buNone/>
            </a:pPr>
            <a:r>
              <a:rPr lang="en-US" sz="1600" b="1">
                <a:solidFill>
                  <a:schemeClr val="accent1"/>
                </a:solidFill>
              </a:rPr>
              <a:t>5 Website Content Qualities that Influence AI Citations:</a:t>
            </a:r>
          </a:p>
          <a:p>
            <a:pPr marL="0" indent="0">
              <a:buNone/>
            </a:pPr>
            <a:endParaRPr lang="en-US" sz="1600"/>
          </a:p>
          <a:p>
            <a:pPr marL="342900" indent="-342900">
              <a:spcAft>
                <a:spcPts val="600"/>
              </a:spcAft>
              <a:buFont typeface="+mj-lt"/>
              <a:buAutoNum type="arabicPeriod"/>
            </a:pPr>
            <a:r>
              <a:rPr lang="en-US" sz="1600"/>
              <a:t>Clarity and Summarization: </a:t>
            </a:r>
            <a:r>
              <a:rPr lang="en-US" sz="1600" b="1"/>
              <a:t>+32.83%</a:t>
            </a:r>
          </a:p>
          <a:p>
            <a:pPr marL="342900" indent="-342900">
              <a:spcAft>
                <a:spcPts val="600"/>
              </a:spcAft>
              <a:buFont typeface="+mj-lt"/>
              <a:buAutoNum type="arabicPeriod"/>
            </a:pPr>
            <a:r>
              <a:rPr lang="en-US" sz="1600"/>
              <a:t>E-E-A-T Signals: </a:t>
            </a:r>
            <a:r>
              <a:rPr lang="en-US" sz="1600" b="1"/>
              <a:t>+30.64%</a:t>
            </a:r>
          </a:p>
          <a:p>
            <a:pPr marL="342900" indent="-342900">
              <a:spcAft>
                <a:spcPts val="600"/>
              </a:spcAft>
              <a:buFont typeface="+mj-lt"/>
              <a:buAutoNum type="arabicPeriod"/>
            </a:pPr>
            <a:r>
              <a:rPr lang="en-US" sz="1600"/>
              <a:t>Q&amp;A format: </a:t>
            </a:r>
            <a:r>
              <a:rPr lang="en-US" sz="1600" b="1"/>
              <a:t>+25.45%</a:t>
            </a:r>
          </a:p>
          <a:p>
            <a:pPr marL="342900" indent="-342900">
              <a:spcAft>
                <a:spcPts val="600"/>
              </a:spcAft>
              <a:buFont typeface="+mj-lt"/>
              <a:buAutoNum type="arabicPeriod"/>
            </a:pPr>
            <a:r>
              <a:rPr lang="en-US" sz="1600"/>
              <a:t>Section Structure:  </a:t>
            </a:r>
            <a:r>
              <a:rPr lang="en-US" sz="1600" b="1"/>
              <a:t>+22.91%</a:t>
            </a:r>
          </a:p>
          <a:p>
            <a:pPr marL="342900" indent="-342900">
              <a:spcAft>
                <a:spcPts val="600"/>
              </a:spcAft>
              <a:buFont typeface="+mj-lt"/>
              <a:buAutoNum type="arabicPeriod"/>
            </a:pPr>
            <a:r>
              <a:rPr lang="en-US" sz="1600"/>
              <a:t>Structured Data Elements: </a:t>
            </a:r>
            <a:r>
              <a:rPr lang="en-US" sz="1600" b="1"/>
              <a:t>+21.60%</a:t>
            </a:r>
          </a:p>
        </p:txBody>
      </p:sp>
      <p:pic>
        <p:nvPicPr>
          <p:cNvPr id="1026" name="Picture 2" descr="img-semblog">
            <a:extLst>
              <a:ext uri="{FF2B5EF4-FFF2-40B4-BE49-F238E27FC236}">
                <a16:creationId xmlns:a16="http://schemas.microsoft.com/office/drawing/2014/main" id="{5026A7E5-A68E-D595-DEFD-8849A3BA17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6060" y="790904"/>
            <a:ext cx="5885350" cy="5749596"/>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4">
            <a:extLst>
              <a:ext uri="{FF2B5EF4-FFF2-40B4-BE49-F238E27FC236}">
                <a16:creationId xmlns:a16="http://schemas.microsoft.com/office/drawing/2014/main" id="{8E89E777-2D66-72E4-A863-7667A868F9AF}"/>
              </a:ext>
            </a:extLst>
          </p:cNvPr>
          <p:cNvSpPr txBox="1">
            <a:spLocks/>
          </p:cNvSpPr>
          <p:nvPr/>
        </p:nvSpPr>
        <p:spPr>
          <a:xfrm>
            <a:off x="219455" y="5449530"/>
            <a:ext cx="5150403" cy="6106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1200" b="1" i="1">
                <a:solidFill>
                  <a:schemeClr val="tx1">
                    <a:lumMod val="50000"/>
                    <a:lumOff val="50000"/>
                  </a:schemeClr>
                </a:solidFill>
              </a:rPr>
              <a:t>Experience, Expertise, Authoritativeness, Trustworthiness </a:t>
            </a:r>
            <a:r>
              <a:rPr lang="en-US" sz="1200" i="1">
                <a:solidFill>
                  <a:schemeClr val="tx1">
                    <a:lumMod val="50000"/>
                    <a:lumOff val="50000"/>
                  </a:schemeClr>
                </a:solidFill>
              </a:rPr>
              <a:t>(E-E-A-T) is a Google framework to explain how its search engine evaluates content.</a:t>
            </a:r>
          </a:p>
        </p:txBody>
      </p:sp>
      <p:sp>
        <p:nvSpPr>
          <p:cNvPr id="3" name="Text 5">
            <a:extLst>
              <a:ext uri="{FF2B5EF4-FFF2-40B4-BE49-F238E27FC236}">
                <a16:creationId xmlns:a16="http://schemas.microsoft.com/office/drawing/2014/main" id="{0510A0FA-B56E-1270-F1E8-6C4D083EA94A}"/>
              </a:ext>
            </a:extLst>
          </p:cNvPr>
          <p:cNvSpPr/>
          <p:nvPr/>
        </p:nvSpPr>
        <p:spPr>
          <a:xfrm>
            <a:off x="9809001" y="6540498"/>
            <a:ext cx="1428320" cy="254001"/>
          </a:xfrm>
          <a:prstGeom prst="rect">
            <a:avLst/>
          </a:prstGeom>
          <a:noFill/>
          <a:ln/>
        </p:spPr>
        <p:txBody>
          <a:bodyPr wrap="square" lIns="0" tIns="0" rIns="0" bIns="0" rtlCol="0" anchor="ctr"/>
          <a:lstStyle/>
          <a:p>
            <a:pPr algn="r"/>
            <a:r>
              <a:rPr lang="en-US" sz="1200" err="1">
                <a:ea typeface="Arial" pitchFamily="34" charset="-122"/>
                <a:cs typeface="Arial" pitchFamily="34" charset="-120"/>
                <a:hlinkClick r:id="rId4"/>
              </a:rPr>
              <a:t>SemRush</a:t>
            </a:r>
            <a:endParaRPr lang="en-US" sz="1200"/>
          </a:p>
        </p:txBody>
      </p:sp>
    </p:spTree>
    <p:extLst>
      <p:ext uri="{BB962C8B-B14F-4D97-AF65-F5344CB8AC3E}">
        <p14:creationId xmlns:p14="http://schemas.microsoft.com/office/powerpoint/2010/main" val="358682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4090-D3F3-5408-ADCD-5268724951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3F95D5-0A1E-4BD0-9071-C876CE20FC26}"/>
              </a:ext>
            </a:extLst>
          </p:cNvPr>
          <p:cNvSpPr/>
          <p:nvPr/>
        </p:nvSpPr>
        <p:spPr>
          <a:xfrm>
            <a:off x="6266140" y="1649078"/>
            <a:ext cx="5421923" cy="237719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CA33AB3B-EB67-2B92-70F1-08628C3152E5}"/>
              </a:ext>
            </a:extLst>
          </p:cNvPr>
          <p:cNvSpPr>
            <a:spLocks noGrp="1"/>
          </p:cNvSpPr>
          <p:nvPr>
            <p:ph type="title"/>
          </p:nvPr>
        </p:nvSpPr>
        <p:spPr>
          <a:xfrm>
            <a:off x="228600" y="563628"/>
            <a:ext cx="11633877" cy="832104"/>
          </a:xfrm>
        </p:spPr>
        <p:txBody>
          <a:bodyPr/>
          <a:lstStyle/>
          <a:p>
            <a:r>
              <a:rPr lang="en-US"/>
              <a:t>EARNED: SIGNALS OF TRUST</a:t>
            </a:r>
          </a:p>
        </p:txBody>
      </p:sp>
      <p:sp>
        <p:nvSpPr>
          <p:cNvPr id="2" name="Slide Number Placeholder 1">
            <a:extLst>
              <a:ext uri="{FF2B5EF4-FFF2-40B4-BE49-F238E27FC236}">
                <a16:creationId xmlns:a16="http://schemas.microsoft.com/office/drawing/2014/main" id="{43140BA3-A275-1065-C4E3-AB8B6566FF35}"/>
              </a:ext>
            </a:extLst>
          </p:cNvPr>
          <p:cNvSpPr>
            <a:spLocks noGrp="1"/>
          </p:cNvSpPr>
          <p:nvPr>
            <p:ph type="sldNum" sz="quarter" idx="12"/>
          </p:nvPr>
        </p:nvSpPr>
        <p:spPr/>
        <p:txBody>
          <a:bodyPr/>
          <a:lstStyle/>
          <a:p>
            <a:fld id="{6D05E8BB-FF85-4620-9298-8F3F48811131}" type="slidenum">
              <a:rPr lang="en-US" smtClean="0"/>
              <a:t>21</a:t>
            </a:fld>
            <a:endParaRPr lang="en-US"/>
          </a:p>
        </p:txBody>
      </p:sp>
      <p:sp>
        <p:nvSpPr>
          <p:cNvPr id="9" name="Text Placeholder 8">
            <a:extLst>
              <a:ext uri="{FF2B5EF4-FFF2-40B4-BE49-F238E27FC236}">
                <a16:creationId xmlns:a16="http://schemas.microsoft.com/office/drawing/2014/main" id="{8885149C-070A-140F-18F5-39E37A2527B0}"/>
              </a:ext>
            </a:extLst>
          </p:cNvPr>
          <p:cNvSpPr>
            <a:spLocks noGrp="1"/>
          </p:cNvSpPr>
          <p:nvPr>
            <p:ph type="body" sz="quarter" idx="13"/>
          </p:nvPr>
        </p:nvSpPr>
        <p:spPr/>
        <p:txBody>
          <a:bodyPr/>
          <a:lstStyle/>
          <a:p>
            <a:r>
              <a:rPr lang="en-US"/>
              <a:t>HOW AI IS RESHAPING SEARCH STRATEGY</a:t>
            </a:r>
          </a:p>
        </p:txBody>
      </p:sp>
      <p:sp>
        <p:nvSpPr>
          <p:cNvPr id="5" name="Content Placeholder 4">
            <a:extLst>
              <a:ext uri="{FF2B5EF4-FFF2-40B4-BE49-F238E27FC236}">
                <a16:creationId xmlns:a16="http://schemas.microsoft.com/office/drawing/2014/main" id="{07745E8A-612F-8398-FCC0-B5A1F3D52712}"/>
              </a:ext>
            </a:extLst>
          </p:cNvPr>
          <p:cNvSpPr txBox="1">
            <a:spLocks/>
          </p:cNvSpPr>
          <p:nvPr/>
        </p:nvSpPr>
        <p:spPr>
          <a:xfrm>
            <a:off x="6500061" y="2850000"/>
            <a:ext cx="4795468" cy="98748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2400" b="1">
                <a:solidFill>
                  <a:schemeClr val="tx1"/>
                </a:solidFill>
              </a:rPr>
              <a:t>of brand reputation signals originate from editorial media</a:t>
            </a:r>
            <a:endParaRPr lang="en-US" sz="2400">
              <a:solidFill>
                <a:schemeClr val="tx1"/>
              </a:solidFill>
            </a:endParaRPr>
          </a:p>
        </p:txBody>
      </p:sp>
      <p:sp>
        <p:nvSpPr>
          <p:cNvPr id="6" name="Content Placeholder 4">
            <a:extLst>
              <a:ext uri="{FF2B5EF4-FFF2-40B4-BE49-F238E27FC236}">
                <a16:creationId xmlns:a16="http://schemas.microsoft.com/office/drawing/2014/main" id="{54725ED8-9B63-BD81-3F5E-371E684EC01E}"/>
              </a:ext>
            </a:extLst>
          </p:cNvPr>
          <p:cNvSpPr txBox="1">
            <a:spLocks/>
          </p:cNvSpPr>
          <p:nvPr/>
        </p:nvSpPr>
        <p:spPr>
          <a:xfrm>
            <a:off x="6500061" y="2129842"/>
            <a:ext cx="1449313" cy="4668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3600" b="1">
                <a:solidFill>
                  <a:schemeClr val="tx1"/>
                </a:solidFill>
              </a:rPr>
              <a:t>61%</a:t>
            </a:r>
            <a:endParaRPr lang="en-US" sz="3600">
              <a:solidFill>
                <a:schemeClr val="tx1"/>
              </a:solidFill>
            </a:endParaRPr>
          </a:p>
        </p:txBody>
      </p:sp>
      <p:sp>
        <p:nvSpPr>
          <p:cNvPr id="7" name="Content Placeholder 4">
            <a:extLst>
              <a:ext uri="{FF2B5EF4-FFF2-40B4-BE49-F238E27FC236}">
                <a16:creationId xmlns:a16="http://schemas.microsoft.com/office/drawing/2014/main" id="{BB14A8EE-8936-835B-4891-8E59117E0BCE}"/>
              </a:ext>
            </a:extLst>
          </p:cNvPr>
          <p:cNvSpPr txBox="1">
            <a:spLocks/>
          </p:cNvSpPr>
          <p:nvPr/>
        </p:nvSpPr>
        <p:spPr>
          <a:xfrm>
            <a:off x="12314964" y="4026274"/>
            <a:ext cx="4737229" cy="2333146"/>
          </a:xfrm>
          <a:prstGeom prst="rect">
            <a:avLst/>
          </a:prstGeom>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nSpc>
                <a:spcPct val="100000"/>
              </a:lnSpc>
              <a:spcBef>
                <a:spcPts val="0"/>
              </a:spcBef>
              <a:spcAft>
                <a:spcPts val="1800"/>
              </a:spcAft>
            </a:pPr>
            <a:r>
              <a:rPr lang="en-US" sz="1600">
                <a:solidFill>
                  <a:schemeClr val="tx1"/>
                </a:solidFill>
              </a:rPr>
              <a:t>Media mentions across trusted publications, schema-enriched pages, first-party research, and expert quotes are what AI systems rely on</a:t>
            </a:r>
          </a:p>
          <a:p>
            <a:pPr marL="228600" indent="-228600">
              <a:lnSpc>
                <a:spcPct val="100000"/>
              </a:lnSpc>
              <a:spcBef>
                <a:spcPts val="0"/>
              </a:spcBef>
              <a:spcAft>
                <a:spcPts val="1800"/>
              </a:spcAft>
            </a:pPr>
            <a:r>
              <a:rPr lang="en-US" sz="1600">
                <a:solidFill>
                  <a:schemeClr val="tx1"/>
                </a:solidFill>
              </a:rPr>
              <a:t>Earned media provides unbiased endorsements that Google values highly when compiling search results </a:t>
            </a:r>
          </a:p>
        </p:txBody>
      </p:sp>
      <p:sp>
        <p:nvSpPr>
          <p:cNvPr id="14" name="Text Placeholder 8">
            <a:extLst>
              <a:ext uri="{FF2B5EF4-FFF2-40B4-BE49-F238E27FC236}">
                <a16:creationId xmlns:a16="http://schemas.microsoft.com/office/drawing/2014/main" id="{FE18153F-9D2F-5A26-5EA1-7D7BF9BAD9A4}"/>
              </a:ext>
            </a:extLst>
          </p:cNvPr>
          <p:cNvSpPr txBox="1">
            <a:spLocks/>
          </p:cNvSpPr>
          <p:nvPr/>
        </p:nvSpPr>
        <p:spPr>
          <a:xfrm>
            <a:off x="342911" y="1417320"/>
            <a:ext cx="5224511"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endParaRPr lang="en-US" sz="2400" b="1">
              <a:solidFill>
                <a:schemeClr val="accent1"/>
              </a:solidFill>
            </a:endParaRPr>
          </a:p>
        </p:txBody>
      </p:sp>
      <p:sp>
        <p:nvSpPr>
          <p:cNvPr id="17" name="Text Placeholder 16">
            <a:extLst>
              <a:ext uri="{FF2B5EF4-FFF2-40B4-BE49-F238E27FC236}">
                <a16:creationId xmlns:a16="http://schemas.microsoft.com/office/drawing/2014/main" id="{0E72CB9E-6EDF-CE82-45BC-8396038ABCCC}"/>
              </a:ext>
            </a:extLst>
          </p:cNvPr>
          <p:cNvSpPr>
            <a:spLocks noGrp="1"/>
          </p:cNvSpPr>
          <p:nvPr>
            <p:ph type="body" sz="quarter" idx="14"/>
          </p:nvPr>
        </p:nvSpPr>
        <p:spPr>
          <a:xfrm>
            <a:off x="228600" y="4026274"/>
            <a:ext cx="5047937" cy="2514226"/>
          </a:xfrm>
        </p:spPr>
        <p:txBody>
          <a:bodyPr/>
          <a:lstStyle/>
          <a:p>
            <a:r>
              <a:rPr lang="en-US" sz="1600"/>
              <a:t>Authoritative signals are used as the mechanism for which AI determines whether a brand’s claims are credible.</a:t>
            </a:r>
            <a:br>
              <a:rPr lang="en-US" sz="1600"/>
            </a:br>
            <a:endParaRPr lang="en-US" sz="1600"/>
          </a:p>
          <a:p>
            <a:r>
              <a:rPr lang="en-US" sz="1600"/>
              <a:t>Ad Age reports that AI favors trusted, editorially earned media when delivering information.</a:t>
            </a:r>
          </a:p>
        </p:txBody>
      </p:sp>
      <p:sp>
        <p:nvSpPr>
          <p:cNvPr id="18" name="Text Placeholder 8">
            <a:extLst>
              <a:ext uri="{FF2B5EF4-FFF2-40B4-BE49-F238E27FC236}">
                <a16:creationId xmlns:a16="http://schemas.microsoft.com/office/drawing/2014/main" id="{D62D2C7F-56EC-199E-C1BA-00088F1279D3}"/>
              </a:ext>
            </a:extLst>
          </p:cNvPr>
          <p:cNvSpPr txBox="1">
            <a:spLocks/>
          </p:cNvSpPr>
          <p:nvPr/>
        </p:nvSpPr>
        <p:spPr>
          <a:xfrm>
            <a:off x="342911" y="1915818"/>
            <a:ext cx="5224511"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2400" b="1">
                <a:solidFill>
                  <a:schemeClr val="accent1"/>
                </a:solidFill>
              </a:rPr>
              <a:t>Earned placements — mentions, quotes, interviews, and citations — are not just reaching people, they’re training the machines</a:t>
            </a:r>
          </a:p>
        </p:txBody>
      </p:sp>
      <p:sp>
        <p:nvSpPr>
          <p:cNvPr id="3" name="Text 5">
            <a:extLst>
              <a:ext uri="{FF2B5EF4-FFF2-40B4-BE49-F238E27FC236}">
                <a16:creationId xmlns:a16="http://schemas.microsoft.com/office/drawing/2014/main" id="{5F4D8076-A06E-15CC-912C-1855C1A7C628}"/>
              </a:ext>
            </a:extLst>
          </p:cNvPr>
          <p:cNvSpPr/>
          <p:nvPr/>
        </p:nvSpPr>
        <p:spPr>
          <a:xfrm>
            <a:off x="9303026" y="6540499"/>
            <a:ext cx="1934295" cy="254000"/>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3"/>
              </a:rPr>
              <a:t>Ad Age </a:t>
            </a:r>
            <a:r>
              <a:rPr lang="en-US" sz="1200">
                <a:ea typeface="Arial" pitchFamily="34" charset="-122"/>
                <a:cs typeface="Arial" pitchFamily="34" charset="-120"/>
              </a:rPr>
              <a:t>| </a:t>
            </a:r>
            <a:r>
              <a:rPr lang="en-US" sz="1200">
                <a:ea typeface="Arial" pitchFamily="34" charset="-122"/>
                <a:cs typeface="Arial" pitchFamily="34" charset="-120"/>
                <a:hlinkClick r:id="rId4"/>
              </a:rPr>
              <a:t>Hard Numbers</a:t>
            </a:r>
            <a:endParaRPr lang="en-US" sz="1200"/>
          </a:p>
        </p:txBody>
      </p:sp>
    </p:spTree>
    <p:extLst>
      <p:ext uri="{BB962C8B-B14F-4D97-AF65-F5344CB8AC3E}">
        <p14:creationId xmlns:p14="http://schemas.microsoft.com/office/powerpoint/2010/main" val="2316957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EAB2-A38F-87CD-7D4E-8A750D80F10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C690457-20B6-F85A-D45A-8B8C99A8FC86}"/>
              </a:ext>
            </a:extLst>
          </p:cNvPr>
          <p:cNvSpPr>
            <a:spLocks noGrp="1"/>
          </p:cNvSpPr>
          <p:nvPr>
            <p:ph type="title"/>
          </p:nvPr>
        </p:nvSpPr>
        <p:spPr>
          <a:xfrm>
            <a:off x="228600" y="563628"/>
            <a:ext cx="11633877" cy="832104"/>
          </a:xfrm>
        </p:spPr>
        <p:txBody>
          <a:bodyPr/>
          <a:lstStyle/>
          <a:p>
            <a:r>
              <a:rPr lang="en-US"/>
              <a:t>EARNED: </a:t>
            </a:r>
            <a:br>
              <a:rPr lang="en-US"/>
            </a:br>
            <a:r>
              <a:rPr lang="en-US"/>
              <a:t>WHAT MATTERS</a:t>
            </a:r>
          </a:p>
        </p:txBody>
      </p:sp>
      <p:sp>
        <p:nvSpPr>
          <p:cNvPr id="2" name="Slide Number Placeholder 1">
            <a:extLst>
              <a:ext uri="{FF2B5EF4-FFF2-40B4-BE49-F238E27FC236}">
                <a16:creationId xmlns:a16="http://schemas.microsoft.com/office/drawing/2014/main" id="{22EB55C7-CCB9-E080-92A0-2BE90FEDC10A}"/>
              </a:ext>
            </a:extLst>
          </p:cNvPr>
          <p:cNvSpPr>
            <a:spLocks noGrp="1"/>
          </p:cNvSpPr>
          <p:nvPr>
            <p:ph type="sldNum" sz="quarter" idx="12"/>
          </p:nvPr>
        </p:nvSpPr>
        <p:spPr/>
        <p:txBody>
          <a:bodyPr/>
          <a:lstStyle/>
          <a:p>
            <a:fld id="{6D05E8BB-FF85-4620-9298-8F3F48811131}" type="slidenum">
              <a:rPr lang="en-US" smtClean="0"/>
              <a:t>22</a:t>
            </a:fld>
            <a:endParaRPr lang="en-US"/>
          </a:p>
        </p:txBody>
      </p:sp>
      <p:sp>
        <p:nvSpPr>
          <p:cNvPr id="9" name="Text Placeholder 8">
            <a:extLst>
              <a:ext uri="{FF2B5EF4-FFF2-40B4-BE49-F238E27FC236}">
                <a16:creationId xmlns:a16="http://schemas.microsoft.com/office/drawing/2014/main" id="{3FC11436-0E2F-260A-2B8D-CD83E11E3816}"/>
              </a:ext>
            </a:extLst>
          </p:cNvPr>
          <p:cNvSpPr>
            <a:spLocks noGrp="1"/>
          </p:cNvSpPr>
          <p:nvPr>
            <p:ph type="body" sz="quarter" idx="13"/>
          </p:nvPr>
        </p:nvSpPr>
        <p:spPr/>
        <p:txBody>
          <a:bodyPr/>
          <a:lstStyle/>
          <a:p>
            <a:r>
              <a:rPr lang="en-US"/>
              <a:t>HOW AI IS RESHAPING SEARCH STRATEGY</a:t>
            </a:r>
          </a:p>
        </p:txBody>
      </p:sp>
      <p:sp>
        <p:nvSpPr>
          <p:cNvPr id="7" name="Content Placeholder 4">
            <a:extLst>
              <a:ext uri="{FF2B5EF4-FFF2-40B4-BE49-F238E27FC236}">
                <a16:creationId xmlns:a16="http://schemas.microsoft.com/office/drawing/2014/main" id="{7F980120-4A87-A2D9-106A-F1FEB4829962}"/>
              </a:ext>
            </a:extLst>
          </p:cNvPr>
          <p:cNvSpPr txBox="1">
            <a:spLocks/>
          </p:cNvSpPr>
          <p:nvPr/>
        </p:nvSpPr>
        <p:spPr>
          <a:xfrm>
            <a:off x="12443485" y="4026274"/>
            <a:ext cx="4737229" cy="2333146"/>
          </a:xfrm>
          <a:prstGeom prst="rect">
            <a:avLst/>
          </a:prstGeom>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nSpc>
                <a:spcPct val="100000"/>
              </a:lnSpc>
              <a:spcBef>
                <a:spcPts val="0"/>
              </a:spcBef>
              <a:spcAft>
                <a:spcPts val="1800"/>
              </a:spcAft>
            </a:pPr>
            <a:r>
              <a:rPr lang="en-US" sz="1600">
                <a:solidFill>
                  <a:schemeClr val="tx1"/>
                </a:solidFill>
              </a:rPr>
              <a:t>Media mentions across trusted publications, schema-enriched pages, first-party research, and expert quotes are what AI systems rely on</a:t>
            </a:r>
          </a:p>
          <a:p>
            <a:pPr marL="228600" indent="-228600">
              <a:lnSpc>
                <a:spcPct val="100000"/>
              </a:lnSpc>
              <a:spcBef>
                <a:spcPts val="0"/>
              </a:spcBef>
              <a:spcAft>
                <a:spcPts val="1800"/>
              </a:spcAft>
            </a:pPr>
            <a:r>
              <a:rPr lang="en-US" sz="1600">
                <a:solidFill>
                  <a:schemeClr val="tx1"/>
                </a:solidFill>
              </a:rPr>
              <a:t>Earned media provides unbiased endorsements that Google values highly when compiling search results </a:t>
            </a:r>
          </a:p>
        </p:txBody>
      </p:sp>
      <p:sp>
        <p:nvSpPr>
          <p:cNvPr id="14" name="Text Placeholder 8">
            <a:extLst>
              <a:ext uri="{FF2B5EF4-FFF2-40B4-BE49-F238E27FC236}">
                <a16:creationId xmlns:a16="http://schemas.microsoft.com/office/drawing/2014/main" id="{30CB308A-9226-21B3-578F-BBB3C9DA8FA4}"/>
              </a:ext>
            </a:extLst>
          </p:cNvPr>
          <p:cNvSpPr txBox="1">
            <a:spLocks/>
          </p:cNvSpPr>
          <p:nvPr/>
        </p:nvSpPr>
        <p:spPr>
          <a:xfrm>
            <a:off x="342911" y="1417320"/>
            <a:ext cx="5224511"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endParaRPr lang="en-US" sz="2400" b="1">
              <a:solidFill>
                <a:schemeClr val="accent1"/>
              </a:solidFill>
            </a:endParaRPr>
          </a:p>
        </p:txBody>
      </p:sp>
      <p:sp>
        <p:nvSpPr>
          <p:cNvPr id="17" name="Text Placeholder 16">
            <a:extLst>
              <a:ext uri="{FF2B5EF4-FFF2-40B4-BE49-F238E27FC236}">
                <a16:creationId xmlns:a16="http://schemas.microsoft.com/office/drawing/2014/main" id="{060C0276-0F90-1614-105F-F6E4F0BC87EF}"/>
              </a:ext>
            </a:extLst>
          </p:cNvPr>
          <p:cNvSpPr>
            <a:spLocks noGrp="1"/>
          </p:cNvSpPr>
          <p:nvPr>
            <p:ph type="body" sz="quarter" idx="14"/>
          </p:nvPr>
        </p:nvSpPr>
        <p:spPr>
          <a:xfrm>
            <a:off x="392967" y="2478033"/>
            <a:ext cx="6312633" cy="3816339"/>
          </a:xfrm>
        </p:spPr>
        <p:txBody>
          <a:bodyPr/>
          <a:lstStyle/>
          <a:p>
            <a:pPr marL="0" indent="0">
              <a:buNone/>
            </a:pPr>
            <a:r>
              <a:rPr lang="en-US" sz="1600" b="1"/>
              <a:t>Position experts as quotable sources</a:t>
            </a:r>
          </a:p>
          <a:p>
            <a:pPr marL="0" indent="0">
              <a:buNone/>
            </a:pPr>
            <a:r>
              <a:rPr lang="en-US" sz="1600"/>
              <a:t>AI surfaces expert quotes from trusted publications. Commentary should be clear, educational, and standalone — no sales language or buzzwords. </a:t>
            </a:r>
          </a:p>
          <a:p>
            <a:pPr marL="0" indent="0">
              <a:buNone/>
            </a:pPr>
            <a:endParaRPr lang="en-US" sz="1600" b="1"/>
          </a:p>
          <a:p>
            <a:pPr marL="0" indent="0">
              <a:buNone/>
            </a:pPr>
            <a:r>
              <a:rPr lang="en-US" sz="1600" b="1"/>
              <a:t>Maintain narrative consistency</a:t>
            </a:r>
            <a:endParaRPr lang="en-US" sz="1600"/>
          </a:p>
          <a:p>
            <a:pPr marL="0" indent="0">
              <a:buNone/>
            </a:pPr>
            <a:r>
              <a:rPr lang="en-US" sz="1600"/>
              <a:t>When your brand steadily appears in the same contextual topics, AI learns to associate you with those attributes. Inconsistent messaging creates conflicting signals, eroding trust. </a:t>
            </a:r>
          </a:p>
          <a:p>
            <a:pPr marL="0" indent="0">
              <a:buNone/>
            </a:pPr>
            <a:endParaRPr lang="en-US" sz="1600" b="1"/>
          </a:p>
          <a:p>
            <a:pPr marL="0" indent="0">
              <a:buNone/>
            </a:pPr>
            <a:r>
              <a:rPr lang="en-US" sz="1600" b="1"/>
              <a:t>Target top-tier and niche trade publications</a:t>
            </a:r>
            <a:endParaRPr lang="en-US" sz="1600"/>
          </a:p>
          <a:p>
            <a:pPr marL="0" indent="0">
              <a:buNone/>
            </a:pPr>
            <a:r>
              <a:rPr lang="en-US" sz="1600"/>
              <a:t>AI prioritizes contextual depth over volume. Niche outlets can be as powerful as national ones.</a:t>
            </a:r>
          </a:p>
        </p:txBody>
      </p:sp>
      <p:pic>
        <p:nvPicPr>
          <p:cNvPr id="1026" name="Picture 2" descr="Earned Media Icons - Free SVG &amp; PNG Earned Media Images - Noun Project">
            <a:extLst>
              <a:ext uri="{FF2B5EF4-FFF2-40B4-BE49-F238E27FC236}">
                <a16:creationId xmlns:a16="http://schemas.microsoft.com/office/drawing/2014/main" id="{8AEE64CA-6574-FDC9-9612-220FA883E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6431" y="2107863"/>
            <a:ext cx="3401473" cy="340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219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9CD9D-63B9-E725-D5E6-CC0F53EBD1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56090B-C343-B1CD-0F85-DBA67A5B5FBB}"/>
              </a:ext>
            </a:extLst>
          </p:cNvPr>
          <p:cNvSpPr/>
          <p:nvPr/>
        </p:nvSpPr>
        <p:spPr>
          <a:xfrm>
            <a:off x="6427176" y="1961999"/>
            <a:ext cx="5421923" cy="38607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EB5A33B-3A11-632F-8648-84F5CEA0BC83}"/>
              </a:ext>
            </a:extLst>
          </p:cNvPr>
          <p:cNvSpPr>
            <a:spLocks noGrp="1"/>
          </p:cNvSpPr>
          <p:nvPr>
            <p:ph type="title"/>
          </p:nvPr>
        </p:nvSpPr>
        <p:spPr>
          <a:xfrm>
            <a:off x="228600" y="563628"/>
            <a:ext cx="11633877" cy="832104"/>
          </a:xfrm>
        </p:spPr>
        <p:txBody>
          <a:bodyPr/>
          <a:lstStyle/>
          <a:p>
            <a:r>
              <a:rPr lang="en-US"/>
              <a:t>SHARED: COMMUNITY PROOF</a:t>
            </a:r>
          </a:p>
        </p:txBody>
      </p:sp>
      <p:sp>
        <p:nvSpPr>
          <p:cNvPr id="2" name="Slide Number Placeholder 1">
            <a:extLst>
              <a:ext uri="{FF2B5EF4-FFF2-40B4-BE49-F238E27FC236}">
                <a16:creationId xmlns:a16="http://schemas.microsoft.com/office/drawing/2014/main" id="{4D17E6A5-E962-63ED-F2C9-4769ADDBABA8}"/>
              </a:ext>
            </a:extLst>
          </p:cNvPr>
          <p:cNvSpPr>
            <a:spLocks noGrp="1"/>
          </p:cNvSpPr>
          <p:nvPr>
            <p:ph type="sldNum" sz="quarter" idx="12"/>
          </p:nvPr>
        </p:nvSpPr>
        <p:spPr/>
        <p:txBody>
          <a:bodyPr/>
          <a:lstStyle/>
          <a:p>
            <a:fld id="{6D05E8BB-FF85-4620-9298-8F3F48811131}" type="slidenum">
              <a:rPr lang="en-US" smtClean="0"/>
              <a:t>23</a:t>
            </a:fld>
            <a:endParaRPr lang="en-US"/>
          </a:p>
        </p:txBody>
      </p:sp>
      <p:sp>
        <p:nvSpPr>
          <p:cNvPr id="9" name="Text Placeholder 8">
            <a:extLst>
              <a:ext uri="{FF2B5EF4-FFF2-40B4-BE49-F238E27FC236}">
                <a16:creationId xmlns:a16="http://schemas.microsoft.com/office/drawing/2014/main" id="{741FB16A-0E7A-9913-97CE-DCBAC59A2F35}"/>
              </a:ext>
            </a:extLst>
          </p:cNvPr>
          <p:cNvSpPr>
            <a:spLocks noGrp="1"/>
          </p:cNvSpPr>
          <p:nvPr>
            <p:ph type="body" sz="quarter" idx="13"/>
          </p:nvPr>
        </p:nvSpPr>
        <p:spPr/>
        <p:txBody>
          <a:bodyPr/>
          <a:lstStyle/>
          <a:p>
            <a:r>
              <a:rPr lang="en-US"/>
              <a:t>HOW AI IS RESHAPING SEARCH STRATEGY</a:t>
            </a:r>
          </a:p>
        </p:txBody>
      </p:sp>
      <p:sp>
        <p:nvSpPr>
          <p:cNvPr id="5" name="Content Placeholder 4">
            <a:extLst>
              <a:ext uri="{FF2B5EF4-FFF2-40B4-BE49-F238E27FC236}">
                <a16:creationId xmlns:a16="http://schemas.microsoft.com/office/drawing/2014/main" id="{4EE3DA63-4A52-6475-B75F-010FBC3E8F92}"/>
              </a:ext>
            </a:extLst>
          </p:cNvPr>
          <p:cNvSpPr txBox="1">
            <a:spLocks/>
          </p:cNvSpPr>
          <p:nvPr/>
        </p:nvSpPr>
        <p:spPr>
          <a:xfrm>
            <a:off x="6655191" y="3325641"/>
            <a:ext cx="4965891" cy="1284950"/>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1200"/>
              </a:spcBef>
              <a:buFont typeface="+mj-lt"/>
              <a:buAutoNum type="arabicPeriod"/>
            </a:pPr>
            <a:r>
              <a:rPr lang="en-US" sz="2000">
                <a:solidFill>
                  <a:schemeClr val="tx1"/>
                </a:solidFill>
              </a:rPr>
              <a:t>Reddit (40.1%)</a:t>
            </a:r>
          </a:p>
          <a:p>
            <a:pPr marL="342900" indent="-342900">
              <a:spcBef>
                <a:spcPts val="1200"/>
              </a:spcBef>
              <a:buFont typeface="+mj-lt"/>
              <a:buAutoNum type="arabicPeriod"/>
            </a:pPr>
            <a:r>
              <a:rPr lang="en-US" sz="2000">
                <a:solidFill>
                  <a:schemeClr val="tx1"/>
                </a:solidFill>
              </a:rPr>
              <a:t>Wikipedia (26.3%)</a:t>
            </a:r>
          </a:p>
          <a:p>
            <a:pPr marL="342900" indent="-342900">
              <a:spcBef>
                <a:spcPts val="1200"/>
              </a:spcBef>
              <a:buFont typeface="+mj-lt"/>
              <a:buAutoNum type="arabicPeriod"/>
            </a:pPr>
            <a:r>
              <a:rPr lang="en-US" sz="2000">
                <a:solidFill>
                  <a:schemeClr val="tx1"/>
                </a:solidFill>
              </a:rPr>
              <a:t>YouTube (23.5%)</a:t>
            </a:r>
          </a:p>
        </p:txBody>
      </p:sp>
      <p:sp>
        <p:nvSpPr>
          <p:cNvPr id="6" name="Content Placeholder 4">
            <a:extLst>
              <a:ext uri="{FF2B5EF4-FFF2-40B4-BE49-F238E27FC236}">
                <a16:creationId xmlns:a16="http://schemas.microsoft.com/office/drawing/2014/main" id="{85D62B85-B193-F549-3077-B90C77F30994}"/>
              </a:ext>
            </a:extLst>
          </p:cNvPr>
          <p:cNvSpPr txBox="1">
            <a:spLocks/>
          </p:cNvSpPr>
          <p:nvPr/>
        </p:nvSpPr>
        <p:spPr>
          <a:xfrm>
            <a:off x="6620376" y="2130833"/>
            <a:ext cx="4965890" cy="4668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2800" b="1">
                <a:solidFill>
                  <a:schemeClr val="tx1"/>
                </a:solidFill>
              </a:rPr>
              <a:t>Most-cited domains across all major AI platforms</a:t>
            </a:r>
            <a:endParaRPr lang="en-US" sz="2800">
              <a:solidFill>
                <a:schemeClr val="tx1"/>
              </a:solidFill>
            </a:endParaRPr>
          </a:p>
        </p:txBody>
      </p:sp>
      <p:sp>
        <p:nvSpPr>
          <p:cNvPr id="3" name="Text Placeholder 8">
            <a:extLst>
              <a:ext uri="{FF2B5EF4-FFF2-40B4-BE49-F238E27FC236}">
                <a16:creationId xmlns:a16="http://schemas.microsoft.com/office/drawing/2014/main" id="{E4A5676C-4BE9-E75A-E8F7-1F5506671C6E}"/>
              </a:ext>
            </a:extLst>
          </p:cNvPr>
          <p:cNvSpPr txBox="1">
            <a:spLocks/>
          </p:cNvSpPr>
          <p:nvPr/>
        </p:nvSpPr>
        <p:spPr>
          <a:xfrm>
            <a:off x="342911" y="1915818"/>
            <a:ext cx="5421914"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2400" b="1">
                <a:solidFill>
                  <a:schemeClr val="accent1"/>
                </a:solidFill>
              </a:rPr>
              <a:t>AI prioritizes authentic, conversational content that reflects real-world user experience</a:t>
            </a:r>
          </a:p>
        </p:txBody>
      </p:sp>
      <p:sp>
        <p:nvSpPr>
          <p:cNvPr id="7" name="Text Placeholder 16">
            <a:extLst>
              <a:ext uri="{FF2B5EF4-FFF2-40B4-BE49-F238E27FC236}">
                <a16:creationId xmlns:a16="http://schemas.microsoft.com/office/drawing/2014/main" id="{1448D996-05A9-8CCE-40B1-0943901333C1}"/>
              </a:ext>
            </a:extLst>
          </p:cNvPr>
          <p:cNvSpPr txBox="1">
            <a:spLocks/>
          </p:cNvSpPr>
          <p:nvPr/>
        </p:nvSpPr>
        <p:spPr>
          <a:xfrm>
            <a:off x="246888" y="3532979"/>
            <a:ext cx="5239512" cy="251422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Consumer-generated content reflects sentiment with relative neutrality seeking authentic evaluation — both positive and negative — to form answers.</a:t>
            </a:r>
            <a:br>
              <a:rPr lang="en-US" sz="1600"/>
            </a:br>
            <a:endParaRPr lang="en-US" sz="1600"/>
          </a:p>
          <a:p>
            <a:r>
              <a:rPr lang="en-US" sz="1600"/>
              <a:t>For some industries and question-types, AI Search has elevated Consumer Generated Content and review platforms from supplemental to integral.  </a:t>
            </a:r>
          </a:p>
        </p:txBody>
      </p:sp>
      <p:sp>
        <p:nvSpPr>
          <p:cNvPr id="10" name="Text 5">
            <a:extLst>
              <a:ext uri="{FF2B5EF4-FFF2-40B4-BE49-F238E27FC236}">
                <a16:creationId xmlns:a16="http://schemas.microsoft.com/office/drawing/2014/main" id="{E4C2A903-C964-F91E-9EF6-D8A16A444F5F}"/>
              </a:ext>
            </a:extLst>
          </p:cNvPr>
          <p:cNvSpPr/>
          <p:nvPr/>
        </p:nvSpPr>
        <p:spPr>
          <a:xfrm>
            <a:off x="9809001" y="6540498"/>
            <a:ext cx="1428320" cy="254001"/>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3"/>
              </a:rPr>
              <a:t>Discovered Labs</a:t>
            </a:r>
            <a:endParaRPr lang="en-US" sz="1200"/>
          </a:p>
        </p:txBody>
      </p:sp>
    </p:spTree>
    <p:extLst>
      <p:ext uri="{BB962C8B-B14F-4D97-AF65-F5344CB8AC3E}">
        <p14:creationId xmlns:p14="http://schemas.microsoft.com/office/powerpoint/2010/main" val="1003854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B4634-5019-3A06-5197-8AF5835DE5B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0EBD85D-6203-2BB4-D1B7-FDF4A6EF9699}"/>
              </a:ext>
            </a:extLst>
          </p:cNvPr>
          <p:cNvSpPr>
            <a:spLocks noGrp="1"/>
          </p:cNvSpPr>
          <p:nvPr>
            <p:ph type="title"/>
          </p:nvPr>
        </p:nvSpPr>
        <p:spPr>
          <a:xfrm>
            <a:off x="228600" y="563628"/>
            <a:ext cx="11633877" cy="832104"/>
          </a:xfrm>
        </p:spPr>
        <p:txBody>
          <a:bodyPr/>
          <a:lstStyle/>
          <a:p>
            <a:r>
              <a:rPr lang="en-US"/>
              <a:t>SHARED: </a:t>
            </a:r>
            <a:br>
              <a:rPr lang="en-US"/>
            </a:br>
            <a:r>
              <a:rPr lang="en-US"/>
              <a:t>WHAT MATTERS</a:t>
            </a:r>
          </a:p>
        </p:txBody>
      </p:sp>
      <p:sp>
        <p:nvSpPr>
          <p:cNvPr id="2" name="Slide Number Placeholder 1">
            <a:extLst>
              <a:ext uri="{FF2B5EF4-FFF2-40B4-BE49-F238E27FC236}">
                <a16:creationId xmlns:a16="http://schemas.microsoft.com/office/drawing/2014/main" id="{E409C61B-B337-6930-0AA5-F6A893778452}"/>
              </a:ext>
            </a:extLst>
          </p:cNvPr>
          <p:cNvSpPr>
            <a:spLocks noGrp="1"/>
          </p:cNvSpPr>
          <p:nvPr>
            <p:ph type="sldNum" sz="quarter" idx="12"/>
          </p:nvPr>
        </p:nvSpPr>
        <p:spPr/>
        <p:txBody>
          <a:bodyPr/>
          <a:lstStyle/>
          <a:p>
            <a:fld id="{6D05E8BB-FF85-4620-9298-8F3F48811131}" type="slidenum">
              <a:rPr lang="en-US" smtClean="0"/>
              <a:t>24</a:t>
            </a:fld>
            <a:endParaRPr lang="en-US"/>
          </a:p>
        </p:txBody>
      </p:sp>
      <p:sp>
        <p:nvSpPr>
          <p:cNvPr id="9" name="Text Placeholder 8">
            <a:extLst>
              <a:ext uri="{FF2B5EF4-FFF2-40B4-BE49-F238E27FC236}">
                <a16:creationId xmlns:a16="http://schemas.microsoft.com/office/drawing/2014/main" id="{A9D81C76-8E9D-89D4-4198-0661A83361CE}"/>
              </a:ext>
            </a:extLst>
          </p:cNvPr>
          <p:cNvSpPr>
            <a:spLocks noGrp="1"/>
          </p:cNvSpPr>
          <p:nvPr>
            <p:ph type="body" sz="quarter" idx="13"/>
          </p:nvPr>
        </p:nvSpPr>
        <p:spPr/>
        <p:txBody>
          <a:bodyPr/>
          <a:lstStyle/>
          <a:p>
            <a:r>
              <a:rPr lang="en-US"/>
              <a:t>HOW AI IS RESHAPING SEARCH STRATEGY</a:t>
            </a:r>
          </a:p>
        </p:txBody>
      </p:sp>
      <p:sp>
        <p:nvSpPr>
          <p:cNvPr id="10" name="Text Placeholder 16">
            <a:extLst>
              <a:ext uri="{FF2B5EF4-FFF2-40B4-BE49-F238E27FC236}">
                <a16:creationId xmlns:a16="http://schemas.microsoft.com/office/drawing/2014/main" id="{9E548CE7-2DE9-5660-0EBF-B64BF6ADC370}"/>
              </a:ext>
            </a:extLst>
          </p:cNvPr>
          <p:cNvSpPr>
            <a:spLocks noGrp="1"/>
          </p:cNvSpPr>
          <p:nvPr>
            <p:ph type="body" sz="quarter" idx="14"/>
          </p:nvPr>
        </p:nvSpPr>
        <p:spPr>
          <a:xfrm>
            <a:off x="392968" y="2478033"/>
            <a:ext cx="6048930" cy="3816339"/>
          </a:xfrm>
        </p:spPr>
        <p:txBody>
          <a:bodyPr/>
          <a:lstStyle/>
          <a:p>
            <a:pPr marL="0" indent="0">
              <a:buNone/>
            </a:pPr>
            <a:r>
              <a:rPr lang="en-US" sz="1400" b="1"/>
              <a:t>Authentic community engagement</a:t>
            </a:r>
            <a:endParaRPr lang="en-US" sz="1400"/>
          </a:p>
          <a:p>
            <a:pPr marL="0" indent="0">
              <a:buNone/>
            </a:pPr>
            <a:r>
              <a:rPr lang="en-US" sz="1400"/>
              <a:t>Genuine, sustained participation — answering questions, sharing expertise and contributing. AI can detect and prioritize content that feels promotional or manufactured. One-off campaigns don’t build lasting citation authority. </a:t>
            </a:r>
          </a:p>
          <a:p>
            <a:pPr marL="0" indent="0">
              <a:buNone/>
            </a:pPr>
            <a:r>
              <a:rPr lang="en-US" sz="1400" b="1"/>
              <a:t> </a:t>
            </a:r>
            <a:endParaRPr lang="en-US" sz="1400"/>
          </a:p>
          <a:p>
            <a:pPr marL="0" indent="0">
              <a:buNone/>
            </a:pPr>
            <a:r>
              <a:rPr lang="en-US" sz="1400" b="1"/>
              <a:t>Monitor and manage brand sentiment actively</a:t>
            </a:r>
            <a:endParaRPr lang="en-US" sz="1400"/>
          </a:p>
          <a:p>
            <a:pPr marL="0" indent="0">
              <a:buNone/>
            </a:pPr>
            <a:r>
              <a:rPr lang="en-US" sz="1400"/>
              <a:t>Unaddressed criticism shapes how AI represents your brand. Respond transparently and constructively — AI cites these interactions alongside positive mentions. </a:t>
            </a:r>
          </a:p>
          <a:p>
            <a:pPr marL="0" indent="0">
              <a:buNone/>
            </a:pPr>
            <a:r>
              <a:rPr lang="en-US" sz="1400" b="1"/>
              <a:t> </a:t>
            </a:r>
            <a:endParaRPr lang="en-US" sz="1400"/>
          </a:p>
          <a:p>
            <a:pPr marL="0" indent="0">
              <a:buNone/>
            </a:pPr>
            <a:r>
              <a:rPr lang="en-US" sz="1400" b="1"/>
              <a:t>Encourage substantive reviews on key review platforms</a:t>
            </a:r>
            <a:r>
              <a:rPr lang="en-US" sz="1400"/>
              <a:t> </a:t>
            </a:r>
          </a:p>
          <a:p>
            <a:pPr marL="0" indent="0">
              <a:buNone/>
            </a:pPr>
            <a:r>
              <a:rPr lang="en-US" sz="1400"/>
              <a:t>Ensure your brand has a strong presence on review platforms that AI systems trust including industry-specific sites. Encourage detailed, experience-based reviews from customers rather than generic star ratings, as AI favors substantive, multi-sentence content.</a:t>
            </a:r>
          </a:p>
          <a:p>
            <a:pPr marL="0" indent="0">
              <a:buNone/>
            </a:pPr>
            <a:endParaRPr lang="en-US" sz="1400" b="1"/>
          </a:p>
        </p:txBody>
      </p:sp>
      <p:pic>
        <p:nvPicPr>
          <p:cNvPr id="3" name="Picture 2">
            <a:extLst>
              <a:ext uri="{FF2B5EF4-FFF2-40B4-BE49-F238E27FC236}">
                <a16:creationId xmlns:a16="http://schemas.microsoft.com/office/drawing/2014/main" id="{B12FDE19-F2CE-2CD4-313A-EB77AA83F410}"/>
              </a:ext>
            </a:extLst>
          </p:cNvPr>
          <p:cNvPicPr>
            <a:picLocks noChangeAspect="1"/>
          </p:cNvPicPr>
          <p:nvPr/>
        </p:nvPicPr>
        <p:blipFill>
          <a:blip r:embed="rId3"/>
          <a:srcRect l="13764" t="18731" r="12921" b="30368"/>
          <a:stretch>
            <a:fillRect/>
          </a:stretch>
        </p:blipFill>
        <p:spPr>
          <a:xfrm>
            <a:off x="6924782" y="2478033"/>
            <a:ext cx="4318848" cy="2998539"/>
          </a:xfrm>
          <a:prstGeom prst="rect">
            <a:avLst/>
          </a:prstGeom>
        </p:spPr>
      </p:pic>
    </p:spTree>
    <p:extLst>
      <p:ext uri="{BB962C8B-B14F-4D97-AF65-F5344CB8AC3E}">
        <p14:creationId xmlns:p14="http://schemas.microsoft.com/office/powerpoint/2010/main" val="3498389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9E431-7779-D3C5-2E6E-7559A5ACE0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48700F-018B-1321-018F-D4F0C02D13C1}"/>
              </a:ext>
            </a:extLst>
          </p:cNvPr>
          <p:cNvSpPr/>
          <p:nvPr/>
        </p:nvSpPr>
        <p:spPr>
          <a:xfrm>
            <a:off x="6427176" y="1961999"/>
            <a:ext cx="5421923" cy="38607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3419E52-AA6F-C82F-F6CE-3C4595256FC2}"/>
              </a:ext>
            </a:extLst>
          </p:cNvPr>
          <p:cNvSpPr>
            <a:spLocks noGrp="1"/>
          </p:cNvSpPr>
          <p:nvPr>
            <p:ph type="title"/>
          </p:nvPr>
        </p:nvSpPr>
        <p:spPr>
          <a:xfrm>
            <a:off x="228600" y="563628"/>
            <a:ext cx="11633877" cy="832104"/>
          </a:xfrm>
        </p:spPr>
        <p:txBody>
          <a:bodyPr/>
          <a:lstStyle/>
          <a:p>
            <a:r>
              <a:rPr lang="en-US"/>
              <a:t>PAID: THE AMPLIFIER</a:t>
            </a:r>
          </a:p>
        </p:txBody>
      </p:sp>
      <p:sp>
        <p:nvSpPr>
          <p:cNvPr id="2" name="Slide Number Placeholder 1">
            <a:extLst>
              <a:ext uri="{FF2B5EF4-FFF2-40B4-BE49-F238E27FC236}">
                <a16:creationId xmlns:a16="http://schemas.microsoft.com/office/drawing/2014/main" id="{9B90F461-6D82-BC03-4286-4FCD3AD967E8}"/>
              </a:ext>
            </a:extLst>
          </p:cNvPr>
          <p:cNvSpPr>
            <a:spLocks noGrp="1"/>
          </p:cNvSpPr>
          <p:nvPr>
            <p:ph type="sldNum" sz="quarter" idx="12"/>
          </p:nvPr>
        </p:nvSpPr>
        <p:spPr/>
        <p:txBody>
          <a:bodyPr/>
          <a:lstStyle/>
          <a:p>
            <a:fld id="{6D05E8BB-FF85-4620-9298-8F3F48811131}" type="slidenum">
              <a:rPr lang="en-US" smtClean="0"/>
              <a:t>25</a:t>
            </a:fld>
            <a:endParaRPr lang="en-US"/>
          </a:p>
        </p:txBody>
      </p:sp>
      <p:sp>
        <p:nvSpPr>
          <p:cNvPr id="9" name="Text Placeholder 8">
            <a:extLst>
              <a:ext uri="{FF2B5EF4-FFF2-40B4-BE49-F238E27FC236}">
                <a16:creationId xmlns:a16="http://schemas.microsoft.com/office/drawing/2014/main" id="{CB3C6456-A6FD-D2B2-B164-5DD7C7FB1582}"/>
              </a:ext>
            </a:extLst>
          </p:cNvPr>
          <p:cNvSpPr>
            <a:spLocks noGrp="1"/>
          </p:cNvSpPr>
          <p:nvPr>
            <p:ph type="body" sz="quarter" idx="13"/>
          </p:nvPr>
        </p:nvSpPr>
        <p:spPr/>
        <p:txBody>
          <a:bodyPr/>
          <a:lstStyle/>
          <a:p>
            <a:r>
              <a:rPr lang="en-US"/>
              <a:t>HOW AI IS RESHAPING SEARCH STRATEGY</a:t>
            </a:r>
          </a:p>
        </p:txBody>
      </p:sp>
      <p:sp>
        <p:nvSpPr>
          <p:cNvPr id="5" name="Content Placeholder 4">
            <a:extLst>
              <a:ext uri="{FF2B5EF4-FFF2-40B4-BE49-F238E27FC236}">
                <a16:creationId xmlns:a16="http://schemas.microsoft.com/office/drawing/2014/main" id="{657D23FF-CFFC-B169-FDD6-AD93845C692D}"/>
              </a:ext>
            </a:extLst>
          </p:cNvPr>
          <p:cNvSpPr txBox="1">
            <a:spLocks/>
          </p:cNvSpPr>
          <p:nvPr/>
        </p:nvSpPr>
        <p:spPr>
          <a:xfrm>
            <a:off x="6560218" y="3249890"/>
            <a:ext cx="4690373" cy="1284950"/>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b="1">
                <a:solidFill>
                  <a:schemeClr val="tx1"/>
                </a:solidFill>
              </a:rPr>
              <a:t>Paid CTR (Click-through Rate) dropped 68% for queries with AI Overviews. However, brands cited in AI Overviews see 91% higher paid CTR compared to non-cited brands.</a:t>
            </a:r>
            <a:r>
              <a:rPr lang="en-US">
                <a:solidFill>
                  <a:schemeClr val="tx1"/>
                </a:solidFill>
              </a:rPr>
              <a:t> </a:t>
            </a:r>
          </a:p>
        </p:txBody>
      </p:sp>
      <p:sp>
        <p:nvSpPr>
          <p:cNvPr id="6" name="Content Placeholder 4">
            <a:extLst>
              <a:ext uri="{FF2B5EF4-FFF2-40B4-BE49-F238E27FC236}">
                <a16:creationId xmlns:a16="http://schemas.microsoft.com/office/drawing/2014/main" id="{47A20AC0-95F5-A066-19FD-97A26EA3E8C4}"/>
              </a:ext>
            </a:extLst>
          </p:cNvPr>
          <p:cNvSpPr txBox="1">
            <a:spLocks/>
          </p:cNvSpPr>
          <p:nvPr/>
        </p:nvSpPr>
        <p:spPr>
          <a:xfrm>
            <a:off x="6560219" y="2400605"/>
            <a:ext cx="4123214" cy="4668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3600" b="1">
                <a:solidFill>
                  <a:schemeClr val="tx1"/>
                </a:solidFill>
              </a:rPr>
              <a:t>91% higher CTR</a:t>
            </a:r>
            <a:endParaRPr lang="en-US" sz="3600">
              <a:solidFill>
                <a:schemeClr val="tx1"/>
              </a:solidFill>
            </a:endParaRPr>
          </a:p>
        </p:txBody>
      </p:sp>
      <p:sp>
        <p:nvSpPr>
          <p:cNvPr id="12" name="Text Placeholder 8">
            <a:extLst>
              <a:ext uri="{FF2B5EF4-FFF2-40B4-BE49-F238E27FC236}">
                <a16:creationId xmlns:a16="http://schemas.microsoft.com/office/drawing/2014/main" id="{F2AD6233-E9CA-9B25-2B69-1A0E9480C8F8}"/>
              </a:ext>
            </a:extLst>
          </p:cNvPr>
          <p:cNvSpPr txBox="1">
            <a:spLocks/>
          </p:cNvSpPr>
          <p:nvPr/>
        </p:nvSpPr>
        <p:spPr>
          <a:xfrm>
            <a:off x="342911" y="1915818"/>
            <a:ext cx="5421914" cy="44842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2400" b="1">
                <a:solidFill>
                  <a:schemeClr val="accent1"/>
                </a:solidFill>
              </a:rPr>
              <a:t>While AI summaries directly surface paid ads, paid media drives awareness that amplifies behavior across channels that AI leverages</a:t>
            </a:r>
          </a:p>
        </p:txBody>
      </p:sp>
      <p:sp>
        <p:nvSpPr>
          <p:cNvPr id="14" name="Text Placeholder 16">
            <a:extLst>
              <a:ext uri="{FF2B5EF4-FFF2-40B4-BE49-F238E27FC236}">
                <a16:creationId xmlns:a16="http://schemas.microsoft.com/office/drawing/2014/main" id="{02D0E23E-A800-A954-7BF8-96F239D4BF3E}"/>
              </a:ext>
            </a:extLst>
          </p:cNvPr>
          <p:cNvSpPr txBox="1">
            <a:spLocks/>
          </p:cNvSpPr>
          <p:nvPr/>
        </p:nvSpPr>
        <p:spPr>
          <a:xfrm>
            <a:off x="246888" y="3780146"/>
            <a:ext cx="5194688" cy="2514226"/>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While the channel is shifting, PPC opportunities remain for lower-funnel terms where AI summaries do not adequately cover the intent of the consumer.</a:t>
            </a:r>
            <a:br>
              <a:rPr lang="en-US" sz="1600"/>
            </a:br>
            <a:endParaRPr lang="en-US" sz="1600"/>
          </a:p>
          <a:p>
            <a:r>
              <a:rPr lang="en-US" sz="1600"/>
              <a:t>Paid opportunities within the AI search space are emerging with the news from ChatGPT, as well as others that are certain to be on the horizon.</a:t>
            </a:r>
          </a:p>
        </p:txBody>
      </p:sp>
      <p:sp>
        <p:nvSpPr>
          <p:cNvPr id="3" name="Text 5">
            <a:extLst>
              <a:ext uri="{FF2B5EF4-FFF2-40B4-BE49-F238E27FC236}">
                <a16:creationId xmlns:a16="http://schemas.microsoft.com/office/drawing/2014/main" id="{937E6CE5-9A7A-0A5F-68C6-B0CD36FDE14F}"/>
              </a:ext>
            </a:extLst>
          </p:cNvPr>
          <p:cNvSpPr/>
          <p:nvPr/>
        </p:nvSpPr>
        <p:spPr>
          <a:xfrm>
            <a:off x="9809001" y="6540498"/>
            <a:ext cx="1428320" cy="254001"/>
          </a:xfrm>
          <a:prstGeom prst="rect">
            <a:avLst/>
          </a:prstGeom>
          <a:noFill/>
          <a:ln/>
        </p:spPr>
        <p:txBody>
          <a:bodyPr wrap="square" lIns="0" tIns="0" rIns="0" bIns="0" rtlCol="0" anchor="ctr"/>
          <a:lstStyle/>
          <a:p>
            <a:pPr algn="r"/>
            <a:r>
              <a:rPr lang="en-US" sz="1200">
                <a:ea typeface="Arial" pitchFamily="34" charset="-122"/>
                <a:cs typeface="Arial" pitchFamily="34" charset="-120"/>
                <a:hlinkClick r:id="rId4"/>
              </a:rPr>
              <a:t>Seer Interactive</a:t>
            </a:r>
            <a:endParaRPr lang="en-US" sz="1200"/>
          </a:p>
        </p:txBody>
      </p:sp>
    </p:spTree>
    <p:extLst>
      <p:ext uri="{BB962C8B-B14F-4D97-AF65-F5344CB8AC3E}">
        <p14:creationId xmlns:p14="http://schemas.microsoft.com/office/powerpoint/2010/main" val="3974430059"/>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56A8C-0911-DF23-A178-D6E39389D2C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CEFC6A-09A1-DC29-7E7B-6E0023DC2695}"/>
              </a:ext>
            </a:extLst>
          </p:cNvPr>
          <p:cNvSpPr>
            <a:spLocks noGrp="1"/>
          </p:cNvSpPr>
          <p:nvPr>
            <p:ph type="title"/>
          </p:nvPr>
        </p:nvSpPr>
        <p:spPr>
          <a:xfrm>
            <a:off x="228600" y="563628"/>
            <a:ext cx="11633877" cy="832104"/>
          </a:xfrm>
        </p:spPr>
        <p:txBody>
          <a:bodyPr/>
          <a:lstStyle/>
          <a:p>
            <a:r>
              <a:rPr lang="en-US"/>
              <a:t>PAID: </a:t>
            </a:r>
            <a:br>
              <a:rPr lang="en-US"/>
            </a:br>
            <a:r>
              <a:rPr lang="en-US"/>
              <a:t>WHAT MATTERS</a:t>
            </a:r>
          </a:p>
        </p:txBody>
      </p:sp>
      <p:sp>
        <p:nvSpPr>
          <p:cNvPr id="2" name="Slide Number Placeholder 1">
            <a:extLst>
              <a:ext uri="{FF2B5EF4-FFF2-40B4-BE49-F238E27FC236}">
                <a16:creationId xmlns:a16="http://schemas.microsoft.com/office/drawing/2014/main" id="{EF8DD2B4-4736-81B4-07E6-974053127DB1}"/>
              </a:ext>
            </a:extLst>
          </p:cNvPr>
          <p:cNvSpPr>
            <a:spLocks noGrp="1"/>
          </p:cNvSpPr>
          <p:nvPr>
            <p:ph type="sldNum" sz="quarter" idx="12"/>
          </p:nvPr>
        </p:nvSpPr>
        <p:spPr/>
        <p:txBody>
          <a:bodyPr/>
          <a:lstStyle/>
          <a:p>
            <a:fld id="{6D05E8BB-FF85-4620-9298-8F3F48811131}" type="slidenum">
              <a:rPr lang="en-US" smtClean="0"/>
              <a:t>26</a:t>
            </a:fld>
            <a:endParaRPr lang="en-US"/>
          </a:p>
        </p:txBody>
      </p:sp>
      <p:sp>
        <p:nvSpPr>
          <p:cNvPr id="9" name="Text Placeholder 8">
            <a:extLst>
              <a:ext uri="{FF2B5EF4-FFF2-40B4-BE49-F238E27FC236}">
                <a16:creationId xmlns:a16="http://schemas.microsoft.com/office/drawing/2014/main" id="{CE8EDB9F-C44A-13C0-F717-AF17D9DD8440}"/>
              </a:ext>
            </a:extLst>
          </p:cNvPr>
          <p:cNvSpPr>
            <a:spLocks noGrp="1"/>
          </p:cNvSpPr>
          <p:nvPr>
            <p:ph type="body" sz="quarter" idx="13"/>
          </p:nvPr>
        </p:nvSpPr>
        <p:spPr/>
        <p:txBody>
          <a:bodyPr/>
          <a:lstStyle/>
          <a:p>
            <a:r>
              <a:rPr lang="en-US"/>
              <a:t>HOW AI IS RESHAPING SEARCH STRATEGY</a:t>
            </a:r>
          </a:p>
        </p:txBody>
      </p:sp>
      <p:sp>
        <p:nvSpPr>
          <p:cNvPr id="10" name="Text Placeholder 16">
            <a:extLst>
              <a:ext uri="{FF2B5EF4-FFF2-40B4-BE49-F238E27FC236}">
                <a16:creationId xmlns:a16="http://schemas.microsoft.com/office/drawing/2014/main" id="{4F5ECE5E-8410-1F30-5A7D-D39EC25DD213}"/>
              </a:ext>
            </a:extLst>
          </p:cNvPr>
          <p:cNvSpPr>
            <a:spLocks noGrp="1"/>
          </p:cNvSpPr>
          <p:nvPr>
            <p:ph type="body" sz="quarter" idx="14"/>
          </p:nvPr>
        </p:nvSpPr>
        <p:spPr>
          <a:xfrm>
            <a:off x="392967" y="2478034"/>
            <a:ext cx="6187128" cy="3816338"/>
          </a:xfrm>
        </p:spPr>
        <p:txBody>
          <a:bodyPr/>
          <a:lstStyle/>
          <a:p>
            <a:pPr marL="0" indent="0">
              <a:buNone/>
            </a:pPr>
            <a:r>
              <a:rPr lang="en-US" sz="1600" b="1"/>
              <a:t>Paid Search remains relevant.</a:t>
            </a:r>
            <a:r>
              <a:rPr lang="en-US" sz="1600"/>
              <a:t> </a:t>
            </a:r>
          </a:p>
          <a:p>
            <a:pPr marL="0" indent="0">
              <a:buNone/>
            </a:pPr>
            <a:r>
              <a:rPr lang="en-US" sz="1600"/>
              <a:t>Informational queries are increasingly satisfied by AI Overviews. Optimize for conversions, not clicks — the upper-funnel click pool has shrunk. </a:t>
            </a:r>
          </a:p>
          <a:p>
            <a:pPr marL="0" indent="0">
              <a:buNone/>
            </a:pPr>
            <a:r>
              <a:rPr lang="en-US" sz="1600" b="1"/>
              <a:t> </a:t>
            </a:r>
            <a:endParaRPr lang="en-US" sz="1600"/>
          </a:p>
          <a:p>
            <a:pPr marL="0" indent="0">
              <a:buNone/>
            </a:pPr>
            <a:r>
              <a:rPr lang="en-US" sz="1600" b="1"/>
              <a:t>Use paid to fuel AI-visible brand authority.</a:t>
            </a:r>
            <a:r>
              <a:rPr lang="en-US" sz="1600"/>
              <a:t> </a:t>
            </a:r>
          </a:p>
          <a:p>
            <a:pPr marL="0" indent="0">
              <a:buNone/>
            </a:pPr>
            <a:r>
              <a:rPr lang="en-US" sz="1600"/>
              <a:t>Think of paid not just as direct response but as an amplifier of the signals AI uses to decide which brands to recommend. Branded search volume drives citation frequency. </a:t>
            </a:r>
          </a:p>
          <a:p>
            <a:pPr marL="0" indent="0">
              <a:buNone/>
            </a:pPr>
            <a:r>
              <a:rPr lang="en-US" sz="1600"/>
              <a:t> </a:t>
            </a:r>
          </a:p>
          <a:p>
            <a:pPr marL="0" indent="0">
              <a:buNone/>
            </a:pPr>
            <a:r>
              <a:rPr lang="en-US" sz="1600" b="1"/>
              <a:t>Prepare for AI-native ad formats.</a:t>
            </a:r>
            <a:r>
              <a:rPr lang="en-US" sz="1600"/>
              <a:t> </a:t>
            </a:r>
          </a:p>
          <a:p>
            <a:pPr marL="0" indent="0">
              <a:buNone/>
            </a:pPr>
            <a:r>
              <a:rPr lang="en-US" sz="1600"/>
              <a:t>Google’s rollout of ads within AI Overviews and AI Mode is the next frontier. Ensure campaigns leverage Performance Max and Shopping formats eligible for these placements. </a:t>
            </a:r>
          </a:p>
        </p:txBody>
      </p:sp>
      <p:pic>
        <p:nvPicPr>
          <p:cNvPr id="2050" name="Picture 2" descr="Paid search - Free computer icons">
            <a:extLst>
              <a:ext uri="{FF2B5EF4-FFF2-40B4-BE49-F238E27FC236}">
                <a16:creationId xmlns:a16="http://schemas.microsoft.com/office/drawing/2014/main" id="{CD2280D1-BA14-0CE1-82E1-BA27627B2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1336" y="2478034"/>
            <a:ext cx="3659598" cy="3659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023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4CDE2-ECBB-DB91-CE55-01E2C0B40B4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608E53D-4173-08AB-0443-0FD21A707D68}"/>
              </a:ext>
            </a:extLst>
          </p:cNvPr>
          <p:cNvSpPr>
            <a:spLocks noGrp="1"/>
          </p:cNvSpPr>
          <p:nvPr>
            <p:ph type="title"/>
          </p:nvPr>
        </p:nvSpPr>
        <p:spPr>
          <a:xfrm>
            <a:off x="219456" y="585216"/>
            <a:ext cx="11286744" cy="832104"/>
          </a:xfrm>
        </p:spPr>
        <p:txBody>
          <a:bodyPr/>
          <a:lstStyle/>
          <a:p>
            <a:r>
              <a:rPr lang="en-US" b="1"/>
              <a:t>WHAT DOES AI VALUE?</a:t>
            </a:r>
            <a:endParaRPr lang="en-US"/>
          </a:p>
        </p:txBody>
      </p:sp>
      <p:sp>
        <p:nvSpPr>
          <p:cNvPr id="2" name="Slide Number Placeholder 1">
            <a:extLst>
              <a:ext uri="{FF2B5EF4-FFF2-40B4-BE49-F238E27FC236}">
                <a16:creationId xmlns:a16="http://schemas.microsoft.com/office/drawing/2014/main" id="{0DEC43B4-4099-4BB6-A815-54E2EE27DA94}"/>
              </a:ext>
            </a:extLst>
          </p:cNvPr>
          <p:cNvSpPr>
            <a:spLocks noGrp="1"/>
          </p:cNvSpPr>
          <p:nvPr>
            <p:ph type="sldNum" sz="quarter" idx="12"/>
          </p:nvPr>
        </p:nvSpPr>
        <p:spPr/>
        <p:txBody>
          <a:bodyPr/>
          <a:lstStyle/>
          <a:p>
            <a:fld id="{6D05E8BB-FF85-4620-9298-8F3F48811131}" type="slidenum">
              <a:rPr lang="en-US" smtClean="0"/>
              <a:t>27</a:t>
            </a:fld>
            <a:endParaRPr lang="en-US"/>
          </a:p>
        </p:txBody>
      </p:sp>
      <p:sp>
        <p:nvSpPr>
          <p:cNvPr id="8" name="Text Placeholder 7">
            <a:extLst>
              <a:ext uri="{FF2B5EF4-FFF2-40B4-BE49-F238E27FC236}">
                <a16:creationId xmlns:a16="http://schemas.microsoft.com/office/drawing/2014/main" id="{ED020D66-69F0-9DCA-0EA3-7B6B68354056}"/>
              </a:ext>
            </a:extLst>
          </p:cNvPr>
          <p:cNvSpPr>
            <a:spLocks noGrp="1"/>
          </p:cNvSpPr>
          <p:nvPr>
            <p:ph type="body" sz="quarter" idx="13"/>
          </p:nvPr>
        </p:nvSpPr>
        <p:spPr/>
        <p:txBody>
          <a:bodyPr/>
          <a:lstStyle/>
          <a:p>
            <a:r>
              <a:rPr lang="en-US"/>
              <a:t>HOW AI IS RESHAPING SEARCH STRATEGY</a:t>
            </a:r>
          </a:p>
        </p:txBody>
      </p:sp>
      <p:sp>
        <p:nvSpPr>
          <p:cNvPr id="9" name="Text Placeholder 8">
            <a:extLst>
              <a:ext uri="{FF2B5EF4-FFF2-40B4-BE49-F238E27FC236}">
                <a16:creationId xmlns:a16="http://schemas.microsoft.com/office/drawing/2014/main" id="{9556652A-680A-700E-E150-B695193F304F}"/>
              </a:ext>
            </a:extLst>
          </p:cNvPr>
          <p:cNvSpPr>
            <a:spLocks noGrp="1"/>
          </p:cNvSpPr>
          <p:nvPr>
            <p:ph type="body" sz="quarter" idx="14"/>
          </p:nvPr>
        </p:nvSpPr>
        <p:spPr>
          <a:xfrm>
            <a:off x="4114043" y="2021112"/>
            <a:ext cx="3963914" cy="3496110"/>
          </a:xfrm>
        </p:spPr>
        <p:txBody>
          <a:bodyPr/>
          <a:lstStyle/>
          <a:p>
            <a:pPr marL="0" indent="0">
              <a:spcAft>
                <a:spcPts val="1200"/>
              </a:spcAft>
              <a:buNone/>
            </a:pPr>
            <a:r>
              <a:rPr lang="en-US" sz="1800" b="1">
                <a:solidFill>
                  <a:schemeClr val="accent1"/>
                </a:solidFill>
              </a:rPr>
              <a:t>Core Top-Level GEO Strategies:</a:t>
            </a:r>
          </a:p>
          <a:p>
            <a:pPr>
              <a:spcAft>
                <a:spcPts val="1200"/>
              </a:spcAft>
            </a:pPr>
            <a:r>
              <a:rPr lang="en-US" sz="1600" b="1"/>
              <a:t>Authority Building </a:t>
            </a:r>
            <a:r>
              <a:rPr lang="en-US" sz="1600"/>
              <a:t>— Citations and mentions across authoritative sources</a:t>
            </a:r>
          </a:p>
          <a:p>
            <a:pPr>
              <a:spcAft>
                <a:spcPts val="1200"/>
              </a:spcAft>
            </a:pPr>
            <a:r>
              <a:rPr lang="en-US" sz="1600" b="1"/>
              <a:t>Originality</a:t>
            </a:r>
            <a:r>
              <a:rPr lang="en-US" sz="1600"/>
              <a:t> — First-party research and unique insights</a:t>
            </a:r>
          </a:p>
          <a:p>
            <a:pPr>
              <a:spcAft>
                <a:spcPts val="1200"/>
              </a:spcAft>
            </a:pPr>
            <a:r>
              <a:rPr lang="en-US" sz="1600" b="1"/>
              <a:t>Consistency </a:t>
            </a:r>
            <a:r>
              <a:rPr lang="en-US" sz="1600"/>
              <a:t>— Messaging alignment across channels </a:t>
            </a:r>
          </a:p>
          <a:p>
            <a:pPr>
              <a:spcAft>
                <a:spcPts val="1200"/>
              </a:spcAft>
            </a:pPr>
            <a:r>
              <a:rPr lang="en-US" sz="1600" b="1"/>
              <a:t>Structured Data </a:t>
            </a:r>
            <a:r>
              <a:rPr lang="en-US" sz="1600"/>
              <a:t>— Schema markup and clear formatting</a:t>
            </a:r>
          </a:p>
        </p:txBody>
      </p:sp>
      <p:sp>
        <p:nvSpPr>
          <p:cNvPr id="3" name="Text Placeholder 8">
            <a:extLst>
              <a:ext uri="{FF2B5EF4-FFF2-40B4-BE49-F238E27FC236}">
                <a16:creationId xmlns:a16="http://schemas.microsoft.com/office/drawing/2014/main" id="{03DDB22F-6B87-55DB-7E4A-C8520441CAC4}"/>
              </a:ext>
            </a:extLst>
          </p:cNvPr>
          <p:cNvSpPr txBox="1">
            <a:spLocks/>
          </p:cNvSpPr>
          <p:nvPr/>
        </p:nvSpPr>
        <p:spPr>
          <a:xfrm>
            <a:off x="246888" y="2021112"/>
            <a:ext cx="3617253" cy="3036538"/>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800" b="1">
                <a:solidFill>
                  <a:schemeClr val="accent1"/>
                </a:solidFill>
              </a:rPr>
              <a:t>Factors that affect responses:</a:t>
            </a:r>
          </a:p>
          <a:p>
            <a:pPr>
              <a:spcAft>
                <a:spcPts val="1200"/>
              </a:spcAft>
            </a:pPr>
            <a:r>
              <a:rPr lang="en-US" sz="1600" b="1"/>
              <a:t>AI Models</a:t>
            </a:r>
          </a:p>
          <a:p>
            <a:pPr>
              <a:spcAft>
                <a:spcPts val="1200"/>
              </a:spcAft>
            </a:pPr>
            <a:r>
              <a:rPr lang="en-US" sz="1600" b="1"/>
              <a:t>Question-type</a:t>
            </a:r>
          </a:p>
          <a:p>
            <a:pPr>
              <a:spcAft>
                <a:spcPts val="1200"/>
              </a:spcAft>
            </a:pPr>
            <a:r>
              <a:rPr lang="en-US" sz="1600" b="1"/>
              <a:t>Industry</a:t>
            </a:r>
            <a:endParaRPr lang="en-US" sz="1600"/>
          </a:p>
        </p:txBody>
      </p:sp>
      <p:pic>
        <p:nvPicPr>
          <p:cNvPr id="4" name="Picture 3">
            <a:extLst>
              <a:ext uri="{FF2B5EF4-FFF2-40B4-BE49-F238E27FC236}">
                <a16:creationId xmlns:a16="http://schemas.microsoft.com/office/drawing/2014/main" id="{9ADAA21C-51F5-0BA0-18BB-10715BE40077}"/>
              </a:ext>
            </a:extLst>
          </p:cNvPr>
          <p:cNvPicPr>
            <a:picLocks noChangeAspect="1"/>
          </p:cNvPicPr>
          <p:nvPr/>
        </p:nvPicPr>
        <p:blipFill>
          <a:blip r:embed="rId3"/>
          <a:srcRect l="31318" t="22829" r="25093" b="28933"/>
          <a:stretch>
            <a:fillRect/>
          </a:stretch>
        </p:blipFill>
        <p:spPr>
          <a:xfrm>
            <a:off x="8642111" y="2021112"/>
            <a:ext cx="3137139" cy="2314437"/>
          </a:xfrm>
          <a:prstGeom prst="rect">
            <a:avLst/>
          </a:prstGeom>
        </p:spPr>
      </p:pic>
    </p:spTree>
    <p:extLst>
      <p:ext uri="{BB962C8B-B14F-4D97-AF65-F5344CB8AC3E}">
        <p14:creationId xmlns:p14="http://schemas.microsoft.com/office/powerpoint/2010/main" val="463071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C608D6E-72DF-A553-337D-6443153C13F7}"/>
              </a:ext>
            </a:extLst>
          </p:cNvPr>
          <p:cNvSpPr>
            <a:spLocks noGrp="1"/>
          </p:cNvSpPr>
          <p:nvPr>
            <p:ph type="title"/>
          </p:nvPr>
        </p:nvSpPr>
        <p:spPr>
          <a:xfrm>
            <a:off x="219455" y="585216"/>
            <a:ext cx="12091077" cy="832104"/>
          </a:xfrm>
        </p:spPr>
        <p:txBody>
          <a:bodyPr/>
          <a:lstStyle/>
          <a:p>
            <a:r>
              <a:rPr lang="en-US"/>
              <a:t>INTEGRATED STRATEGY WINS</a:t>
            </a:r>
          </a:p>
        </p:txBody>
      </p:sp>
      <p:sp>
        <p:nvSpPr>
          <p:cNvPr id="3" name="Slide Number Placeholder 2">
            <a:extLst>
              <a:ext uri="{FF2B5EF4-FFF2-40B4-BE49-F238E27FC236}">
                <a16:creationId xmlns:a16="http://schemas.microsoft.com/office/drawing/2014/main" id="{962190C0-4216-9199-92EE-ADA2F11C98EC}"/>
              </a:ext>
            </a:extLst>
          </p:cNvPr>
          <p:cNvSpPr>
            <a:spLocks noGrp="1"/>
          </p:cNvSpPr>
          <p:nvPr>
            <p:ph type="sldNum" sz="quarter" idx="12"/>
          </p:nvPr>
        </p:nvSpPr>
        <p:spPr/>
        <p:txBody>
          <a:bodyPr/>
          <a:lstStyle/>
          <a:p>
            <a:fld id="{6D05E8BB-FF85-4620-9298-8F3F48811131}" type="slidenum">
              <a:rPr lang="en-US" smtClean="0"/>
              <a:t>28</a:t>
            </a:fld>
            <a:endParaRPr lang="en-US"/>
          </a:p>
        </p:txBody>
      </p:sp>
      <p:sp>
        <p:nvSpPr>
          <p:cNvPr id="23" name="Text Placeholder 22">
            <a:extLst>
              <a:ext uri="{FF2B5EF4-FFF2-40B4-BE49-F238E27FC236}">
                <a16:creationId xmlns:a16="http://schemas.microsoft.com/office/drawing/2014/main" id="{CD6540DD-D131-5A04-1070-CF7F780B1DD3}"/>
              </a:ext>
            </a:extLst>
          </p:cNvPr>
          <p:cNvSpPr>
            <a:spLocks noGrp="1"/>
          </p:cNvSpPr>
          <p:nvPr>
            <p:ph type="body" sz="quarter" idx="13"/>
          </p:nvPr>
        </p:nvSpPr>
        <p:spPr/>
        <p:txBody>
          <a:bodyPr/>
          <a:lstStyle/>
          <a:p>
            <a:r>
              <a:rPr lang="en-US"/>
              <a:t>HOW AI IS RESHAPING SEARCH STRATEGY</a:t>
            </a:r>
          </a:p>
        </p:txBody>
      </p:sp>
      <p:sp>
        <p:nvSpPr>
          <p:cNvPr id="26" name="Text Placeholder 3">
            <a:extLst>
              <a:ext uri="{FF2B5EF4-FFF2-40B4-BE49-F238E27FC236}">
                <a16:creationId xmlns:a16="http://schemas.microsoft.com/office/drawing/2014/main" id="{BBE94609-FA5F-C21F-8931-9699D595CD28}"/>
              </a:ext>
            </a:extLst>
          </p:cNvPr>
          <p:cNvSpPr txBox="1">
            <a:spLocks/>
          </p:cNvSpPr>
          <p:nvPr/>
        </p:nvSpPr>
        <p:spPr>
          <a:xfrm>
            <a:off x="145820" y="3296829"/>
            <a:ext cx="2867247" cy="2154848"/>
          </a:xfrm>
          <a:prstGeom prst="rect">
            <a:avLst/>
          </a:prstGeom>
          <a:solidFill>
            <a:schemeClr val="accent5"/>
          </a:solidFill>
        </p:spPr>
        <p:txBody>
          <a:bodyPr lIns="91440" tIns="45720" rIns="548640" bIns="91440" anchor="ct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spcBef>
                <a:spcPts val="0"/>
              </a:spcBef>
              <a:spcAft>
                <a:spcPts val="1200"/>
              </a:spcAft>
              <a:buFont typeface="Arial" panose="020B0604020202020204" pitchFamily="34" charset="0"/>
              <a:buNone/>
            </a:pPr>
            <a:endParaRPr lang="en-US">
              <a:solidFill>
                <a:schemeClr val="bg1"/>
              </a:solidFill>
            </a:endParaRPr>
          </a:p>
        </p:txBody>
      </p:sp>
      <p:sp>
        <p:nvSpPr>
          <p:cNvPr id="27" name="Text Placeholder 4">
            <a:extLst>
              <a:ext uri="{FF2B5EF4-FFF2-40B4-BE49-F238E27FC236}">
                <a16:creationId xmlns:a16="http://schemas.microsoft.com/office/drawing/2014/main" id="{3D45C401-892E-B48F-D25A-DDE69CFA1911}"/>
              </a:ext>
            </a:extLst>
          </p:cNvPr>
          <p:cNvSpPr txBox="1">
            <a:spLocks/>
          </p:cNvSpPr>
          <p:nvPr/>
        </p:nvSpPr>
        <p:spPr>
          <a:xfrm>
            <a:off x="3159526" y="3296828"/>
            <a:ext cx="2867247" cy="2154849"/>
          </a:xfrm>
          <a:prstGeom prst="rect">
            <a:avLst/>
          </a:prstGeom>
          <a:solidFill>
            <a:schemeClr val="accent5">
              <a:lumMod val="75000"/>
            </a:schemeClr>
          </a:solidFill>
        </p:spPr>
        <p:txBody>
          <a:bodyPr vert="horz" lIns="91440" tIns="45720" rIns="548640" bIns="91440" rtlCol="0" anchor="ctr" anchorCtr="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spcBef>
                <a:spcPts val="0"/>
              </a:spcBef>
              <a:spcAft>
                <a:spcPts val="1200"/>
              </a:spcAft>
              <a:buFont typeface="Arial" panose="020B0604020202020204" pitchFamily="34" charset="0"/>
              <a:buNone/>
            </a:pPr>
            <a:endParaRPr lang="en-US" sz="1400">
              <a:solidFill>
                <a:schemeClr val="bg1"/>
              </a:solidFill>
            </a:endParaRPr>
          </a:p>
        </p:txBody>
      </p:sp>
      <p:sp>
        <p:nvSpPr>
          <p:cNvPr id="2" name="Text Placeholder 8">
            <a:extLst>
              <a:ext uri="{FF2B5EF4-FFF2-40B4-BE49-F238E27FC236}">
                <a16:creationId xmlns:a16="http://schemas.microsoft.com/office/drawing/2014/main" id="{67BD071B-DEC8-168D-75C4-D2AF053311DF}"/>
              </a:ext>
            </a:extLst>
          </p:cNvPr>
          <p:cNvSpPr txBox="1">
            <a:spLocks/>
          </p:cNvSpPr>
          <p:nvPr/>
        </p:nvSpPr>
        <p:spPr>
          <a:xfrm>
            <a:off x="3257462" y="1549718"/>
            <a:ext cx="5458916" cy="941109"/>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2800" b="1">
                <a:solidFill>
                  <a:schemeClr val="accent5"/>
                </a:solidFill>
              </a:rPr>
              <a:t>AI Visibility Relies on the Health of the Whole</a:t>
            </a:r>
          </a:p>
        </p:txBody>
      </p:sp>
      <p:sp>
        <p:nvSpPr>
          <p:cNvPr id="4" name="Text Placeholder 4">
            <a:extLst>
              <a:ext uri="{FF2B5EF4-FFF2-40B4-BE49-F238E27FC236}">
                <a16:creationId xmlns:a16="http://schemas.microsoft.com/office/drawing/2014/main" id="{7788ABDA-1FCA-7651-5E07-941C0632DACB}"/>
              </a:ext>
            </a:extLst>
          </p:cNvPr>
          <p:cNvSpPr txBox="1">
            <a:spLocks/>
          </p:cNvSpPr>
          <p:nvPr/>
        </p:nvSpPr>
        <p:spPr>
          <a:xfrm>
            <a:off x="6174943" y="3296828"/>
            <a:ext cx="2868958" cy="2154849"/>
          </a:xfrm>
          <a:prstGeom prst="rect">
            <a:avLst/>
          </a:prstGeom>
          <a:solidFill>
            <a:schemeClr val="accent6">
              <a:lumMod val="25000"/>
            </a:schemeClr>
          </a:solidFill>
        </p:spPr>
        <p:txBody>
          <a:bodyPr vert="horz" lIns="91440" tIns="45720" rIns="548640" bIns="91440" rtlCol="0" anchor="ctr" anchorCtr="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spcBef>
                <a:spcPts val="0"/>
              </a:spcBef>
              <a:spcAft>
                <a:spcPts val="1200"/>
              </a:spcAft>
              <a:buFont typeface="Arial" panose="020B0604020202020204" pitchFamily="34" charset="0"/>
              <a:buNone/>
            </a:pPr>
            <a:endParaRPr lang="en-US" sz="1400">
              <a:solidFill>
                <a:schemeClr val="bg1"/>
              </a:solidFill>
            </a:endParaRPr>
          </a:p>
        </p:txBody>
      </p:sp>
      <p:sp>
        <p:nvSpPr>
          <p:cNvPr id="5" name="Left Brace 4">
            <a:extLst>
              <a:ext uri="{FF2B5EF4-FFF2-40B4-BE49-F238E27FC236}">
                <a16:creationId xmlns:a16="http://schemas.microsoft.com/office/drawing/2014/main" id="{24720C9D-045A-A46B-EC2E-C319F70C9262}"/>
              </a:ext>
            </a:extLst>
          </p:cNvPr>
          <p:cNvSpPr/>
          <p:nvPr/>
        </p:nvSpPr>
        <p:spPr>
          <a:xfrm rot="5400000">
            <a:off x="5752155" y="-1742038"/>
            <a:ext cx="552659" cy="9395208"/>
          </a:xfrm>
          <a:prstGeom prst="leftBrace">
            <a:avLst>
              <a:gd name="adj1" fmla="val 8333"/>
              <a:gd name="adj2" fmla="val 50000"/>
            </a:avLst>
          </a:prstGeom>
          <a:noFill/>
          <a:ln w="38100" cap="sq">
            <a:solidFill>
              <a:schemeClr val="tx1"/>
            </a:solidFill>
            <a:prstDash val="solid"/>
            <a:round/>
            <a:headEnd/>
            <a:tailEnd/>
          </a:ln>
          <a:effectLst/>
        </p:spPr>
        <p:txBody>
          <a:bodyPr rtlCol="0" anchor="ctr"/>
          <a:lstStyle/>
          <a:p>
            <a:pPr algn="ctr"/>
            <a:endParaRPr lang="en-US"/>
          </a:p>
        </p:txBody>
      </p:sp>
      <p:sp>
        <p:nvSpPr>
          <p:cNvPr id="7" name="TextBox 6">
            <a:extLst>
              <a:ext uri="{FF2B5EF4-FFF2-40B4-BE49-F238E27FC236}">
                <a16:creationId xmlns:a16="http://schemas.microsoft.com/office/drawing/2014/main" id="{87F7E37B-9D88-FE95-66F5-0CE184E40E38}"/>
              </a:ext>
            </a:extLst>
          </p:cNvPr>
          <p:cNvSpPr txBox="1"/>
          <p:nvPr/>
        </p:nvSpPr>
        <p:spPr>
          <a:xfrm>
            <a:off x="1468672" y="5886811"/>
            <a:ext cx="9036496" cy="584775"/>
          </a:xfrm>
          <a:prstGeom prst="rect">
            <a:avLst/>
          </a:prstGeom>
          <a:noFill/>
        </p:spPr>
        <p:txBody>
          <a:bodyPr wrap="square">
            <a:spAutoFit/>
          </a:bodyPr>
          <a:lstStyle/>
          <a:p>
            <a:pPr algn="ctr"/>
            <a:r>
              <a:rPr lang="en-US" sz="1600">
                <a:effectLst/>
                <a:latin typeface="Work Sans Medium" pitchFamily="2" charset="77"/>
                <a:ea typeface="Calibri" panose="020F0502020204030204" pitchFamily="34" charset="0"/>
                <a:cs typeface="Arial" panose="020B0604020202020204" pitchFamily="34" charset="0"/>
              </a:rPr>
              <a:t>It’s the </a:t>
            </a:r>
            <a:r>
              <a:rPr lang="en-US" sz="1600" b="1" i="1">
                <a:effectLst/>
                <a:latin typeface="Work Sans Black" pitchFamily="2" charset="77"/>
                <a:ea typeface="Calibri" panose="020F0502020204030204" pitchFamily="34" charset="0"/>
                <a:cs typeface="Arial" panose="020B0604020202020204" pitchFamily="34" charset="0"/>
              </a:rPr>
              <a:t>health of the whole</a:t>
            </a:r>
            <a:r>
              <a:rPr lang="en-US" sz="1600" b="1" i="1">
                <a:latin typeface="Work Sans Medium" pitchFamily="2" charset="77"/>
                <a:ea typeface="Calibri" panose="020F0502020204030204" pitchFamily="34" charset="0"/>
                <a:cs typeface="Arial" panose="020B0604020202020204" pitchFamily="34" charset="0"/>
              </a:rPr>
              <a:t> </a:t>
            </a:r>
            <a:r>
              <a:rPr lang="en-US" sz="1600"/>
              <a:t>— </a:t>
            </a:r>
            <a:r>
              <a:rPr lang="en-US" sz="1600">
                <a:effectLst/>
                <a:latin typeface="Work Sans Medium" pitchFamily="2" charset="77"/>
                <a:ea typeface="Calibri" panose="020F0502020204030204" pitchFamily="34" charset="0"/>
                <a:cs typeface="Arial" panose="020B0604020202020204" pitchFamily="34" charset="0"/>
              </a:rPr>
              <a:t>the coordinated strength across all four channels </a:t>
            </a:r>
            <a:r>
              <a:rPr lang="en-US" sz="1600"/>
              <a:t>—</a:t>
            </a:r>
            <a:r>
              <a:rPr lang="en-US" sz="1600">
                <a:effectLst/>
                <a:latin typeface="Work Sans Medium" pitchFamily="2" charset="77"/>
                <a:ea typeface="Calibri" panose="020F0502020204030204" pitchFamily="34" charset="0"/>
                <a:cs typeface="Arial" panose="020B0604020202020204" pitchFamily="34" charset="0"/>
              </a:rPr>
              <a:t> that determines whether a brand surfaces in AI-generated answers or is overlooked</a:t>
            </a:r>
            <a:r>
              <a:rPr lang="en-US" sz="1600">
                <a:latin typeface="Work Sans Medium" pitchFamily="2" charset="77"/>
                <a:ea typeface="Calibri" panose="020F0502020204030204" pitchFamily="34" charset="0"/>
                <a:cs typeface="Arial" panose="020B0604020202020204" pitchFamily="34" charset="0"/>
              </a:rPr>
              <a:t>.</a:t>
            </a:r>
            <a:endParaRPr lang="en-US" sz="1600"/>
          </a:p>
        </p:txBody>
      </p:sp>
      <p:sp>
        <p:nvSpPr>
          <p:cNvPr id="6" name="TextBox 5">
            <a:extLst>
              <a:ext uri="{FF2B5EF4-FFF2-40B4-BE49-F238E27FC236}">
                <a16:creationId xmlns:a16="http://schemas.microsoft.com/office/drawing/2014/main" id="{1F75225E-90A9-E1C8-A0F8-F3027ADC2AF8}"/>
              </a:ext>
            </a:extLst>
          </p:cNvPr>
          <p:cNvSpPr txBox="1"/>
          <p:nvPr/>
        </p:nvSpPr>
        <p:spPr>
          <a:xfrm>
            <a:off x="145820" y="3296828"/>
            <a:ext cx="2867247" cy="2073453"/>
          </a:xfrm>
          <a:prstGeom prst="rect">
            <a:avLst/>
          </a:prstGeom>
          <a:noFill/>
        </p:spPr>
        <p:txBody>
          <a:bodyPr wrap="square" rtlCol="0">
            <a:spAutoFit/>
          </a:bodyPr>
          <a:lstStyle/>
          <a:p>
            <a:pPr algn="ctr">
              <a:lnSpc>
                <a:spcPct val="110000"/>
              </a:lnSpc>
              <a:spcAft>
                <a:spcPts val="1200"/>
              </a:spcAft>
            </a:pPr>
            <a:br>
              <a:rPr lang="en-US" sz="3200" b="1">
                <a:solidFill>
                  <a:schemeClr val="bg1"/>
                </a:solidFill>
                <a:latin typeface="+mj-lt"/>
              </a:rPr>
            </a:br>
            <a:r>
              <a:rPr lang="en-US" sz="3200" b="1">
                <a:solidFill>
                  <a:schemeClr val="bg1"/>
                </a:solidFill>
                <a:latin typeface="+mj-lt"/>
              </a:rPr>
              <a:t>OWNED</a:t>
            </a:r>
          </a:p>
          <a:p>
            <a:pPr algn="ctr">
              <a:lnSpc>
                <a:spcPct val="110000"/>
              </a:lnSpc>
              <a:spcAft>
                <a:spcPts val="1200"/>
              </a:spcAft>
            </a:pPr>
            <a:r>
              <a:rPr lang="en-US" b="1">
                <a:solidFill>
                  <a:schemeClr val="bg1"/>
                </a:solidFill>
                <a:latin typeface="+mj-lt"/>
              </a:rPr>
              <a:t>Truth Anchor</a:t>
            </a:r>
          </a:p>
          <a:p>
            <a:pPr algn="ctr">
              <a:lnSpc>
                <a:spcPct val="110000"/>
              </a:lnSpc>
              <a:spcAft>
                <a:spcPts val="1200"/>
              </a:spcAft>
            </a:pPr>
            <a:endParaRPr lang="en-US">
              <a:solidFill>
                <a:schemeClr val="bg1"/>
              </a:solidFill>
              <a:latin typeface="+mj-lt"/>
            </a:endParaRPr>
          </a:p>
        </p:txBody>
      </p:sp>
      <p:sp>
        <p:nvSpPr>
          <p:cNvPr id="28" name="Text Placeholder 5">
            <a:extLst>
              <a:ext uri="{FF2B5EF4-FFF2-40B4-BE49-F238E27FC236}">
                <a16:creationId xmlns:a16="http://schemas.microsoft.com/office/drawing/2014/main" id="{301E5E88-A1C2-39F5-F9C0-EE3DCDE7EB4C}"/>
              </a:ext>
            </a:extLst>
          </p:cNvPr>
          <p:cNvSpPr txBox="1">
            <a:spLocks/>
          </p:cNvSpPr>
          <p:nvPr/>
        </p:nvSpPr>
        <p:spPr>
          <a:xfrm>
            <a:off x="9192071" y="3296827"/>
            <a:ext cx="2867247" cy="2154850"/>
          </a:xfrm>
          <a:prstGeom prst="rect">
            <a:avLst/>
          </a:prstGeom>
          <a:solidFill>
            <a:schemeClr val="accent5">
              <a:lumMod val="50000"/>
            </a:schemeClr>
          </a:solidFill>
        </p:spPr>
        <p:txBody>
          <a:bodyPr vert="horz" lIns="91440" tIns="45720" rIns="548640" bIns="91440" rtlCol="0" anchor="ctr">
            <a:noAutofit/>
          </a:bodyPr>
          <a:lstStyle>
            <a:lvl1pPr marL="228600" indent="-22860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spcAft>
                <a:spcPts val="1200"/>
              </a:spcAft>
            </a:pPr>
            <a:endParaRPr lang="en-US" sz="2000">
              <a:solidFill>
                <a:schemeClr val="bg1"/>
              </a:solidFill>
            </a:endParaRPr>
          </a:p>
        </p:txBody>
      </p:sp>
      <p:sp>
        <p:nvSpPr>
          <p:cNvPr id="8" name="TextBox 7">
            <a:extLst>
              <a:ext uri="{FF2B5EF4-FFF2-40B4-BE49-F238E27FC236}">
                <a16:creationId xmlns:a16="http://schemas.microsoft.com/office/drawing/2014/main" id="{B1F275F3-AFA9-0ED3-1611-AD2F31A7ADCF}"/>
              </a:ext>
            </a:extLst>
          </p:cNvPr>
          <p:cNvSpPr txBox="1"/>
          <p:nvPr/>
        </p:nvSpPr>
        <p:spPr>
          <a:xfrm>
            <a:off x="3159526" y="3296827"/>
            <a:ext cx="2857532" cy="2073516"/>
          </a:xfrm>
          <a:prstGeom prst="rect">
            <a:avLst/>
          </a:prstGeom>
          <a:noFill/>
        </p:spPr>
        <p:txBody>
          <a:bodyPr wrap="square" rtlCol="0">
            <a:spAutoFit/>
          </a:bodyPr>
          <a:lstStyle/>
          <a:p>
            <a:pPr algn="ctr">
              <a:lnSpc>
                <a:spcPct val="110000"/>
              </a:lnSpc>
              <a:spcAft>
                <a:spcPts val="1200"/>
              </a:spcAft>
            </a:pPr>
            <a:br>
              <a:rPr lang="en-US" sz="3200" b="1">
                <a:solidFill>
                  <a:schemeClr val="bg1"/>
                </a:solidFill>
                <a:latin typeface="+mj-lt"/>
              </a:rPr>
            </a:br>
            <a:r>
              <a:rPr lang="en-US" sz="3200" b="1">
                <a:solidFill>
                  <a:schemeClr val="bg1"/>
                </a:solidFill>
                <a:latin typeface="+mj-lt"/>
              </a:rPr>
              <a:t>EARNED</a:t>
            </a:r>
          </a:p>
          <a:p>
            <a:pPr algn="ctr">
              <a:lnSpc>
                <a:spcPct val="110000"/>
              </a:lnSpc>
              <a:spcAft>
                <a:spcPts val="1200"/>
              </a:spcAft>
            </a:pPr>
            <a:r>
              <a:rPr lang="en-US" b="1">
                <a:solidFill>
                  <a:schemeClr val="bg1"/>
                </a:solidFill>
                <a:latin typeface="+mj-lt"/>
              </a:rPr>
              <a:t>Signals of Trust</a:t>
            </a:r>
          </a:p>
          <a:p>
            <a:pPr algn="ctr">
              <a:lnSpc>
                <a:spcPct val="110000"/>
              </a:lnSpc>
              <a:spcAft>
                <a:spcPts val="1200"/>
              </a:spcAft>
            </a:pPr>
            <a:endParaRPr lang="en-US" b="1">
              <a:solidFill>
                <a:schemeClr val="bg1"/>
              </a:solidFill>
              <a:latin typeface="+mj-lt"/>
            </a:endParaRPr>
          </a:p>
        </p:txBody>
      </p:sp>
      <p:sp>
        <p:nvSpPr>
          <p:cNvPr id="9" name="TextBox 8">
            <a:extLst>
              <a:ext uri="{FF2B5EF4-FFF2-40B4-BE49-F238E27FC236}">
                <a16:creationId xmlns:a16="http://schemas.microsoft.com/office/drawing/2014/main" id="{B59DD089-78D1-D1E1-82FD-84FAAC701A47}"/>
              </a:ext>
            </a:extLst>
          </p:cNvPr>
          <p:cNvSpPr txBox="1"/>
          <p:nvPr/>
        </p:nvSpPr>
        <p:spPr>
          <a:xfrm>
            <a:off x="6163517" y="3296827"/>
            <a:ext cx="2867247" cy="2073516"/>
          </a:xfrm>
          <a:prstGeom prst="rect">
            <a:avLst/>
          </a:prstGeom>
          <a:noFill/>
        </p:spPr>
        <p:txBody>
          <a:bodyPr wrap="square" rtlCol="0">
            <a:spAutoFit/>
          </a:bodyPr>
          <a:lstStyle/>
          <a:p>
            <a:pPr algn="ctr">
              <a:lnSpc>
                <a:spcPct val="110000"/>
              </a:lnSpc>
              <a:spcAft>
                <a:spcPts val="1200"/>
              </a:spcAft>
            </a:pPr>
            <a:br>
              <a:rPr lang="en-US" sz="3200" b="1">
                <a:solidFill>
                  <a:schemeClr val="bg1"/>
                </a:solidFill>
                <a:latin typeface="+mj-lt"/>
              </a:rPr>
            </a:br>
            <a:r>
              <a:rPr lang="en-US" sz="3200" b="1">
                <a:solidFill>
                  <a:schemeClr val="bg1"/>
                </a:solidFill>
                <a:latin typeface="+mj-lt"/>
              </a:rPr>
              <a:t>SHARED</a:t>
            </a:r>
          </a:p>
          <a:p>
            <a:pPr algn="ctr">
              <a:lnSpc>
                <a:spcPct val="110000"/>
              </a:lnSpc>
              <a:spcAft>
                <a:spcPts val="1200"/>
              </a:spcAft>
            </a:pPr>
            <a:r>
              <a:rPr lang="en-US" b="1">
                <a:solidFill>
                  <a:schemeClr val="bg1"/>
                </a:solidFill>
                <a:latin typeface="+mj-lt"/>
              </a:rPr>
              <a:t>Community Proof</a:t>
            </a:r>
          </a:p>
          <a:p>
            <a:pPr algn="ctr">
              <a:lnSpc>
                <a:spcPct val="110000"/>
              </a:lnSpc>
              <a:spcAft>
                <a:spcPts val="1200"/>
              </a:spcAft>
            </a:pPr>
            <a:endParaRPr lang="en-US" b="1">
              <a:solidFill>
                <a:schemeClr val="bg1"/>
              </a:solidFill>
              <a:latin typeface="+mj-lt"/>
            </a:endParaRPr>
          </a:p>
        </p:txBody>
      </p:sp>
      <p:sp>
        <p:nvSpPr>
          <p:cNvPr id="10" name="TextBox 9">
            <a:extLst>
              <a:ext uri="{FF2B5EF4-FFF2-40B4-BE49-F238E27FC236}">
                <a16:creationId xmlns:a16="http://schemas.microsoft.com/office/drawing/2014/main" id="{946ED568-D45F-0F13-2ECA-88FA1C64BF02}"/>
              </a:ext>
            </a:extLst>
          </p:cNvPr>
          <p:cNvSpPr txBox="1"/>
          <p:nvPr/>
        </p:nvSpPr>
        <p:spPr>
          <a:xfrm>
            <a:off x="9192071" y="3296826"/>
            <a:ext cx="2867247" cy="2073453"/>
          </a:xfrm>
          <a:prstGeom prst="rect">
            <a:avLst/>
          </a:prstGeom>
          <a:noFill/>
        </p:spPr>
        <p:txBody>
          <a:bodyPr wrap="square" rtlCol="0">
            <a:spAutoFit/>
          </a:bodyPr>
          <a:lstStyle/>
          <a:p>
            <a:pPr algn="ctr">
              <a:lnSpc>
                <a:spcPct val="110000"/>
              </a:lnSpc>
              <a:spcAft>
                <a:spcPts val="1200"/>
              </a:spcAft>
            </a:pPr>
            <a:br>
              <a:rPr lang="en-US" sz="3200" b="1">
                <a:solidFill>
                  <a:schemeClr val="bg1"/>
                </a:solidFill>
                <a:latin typeface="+mj-lt"/>
              </a:rPr>
            </a:br>
            <a:r>
              <a:rPr lang="en-US" sz="3200" b="1">
                <a:solidFill>
                  <a:schemeClr val="bg1"/>
                </a:solidFill>
                <a:latin typeface="+mj-lt"/>
              </a:rPr>
              <a:t>PAID</a:t>
            </a:r>
          </a:p>
          <a:p>
            <a:pPr algn="ctr">
              <a:lnSpc>
                <a:spcPct val="110000"/>
              </a:lnSpc>
              <a:spcAft>
                <a:spcPts val="1200"/>
              </a:spcAft>
            </a:pPr>
            <a:r>
              <a:rPr lang="en-US" b="1">
                <a:solidFill>
                  <a:schemeClr val="bg1"/>
                </a:solidFill>
                <a:latin typeface="+mj-lt"/>
              </a:rPr>
              <a:t>The Amplifier</a:t>
            </a:r>
          </a:p>
          <a:p>
            <a:pPr algn="ctr">
              <a:lnSpc>
                <a:spcPct val="110000"/>
              </a:lnSpc>
              <a:spcAft>
                <a:spcPts val="1200"/>
              </a:spcAft>
            </a:pPr>
            <a:endParaRPr lang="en-US">
              <a:solidFill>
                <a:schemeClr val="bg1"/>
              </a:solidFill>
              <a:latin typeface="+mj-lt"/>
            </a:endParaRPr>
          </a:p>
        </p:txBody>
      </p:sp>
    </p:spTree>
    <p:extLst>
      <p:ext uri="{BB962C8B-B14F-4D97-AF65-F5344CB8AC3E}">
        <p14:creationId xmlns:p14="http://schemas.microsoft.com/office/powerpoint/2010/main" val="3313290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30CC940-1E14-0112-9AFF-881D2DD6347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5E2B5B-8396-9BDA-6E62-71A6745E4125}"/>
              </a:ext>
            </a:extLst>
          </p:cNvPr>
          <p:cNvSpPr>
            <a:spLocks noGrp="1"/>
          </p:cNvSpPr>
          <p:nvPr>
            <p:ph type="sldNum" sz="quarter" idx="12"/>
          </p:nvPr>
        </p:nvSpPr>
        <p:spPr/>
        <p:txBody>
          <a:bodyPr/>
          <a:lstStyle/>
          <a:p>
            <a:fld id="{6D05E8BB-FF85-4620-9298-8F3F48811131}" type="slidenum">
              <a:rPr lang="en-US" smtClean="0">
                <a:solidFill>
                  <a:schemeClr val="bg1"/>
                </a:solidFill>
              </a:rPr>
              <a:t>29</a:t>
            </a:fld>
            <a:endParaRPr lang="en-US">
              <a:solidFill>
                <a:schemeClr val="bg1"/>
              </a:solidFill>
            </a:endParaRPr>
          </a:p>
        </p:txBody>
      </p:sp>
      <p:sp>
        <p:nvSpPr>
          <p:cNvPr id="7" name="TextBox 6">
            <a:extLst>
              <a:ext uri="{FF2B5EF4-FFF2-40B4-BE49-F238E27FC236}">
                <a16:creationId xmlns:a16="http://schemas.microsoft.com/office/drawing/2014/main" id="{F01234F9-389A-85C7-E628-07DC865E0BCB}"/>
              </a:ext>
            </a:extLst>
          </p:cNvPr>
          <p:cNvSpPr txBox="1"/>
          <p:nvPr/>
        </p:nvSpPr>
        <p:spPr>
          <a:xfrm>
            <a:off x="0" y="2828835"/>
            <a:ext cx="12192000" cy="1200329"/>
          </a:xfrm>
          <a:prstGeom prst="rect">
            <a:avLst/>
          </a:prstGeom>
          <a:noFill/>
        </p:spPr>
        <p:txBody>
          <a:bodyPr wrap="square">
            <a:spAutoFit/>
          </a:bodyPr>
          <a:lstStyle/>
          <a:p>
            <a:pPr algn="ctr"/>
            <a:r>
              <a:rPr lang="en-US" sz="7200">
                <a:solidFill>
                  <a:schemeClr val="bg1"/>
                </a:solidFill>
                <a:latin typeface="+mj-lt"/>
              </a:rPr>
              <a:t>WHAT TO DO</a:t>
            </a:r>
          </a:p>
        </p:txBody>
      </p:sp>
    </p:spTree>
    <p:extLst>
      <p:ext uri="{BB962C8B-B14F-4D97-AF65-F5344CB8AC3E}">
        <p14:creationId xmlns:p14="http://schemas.microsoft.com/office/powerpoint/2010/main" val="4022611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63A36-1F3E-6475-01C8-44D18AC3E9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056FE2A-7E53-2D95-F802-BD26B33313AC}"/>
              </a:ext>
            </a:extLst>
          </p:cNvPr>
          <p:cNvSpPr>
            <a:spLocks noGrp="1"/>
          </p:cNvSpPr>
          <p:nvPr>
            <p:ph type="title"/>
          </p:nvPr>
        </p:nvSpPr>
        <p:spPr>
          <a:xfrm>
            <a:off x="219456" y="585216"/>
            <a:ext cx="11652250" cy="832104"/>
          </a:xfrm>
        </p:spPr>
        <p:txBody>
          <a:bodyPr/>
          <a:lstStyle/>
          <a:p>
            <a:r>
              <a:rPr lang="en-US"/>
              <a:t>“AI VISIBILITY” — WHAT IS IT?</a:t>
            </a:r>
          </a:p>
        </p:txBody>
      </p:sp>
      <p:sp>
        <p:nvSpPr>
          <p:cNvPr id="2" name="Slide Number Placeholder 1">
            <a:extLst>
              <a:ext uri="{FF2B5EF4-FFF2-40B4-BE49-F238E27FC236}">
                <a16:creationId xmlns:a16="http://schemas.microsoft.com/office/drawing/2014/main" id="{7505D249-54F6-1CA9-24BE-11CE1662965F}"/>
              </a:ext>
            </a:extLst>
          </p:cNvPr>
          <p:cNvSpPr>
            <a:spLocks noGrp="1"/>
          </p:cNvSpPr>
          <p:nvPr>
            <p:ph type="sldNum" sz="quarter" idx="12"/>
          </p:nvPr>
        </p:nvSpPr>
        <p:spPr/>
        <p:txBody>
          <a:bodyPr/>
          <a:lstStyle/>
          <a:p>
            <a:fld id="{6D05E8BB-FF85-4620-9298-8F3F48811131}" type="slidenum">
              <a:rPr lang="en-US" smtClean="0"/>
              <a:t>30</a:t>
            </a:fld>
            <a:endParaRPr lang="en-US"/>
          </a:p>
        </p:txBody>
      </p:sp>
      <p:sp>
        <p:nvSpPr>
          <p:cNvPr id="7" name="Text Placeholder 6">
            <a:extLst>
              <a:ext uri="{FF2B5EF4-FFF2-40B4-BE49-F238E27FC236}">
                <a16:creationId xmlns:a16="http://schemas.microsoft.com/office/drawing/2014/main" id="{824266D0-42F9-E639-6135-35A9151B96B3}"/>
              </a:ext>
            </a:extLst>
          </p:cNvPr>
          <p:cNvSpPr>
            <a:spLocks noGrp="1"/>
          </p:cNvSpPr>
          <p:nvPr>
            <p:ph type="body" sz="quarter" idx="13"/>
          </p:nvPr>
        </p:nvSpPr>
        <p:spPr/>
        <p:txBody>
          <a:bodyPr/>
          <a:lstStyle/>
          <a:p>
            <a:r>
              <a:rPr lang="en-US"/>
              <a:t>HOW AI IS RESHAPING SEARCH STRATEGY</a:t>
            </a:r>
          </a:p>
        </p:txBody>
      </p:sp>
      <p:sp>
        <p:nvSpPr>
          <p:cNvPr id="8" name="Text Placeholder 7">
            <a:extLst>
              <a:ext uri="{FF2B5EF4-FFF2-40B4-BE49-F238E27FC236}">
                <a16:creationId xmlns:a16="http://schemas.microsoft.com/office/drawing/2014/main" id="{2C7618CE-49EE-815F-2720-7BE7F461E2B0}"/>
              </a:ext>
            </a:extLst>
          </p:cNvPr>
          <p:cNvSpPr>
            <a:spLocks noGrp="1"/>
          </p:cNvSpPr>
          <p:nvPr>
            <p:ph type="body" sz="quarter" idx="14"/>
          </p:nvPr>
        </p:nvSpPr>
        <p:spPr>
          <a:xfrm>
            <a:off x="0" y="1784098"/>
            <a:ext cx="12192000" cy="387750"/>
          </a:xfrm>
        </p:spPr>
        <p:txBody>
          <a:bodyPr/>
          <a:lstStyle/>
          <a:p>
            <a:pPr marL="0" indent="0" algn="ctr">
              <a:spcAft>
                <a:spcPts val="1200"/>
              </a:spcAft>
              <a:buNone/>
            </a:pPr>
            <a:r>
              <a:rPr lang="en-US" sz="1800" b="1"/>
              <a:t>Based on answering a seemingly simple core question:</a:t>
            </a:r>
          </a:p>
        </p:txBody>
      </p:sp>
      <p:sp>
        <p:nvSpPr>
          <p:cNvPr id="3" name="Text Placeholder 7">
            <a:extLst>
              <a:ext uri="{FF2B5EF4-FFF2-40B4-BE49-F238E27FC236}">
                <a16:creationId xmlns:a16="http://schemas.microsoft.com/office/drawing/2014/main" id="{135E60A4-86E4-EA91-2A92-B4820B87CB41}"/>
              </a:ext>
            </a:extLst>
          </p:cNvPr>
          <p:cNvSpPr txBox="1">
            <a:spLocks/>
          </p:cNvSpPr>
          <p:nvPr/>
        </p:nvSpPr>
        <p:spPr>
          <a:xfrm>
            <a:off x="1424065" y="2299749"/>
            <a:ext cx="8844197" cy="1218591"/>
          </a:xfrm>
          <a:prstGeom prst="rect">
            <a:avLst/>
          </a:prstGeom>
          <a:solidFill>
            <a:schemeClr val="accent1"/>
          </a:solidFill>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3200" b="1" dirty="0">
                <a:solidFill>
                  <a:schemeClr val="bg1"/>
                </a:solidFill>
              </a:rPr>
              <a:t>How is our brand showing up in AI answers to customer questions?  </a:t>
            </a:r>
          </a:p>
        </p:txBody>
      </p:sp>
      <p:sp>
        <p:nvSpPr>
          <p:cNvPr id="4" name="Text Placeholder 7">
            <a:extLst>
              <a:ext uri="{FF2B5EF4-FFF2-40B4-BE49-F238E27FC236}">
                <a16:creationId xmlns:a16="http://schemas.microsoft.com/office/drawing/2014/main" id="{C5A33A11-F35F-2B87-A1AC-2E6C02E35337}"/>
              </a:ext>
            </a:extLst>
          </p:cNvPr>
          <p:cNvSpPr txBox="1">
            <a:spLocks/>
          </p:cNvSpPr>
          <p:nvPr/>
        </p:nvSpPr>
        <p:spPr>
          <a:xfrm>
            <a:off x="0" y="3993897"/>
            <a:ext cx="12192000" cy="541325"/>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1800" b="1"/>
              <a:t>Followed by a series of questions with not-so-simple answers:</a:t>
            </a:r>
          </a:p>
        </p:txBody>
      </p:sp>
      <p:sp>
        <p:nvSpPr>
          <p:cNvPr id="5" name="Text Placeholder 7">
            <a:extLst>
              <a:ext uri="{FF2B5EF4-FFF2-40B4-BE49-F238E27FC236}">
                <a16:creationId xmlns:a16="http://schemas.microsoft.com/office/drawing/2014/main" id="{C59EFB3A-FE9D-72C7-BE09-AC70F6A6B609}"/>
              </a:ext>
            </a:extLst>
          </p:cNvPr>
          <p:cNvSpPr txBox="1">
            <a:spLocks/>
          </p:cNvSpPr>
          <p:nvPr/>
        </p:nvSpPr>
        <p:spPr>
          <a:xfrm>
            <a:off x="8072880" y="4574985"/>
            <a:ext cx="3383280" cy="914400"/>
          </a:xfrm>
          <a:prstGeom prst="rect">
            <a:avLst/>
          </a:prstGeom>
          <a:solidFill>
            <a:schemeClr val="accent2"/>
          </a:solidFill>
        </p:spPr>
        <p:txBody>
          <a:bodyPr vert="horz" lIns="91440" tIns="45720" rIns="91440" bIns="45720" rtlCol="0" anchor="ctr"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1900" b="1"/>
              <a:t>If not us, who is mentioned? What is cited?</a:t>
            </a:r>
          </a:p>
        </p:txBody>
      </p:sp>
      <p:sp>
        <p:nvSpPr>
          <p:cNvPr id="10" name="Text Placeholder 7">
            <a:extLst>
              <a:ext uri="{FF2B5EF4-FFF2-40B4-BE49-F238E27FC236}">
                <a16:creationId xmlns:a16="http://schemas.microsoft.com/office/drawing/2014/main" id="{0DB4F720-7C24-611B-AE50-FCFBDE5EA162}"/>
              </a:ext>
            </a:extLst>
          </p:cNvPr>
          <p:cNvSpPr txBox="1">
            <a:spLocks/>
          </p:cNvSpPr>
          <p:nvPr/>
        </p:nvSpPr>
        <p:spPr>
          <a:xfrm>
            <a:off x="2424371" y="5747472"/>
            <a:ext cx="3383280" cy="914400"/>
          </a:xfrm>
          <a:prstGeom prst="rect">
            <a:avLst/>
          </a:prstGeom>
          <a:solidFill>
            <a:schemeClr val="accent2"/>
          </a:solidFill>
        </p:spPr>
        <p:txBody>
          <a:bodyPr vert="horz" lIns="91440" tIns="45720" rIns="91440" bIns="45720" rtlCol="0" anchor="ctr"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1900" b="1"/>
              <a:t>How can we make </a:t>
            </a:r>
            <a:br>
              <a:rPr lang="en-US" sz="1900" b="1"/>
            </a:br>
            <a:r>
              <a:rPr lang="en-US" sz="1900" b="1"/>
              <a:t>an impact?</a:t>
            </a:r>
          </a:p>
        </p:txBody>
      </p:sp>
      <p:sp>
        <p:nvSpPr>
          <p:cNvPr id="11" name="Text Placeholder 7">
            <a:extLst>
              <a:ext uri="{FF2B5EF4-FFF2-40B4-BE49-F238E27FC236}">
                <a16:creationId xmlns:a16="http://schemas.microsoft.com/office/drawing/2014/main" id="{F0418545-C9A8-5C94-05BD-8046600BD143}"/>
              </a:ext>
            </a:extLst>
          </p:cNvPr>
          <p:cNvSpPr txBox="1">
            <a:spLocks/>
          </p:cNvSpPr>
          <p:nvPr/>
        </p:nvSpPr>
        <p:spPr>
          <a:xfrm>
            <a:off x="4412270" y="4582119"/>
            <a:ext cx="3380170" cy="914400"/>
          </a:xfrm>
          <a:prstGeom prst="rect">
            <a:avLst/>
          </a:prstGeom>
          <a:solidFill>
            <a:schemeClr val="accent2"/>
          </a:solidFill>
        </p:spPr>
        <p:txBody>
          <a:bodyPr vert="horz" lIns="91440" tIns="45720" rIns="91440" bIns="45720" rtlCol="0" anchor="ctr"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900" b="1"/>
              <a:t>What websites is it citing?  (hopefully, ours)</a:t>
            </a:r>
          </a:p>
        </p:txBody>
      </p:sp>
      <p:sp>
        <p:nvSpPr>
          <p:cNvPr id="12" name="Text Placeholder 7">
            <a:extLst>
              <a:ext uri="{FF2B5EF4-FFF2-40B4-BE49-F238E27FC236}">
                <a16:creationId xmlns:a16="http://schemas.microsoft.com/office/drawing/2014/main" id="{A2842710-7C13-2B3F-D821-AE6B2A0FA465}"/>
              </a:ext>
            </a:extLst>
          </p:cNvPr>
          <p:cNvSpPr txBox="1">
            <a:spLocks/>
          </p:cNvSpPr>
          <p:nvPr/>
        </p:nvSpPr>
        <p:spPr>
          <a:xfrm>
            <a:off x="735840" y="4582119"/>
            <a:ext cx="3380171" cy="914400"/>
          </a:xfrm>
          <a:prstGeom prst="rect">
            <a:avLst/>
          </a:prstGeom>
          <a:solidFill>
            <a:schemeClr val="accent2"/>
          </a:solidFill>
        </p:spPr>
        <p:txBody>
          <a:bodyPr vert="horz" lIns="91440" tIns="45720" rIns="91440" bIns="45720" rtlCol="0" anchor="ctr"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1900" b="1"/>
              <a:t>If it’s appearing, </a:t>
            </a:r>
            <a:br>
              <a:rPr lang="en-US" sz="1900" b="1"/>
            </a:br>
            <a:r>
              <a:rPr lang="en-US" sz="1900" b="1"/>
              <a:t>what's it saying?  </a:t>
            </a:r>
          </a:p>
        </p:txBody>
      </p:sp>
      <p:sp>
        <p:nvSpPr>
          <p:cNvPr id="13" name="Text Placeholder 7">
            <a:extLst>
              <a:ext uri="{FF2B5EF4-FFF2-40B4-BE49-F238E27FC236}">
                <a16:creationId xmlns:a16="http://schemas.microsoft.com/office/drawing/2014/main" id="{E234DE37-57A4-BB7A-6153-2D6F5E818CA5}"/>
              </a:ext>
            </a:extLst>
          </p:cNvPr>
          <p:cNvSpPr txBox="1">
            <a:spLocks/>
          </p:cNvSpPr>
          <p:nvPr/>
        </p:nvSpPr>
        <p:spPr>
          <a:xfrm>
            <a:off x="6381240" y="5747472"/>
            <a:ext cx="3383280" cy="914400"/>
          </a:xfrm>
          <a:prstGeom prst="rect">
            <a:avLst/>
          </a:prstGeom>
          <a:solidFill>
            <a:schemeClr val="accent2"/>
          </a:solidFill>
        </p:spPr>
        <p:txBody>
          <a:bodyPr vert="horz" lIns="91440" tIns="45720" rIns="91440" bIns="45720" rtlCol="0" anchor="ctr"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200"/>
              </a:spcAft>
              <a:buFont typeface="Arial" panose="020B0604020202020204" pitchFamily="34" charset="0"/>
              <a:buNone/>
            </a:pPr>
            <a:r>
              <a:rPr lang="en-US" sz="1900" b="1"/>
              <a:t>Where do we begin? </a:t>
            </a:r>
          </a:p>
        </p:txBody>
      </p:sp>
    </p:spTree>
    <p:extLst>
      <p:ext uri="{BB962C8B-B14F-4D97-AF65-F5344CB8AC3E}">
        <p14:creationId xmlns:p14="http://schemas.microsoft.com/office/powerpoint/2010/main" val="242620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3" grpId="0" animBg="1"/>
      <p:bldP spid="4" grpId="0"/>
      <p:bldP spid="5" grpId="0" animBg="1"/>
      <p:bldP spid="10" grpId="0" animBg="1"/>
      <p:bldP spid="11" grpId="0" animBg="1"/>
      <p:bldP spid="12" grpId="0" animBg="1"/>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95CE6-E5F7-B25A-7124-F588C3EB270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2CC5852-49EB-8A47-423D-1DF185E595CA}"/>
              </a:ext>
            </a:extLst>
          </p:cNvPr>
          <p:cNvSpPr>
            <a:spLocks noGrp="1"/>
          </p:cNvSpPr>
          <p:nvPr>
            <p:ph type="title"/>
          </p:nvPr>
        </p:nvSpPr>
        <p:spPr>
          <a:xfrm>
            <a:off x="219456" y="329184"/>
            <a:ext cx="5876544" cy="1949321"/>
          </a:xfrm>
        </p:spPr>
        <p:txBody>
          <a:bodyPr/>
          <a:lstStyle/>
          <a:p>
            <a:pPr>
              <a:spcBef>
                <a:spcPts val="1200"/>
              </a:spcBef>
              <a:spcAft>
                <a:spcPts val="2400"/>
              </a:spcAft>
            </a:pPr>
            <a:r>
              <a:rPr lang="en-US" sz="4800">
                <a:solidFill>
                  <a:schemeClr val="tx1"/>
                </a:solidFill>
              </a:rPr>
              <a:t>WHERE TO START:</a:t>
            </a:r>
            <a:br>
              <a:rPr lang="en-US" sz="4800">
                <a:solidFill>
                  <a:schemeClr val="tx1"/>
                </a:solidFill>
              </a:rPr>
            </a:br>
            <a:r>
              <a:rPr lang="en-US"/>
              <a:t>AI VISIBILITY AUDIT</a:t>
            </a:r>
          </a:p>
        </p:txBody>
      </p:sp>
      <p:sp>
        <p:nvSpPr>
          <p:cNvPr id="3" name="Slide Number Placeholder 2">
            <a:extLst>
              <a:ext uri="{FF2B5EF4-FFF2-40B4-BE49-F238E27FC236}">
                <a16:creationId xmlns:a16="http://schemas.microsoft.com/office/drawing/2014/main" id="{092E7C58-1244-D822-F384-985614E2C5B3}"/>
              </a:ext>
            </a:extLst>
          </p:cNvPr>
          <p:cNvSpPr>
            <a:spLocks noGrp="1"/>
          </p:cNvSpPr>
          <p:nvPr>
            <p:ph type="sldNum" sz="quarter" idx="12"/>
          </p:nvPr>
        </p:nvSpPr>
        <p:spPr/>
        <p:txBody>
          <a:bodyPr/>
          <a:lstStyle/>
          <a:p>
            <a:fld id="{6D05E8BB-FF85-4620-9298-8F3F48811131}" type="slidenum">
              <a:rPr lang="en-US" smtClean="0"/>
              <a:t>31</a:t>
            </a:fld>
            <a:endParaRPr lang="en-US"/>
          </a:p>
        </p:txBody>
      </p:sp>
      <p:sp>
        <p:nvSpPr>
          <p:cNvPr id="16" name="TextBox 15">
            <a:extLst>
              <a:ext uri="{FF2B5EF4-FFF2-40B4-BE49-F238E27FC236}">
                <a16:creationId xmlns:a16="http://schemas.microsoft.com/office/drawing/2014/main" id="{E6172976-0DAE-F10F-6E4B-F6A276B83C5D}"/>
              </a:ext>
            </a:extLst>
          </p:cNvPr>
          <p:cNvSpPr txBox="1"/>
          <p:nvPr/>
        </p:nvSpPr>
        <p:spPr>
          <a:xfrm>
            <a:off x="7675718" y="611293"/>
            <a:ext cx="3735994" cy="4382502"/>
          </a:xfrm>
          <a:prstGeom prst="rect">
            <a:avLst/>
          </a:prstGeom>
          <a:noFill/>
        </p:spPr>
        <p:txBody>
          <a:bodyPr wrap="square" lIns="91440" tIns="45720" rIns="91440" bIns="45720" rtlCol="0" anchor="t" anchorCtr="0">
            <a:noAutofit/>
          </a:bodyPr>
          <a:lstStyle/>
          <a:p>
            <a:pPr algn="ctr">
              <a:spcAft>
                <a:spcPts val="1200"/>
              </a:spcAft>
              <a:buClr>
                <a:schemeClr val="bg1"/>
              </a:buClr>
            </a:pPr>
            <a:r>
              <a:rPr lang="en-US" sz="2000" b="1" dirty="0">
                <a:solidFill>
                  <a:schemeClr val="accent1"/>
                </a:solidFill>
              </a:rPr>
              <a:t>Comprehensive Audit </a:t>
            </a:r>
          </a:p>
          <a:p>
            <a:pPr algn="ctr">
              <a:spcAft>
                <a:spcPts val="1200"/>
              </a:spcAft>
              <a:buClr>
                <a:schemeClr val="bg1"/>
              </a:buClr>
            </a:pPr>
            <a:r>
              <a:rPr lang="en-US" sz="1600" b="1" dirty="0"/>
              <a:t>Reveals how your brand appears in AI-generated responses to customer questions</a:t>
            </a:r>
            <a:endParaRPr lang="en-US" sz="900" dirty="0"/>
          </a:p>
          <a:p>
            <a:pPr lvl="0" algn="ctr">
              <a:spcAft>
                <a:spcPts val="1200"/>
              </a:spcAft>
              <a:buClr>
                <a:schemeClr val="bg1"/>
              </a:buClr>
            </a:pPr>
            <a:endParaRPr lang="en-US" sz="600" b="1" dirty="0">
              <a:solidFill>
                <a:schemeClr val="accent1"/>
              </a:solidFill>
            </a:endParaRPr>
          </a:p>
          <a:p>
            <a:pPr lvl="0" algn="ctr">
              <a:spcAft>
                <a:spcPts val="1200"/>
              </a:spcAft>
              <a:buClr>
                <a:schemeClr val="bg1"/>
              </a:buClr>
            </a:pPr>
            <a:r>
              <a:rPr lang="en-US" b="1" dirty="0">
                <a:solidFill>
                  <a:schemeClr val="accent1"/>
                </a:solidFill>
              </a:rPr>
              <a:t>AI Models</a:t>
            </a:r>
            <a:endParaRPr lang="en-US" sz="2000" dirty="0">
              <a:solidFill>
                <a:schemeClr val="accent1"/>
              </a:solidFill>
            </a:endParaRPr>
          </a:p>
          <a:p>
            <a:pPr lvl="0" algn="ctr">
              <a:spcAft>
                <a:spcPts val="1200"/>
              </a:spcAft>
              <a:buClr>
                <a:schemeClr val="bg1"/>
              </a:buClr>
            </a:pPr>
            <a:endParaRPr lang="en-US" sz="600" dirty="0"/>
          </a:p>
          <a:p>
            <a:pPr lvl="0" algn="ctr">
              <a:spcAft>
                <a:spcPts val="1200"/>
              </a:spcAft>
              <a:buClr>
                <a:schemeClr val="bg1"/>
              </a:buClr>
            </a:pPr>
            <a:endParaRPr lang="en-US" sz="1400" b="1" dirty="0"/>
          </a:p>
          <a:p>
            <a:pPr lvl="0" algn="ctr">
              <a:spcAft>
                <a:spcPts val="1200"/>
              </a:spcAft>
              <a:buClr>
                <a:schemeClr val="bg1"/>
              </a:buClr>
            </a:pPr>
            <a:endParaRPr lang="en-US" sz="1400" b="1" dirty="0"/>
          </a:p>
          <a:p>
            <a:pPr lvl="0" algn="ctr">
              <a:buClr>
                <a:schemeClr val="bg1"/>
              </a:buClr>
            </a:pPr>
            <a:endParaRPr lang="en-US" sz="1400" b="1" dirty="0"/>
          </a:p>
          <a:p>
            <a:pPr lvl="0" algn="ctr">
              <a:buClr>
                <a:schemeClr val="bg1"/>
              </a:buClr>
            </a:pPr>
            <a:endParaRPr lang="en-US" b="1" dirty="0">
              <a:solidFill>
                <a:schemeClr val="accent1"/>
              </a:solidFill>
            </a:endParaRPr>
          </a:p>
          <a:p>
            <a:pPr lvl="0" algn="ctr">
              <a:buClr>
                <a:schemeClr val="bg1"/>
              </a:buClr>
            </a:pPr>
            <a:endParaRPr lang="en-US" b="1" dirty="0">
              <a:solidFill>
                <a:schemeClr val="accent1"/>
              </a:solidFill>
            </a:endParaRPr>
          </a:p>
          <a:p>
            <a:pPr lvl="0" algn="ctr">
              <a:buClr>
                <a:schemeClr val="bg1"/>
              </a:buClr>
            </a:pPr>
            <a:endParaRPr lang="en-US" b="1" dirty="0">
              <a:solidFill>
                <a:schemeClr val="accent1"/>
              </a:solidFill>
            </a:endParaRPr>
          </a:p>
          <a:p>
            <a:pPr lvl="0" algn="ctr">
              <a:buClr>
                <a:schemeClr val="bg1"/>
              </a:buClr>
            </a:pPr>
            <a:r>
              <a:rPr lang="en-US" b="1" dirty="0">
                <a:solidFill>
                  <a:schemeClr val="accent1"/>
                </a:solidFill>
              </a:rPr>
              <a:t>Customized</a:t>
            </a:r>
          </a:p>
          <a:p>
            <a:pPr lvl="0" algn="ctr">
              <a:buClr>
                <a:schemeClr val="bg1"/>
              </a:buClr>
            </a:pPr>
            <a:r>
              <a:rPr lang="en-US" sz="1400" b="1" dirty="0"/>
              <a:t>(Not off-the-shelf generalizations)</a:t>
            </a:r>
          </a:p>
        </p:txBody>
      </p:sp>
      <p:sp>
        <p:nvSpPr>
          <p:cNvPr id="2" name="Content Placeholder 4">
            <a:extLst>
              <a:ext uri="{FF2B5EF4-FFF2-40B4-BE49-F238E27FC236}">
                <a16:creationId xmlns:a16="http://schemas.microsoft.com/office/drawing/2014/main" id="{46F876A7-D062-963E-40D5-7F33AF9921D1}"/>
              </a:ext>
            </a:extLst>
          </p:cNvPr>
          <p:cNvSpPr txBox="1">
            <a:spLocks/>
          </p:cNvSpPr>
          <p:nvPr/>
        </p:nvSpPr>
        <p:spPr>
          <a:xfrm>
            <a:off x="523587" y="2118529"/>
            <a:ext cx="5497853" cy="304458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200"/>
              </a:spcAft>
              <a:buFont typeface="Arial" panose="020B0604020202020204" pitchFamily="34" charset="0"/>
              <a:buNone/>
            </a:pPr>
            <a:r>
              <a:rPr lang="en-US" sz="2000" b="1">
                <a:solidFill>
                  <a:schemeClr val="bg1"/>
                </a:solidFill>
              </a:rPr>
              <a:t>The Shipyard’s AI Visibility Audit Covers:</a:t>
            </a:r>
          </a:p>
          <a:p>
            <a:pPr>
              <a:lnSpc>
                <a:spcPct val="100000"/>
              </a:lnSpc>
              <a:spcBef>
                <a:spcPts val="0"/>
              </a:spcBef>
              <a:spcAft>
                <a:spcPts val="1200"/>
              </a:spcAft>
              <a:buClr>
                <a:schemeClr val="accent4"/>
              </a:buClr>
            </a:pPr>
            <a:r>
              <a:rPr lang="en-US" sz="1800" b="1">
                <a:solidFill>
                  <a:schemeClr val="accent4"/>
                </a:solidFill>
              </a:rPr>
              <a:t>Presence:</a:t>
            </a:r>
            <a:r>
              <a:rPr lang="en-US" sz="1800">
                <a:solidFill>
                  <a:schemeClr val="accent4"/>
                </a:solidFill>
              </a:rPr>
              <a:t> </a:t>
            </a:r>
            <a:r>
              <a:rPr lang="en-US" sz="1800">
                <a:solidFill>
                  <a:schemeClr val="bg1"/>
                </a:solidFill>
              </a:rPr>
              <a:t>How and where your brand appears across high-intent audience questions</a:t>
            </a:r>
          </a:p>
          <a:p>
            <a:pPr>
              <a:lnSpc>
                <a:spcPct val="100000"/>
              </a:lnSpc>
              <a:spcBef>
                <a:spcPts val="0"/>
              </a:spcBef>
              <a:spcAft>
                <a:spcPts val="1200"/>
              </a:spcAft>
              <a:buClr>
                <a:schemeClr val="accent4"/>
              </a:buClr>
            </a:pPr>
            <a:r>
              <a:rPr lang="en-US" sz="1800" b="1">
                <a:solidFill>
                  <a:schemeClr val="accent4"/>
                </a:solidFill>
              </a:rPr>
              <a:t>Narrative:</a:t>
            </a:r>
            <a:r>
              <a:rPr lang="en-US" sz="1800">
                <a:solidFill>
                  <a:schemeClr val="accent4"/>
                </a:solidFill>
              </a:rPr>
              <a:t> </a:t>
            </a:r>
            <a:r>
              <a:rPr lang="en-US" sz="1800">
                <a:solidFill>
                  <a:schemeClr val="bg1"/>
                </a:solidFill>
              </a:rPr>
              <a:t>What AI says about your brand and the tone and accuracy of coverage</a:t>
            </a:r>
          </a:p>
          <a:p>
            <a:pPr>
              <a:lnSpc>
                <a:spcPct val="100000"/>
              </a:lnSpc>
              <a:spcBef>
                <a:spcPts val="0"/>
              </a:spcBef>
              <a:spcAft>
                <a:spcPts val="1200"/>
              </a:spcAft>
              <a:buClr>
                <a:schemeClr val="accent4"/>
              </a:buClr>
            </a:pPr>
            <a:r>
              <a:rPr lang="en-US" sz="1800" b="1">
                <a:solidFill>
                  <a:schemeClr val="accent4"/>
                </a:solidFill>
              </a:rPr>
              <a:t>Source:</a:t>
            </a:r>
            <a:r>
              <a:rPr lang="en-US" sz="1800">
                <a:solidFill>
                  <a:schemeClr val="accent4"/>
                </a:solidFill>
              </a:rPr>
              <a:t> </a:t>
            </a:r>
            <a:r>
              <a:rPr lang="en-US" sz="1800">
                <a:solidFill>
                  <a:schemeClr val="bg1"/>
                </a:solidFill>
              </a:rPr>
              <a:t>Which sources AI references — and whether/when your site is included</a:t>
            </a:r>
          </a:p>
          <a:p>
            <a:pPr>
              <a:lnSpc>
                <a:spcPct val="100000"/>
              </a:lnSpc>
              <a:spcBef>
                <a:spcPts val="0"/>
              </a:spcBef>
              <a:spcAft>
                <a:spcPts val="1200"/>
              </a:spcAft>
              <a:buClr>
                <a:schemeClr val="accent4"/>
              </a:buClr>
            </a:pPr>
            <a:r>
              <a:rPr lang="en-US" sz="1800" b="1">
                <a:solidFill>
                  <a:schemeClr val="accent4"/>
                </a:solidFill>
              </a:rPr>
              <a:t>Competitive Context:</a:t>
            </a:r>
            <a:r>
              <a:rPr lang="en-US" sz="1800">
                <a:solidFill>
                  <a:schemeClr val="accent4"/>
                </a:solidFill>
              </a:rPr>
              <a:t> </a:t>
            </a:r>
            <a:r>
              <a:rPr lang="en-US" sz="1800">
                <a:solidFill>
                  <a:schemeClr val="bg1"/>
                </a:solidFill>
              </a:rPr>
              <a:t>How your visibility compares to other sites</a:t>
            </a:r>
          </a:p>
        </p:txBody>
      </p:sp>
      <p:pic>
        <p:nvPicPr>
          <p:cNvPr id="5" name="Picture 4">
            <a:extLst>
              <a:ext uri="{FF2B5EF4-FFF2-40B4-BE49-F238E27FC236}">
                <a16:creationId xmlns:a16="http://schemas.microsoft.com/office/drawing/2014/main" id="{01DBCBA5-780B-D1BE-514A-BBBF6877B647}"/>
              </a:ext>
            </a:extLst>
          </p:cNvPr>
          <p:cNvPicPr>
            <a:picLocks noChangeAspect="1"/>
          </p:cNvPicPr>
          <p:nvPr/>
        </p:nvPicPr>
        <p:blipFill>
          <a:blip r:embed="rId3"/>
          <a:stretch>
            <a:fillRect/>
          </a:stretch>
        </p:blipFill>
        <p:spPr>
          <a:xfrm>
            <a:off x="8502504" y="2676760"/>
            <a:ext cx="722141" cy="724440"/>
          </a:xfrm>
          <a:prstGeom prst="rect">
            <a:avLst/>
          </a:prstGeom>
        </p:spPr>
      </p:pic>
      <p:pic>
        <p:nvPicPr>
          <p:cNvPr id="6" name="Picture 5">
            <a:extLst>
              <a:ext uri="{FF2B5EF4-FFF2-40B4-BE49-F238E27FC236}">
                <a16:creationId xmlns:a16="http://schemas.microsoft.com/office/drawing/2014/main" id="{6C785DD6-729C-6536-952F-AB0ADD4D141F}"/>
              </a:ext>
            </a:extLst>
          </p:cNvPr>
          <p:cNvPicPr>
            <a:picLocks noChangeAspect="1"/>
          </p:cNvPicPr>
          <p:nvPr/>
        </p:nvPicPr>
        <p:blipFill>
          <a:blip r:embed="rId4"/>
          <a:stretch>
            <a:fillRect/>
          </a:stretch>
        </p:blipFill>
        <p:spPr>
          <a:xfrm>
            <a:off x="9471752" y="2580624"/>
            <a:ext cx="939552" cy="729915"/>
          </a:xfrm>
          <a:prstGeom prst="rect">
            <a:avLst/>
          </a:prstGeom>
        </p:spPr>
      </p:pic>
      <p:pic>
        <p:nvPicPr>
          <p:cNvPr id="8" name="Picture 7">
            <a:extLst>
              <a:ext uri="{FF2B5EF4-FFF2-40B4-BE49-F238E27FC236}">
                <a16:creationId xmlns:a16="http://schemas.microsoft.com/office/drawing/2014/main" id="{D2980838-5102-DF94-6516-78FE9AC5327D}"/>
              </a:ext>
            </a:extLst>
          </p:cNvPr>
          <p:cNvPicPr>
            <a:picLocks noChangeAspect="1"/>
          </p:cNvPicPr>
          <p:nvPr/>
        </p:nvPicPr>
        <p:blipFill>
          <a:blip r:embed="rId5"/>
          <a:stretch>
            <a:fillRect/>
          </a:stretch>
        </p:blipFill>
        <p:spPr>
          <a:xfrm>
            <a:off x="10552055" y="2624785"/>
            <a:ext cx="943518" cy="641592"/>
          </a:xfrm>
          <a:prstGeom prst="rect">
            <a:avLst/>
          </a:prstGeom>
        </p:spPr>
      </p:pic>
      <p:pic>
        <p:nvPicPr>
          <p:cNvPr id="9" name="Picture 8">
            <a:extLst>
              <a:ext uri="{FF2B5EF4-FFF2-40B4-BE49-F238E27FC236}">
                <a16:creationId xmlns:a16="http://schemas.microsoft.com/office/drawing/2014/main" id="{DF2717BF-4303-EA7D-F5F6-368AA9D9359C}"/>
              </a:ext>
            </a:extLst>
          </p:cNvPr>
          <p:cNvPicPr>
            <a:picLocks noChangeAspect="1"/>
          </p:cNvPicPr>
          <p:nvPr/>
        </p:nvPicPr>
        <p:blipFill>
          <a:blip r:embed="rId6"/>
          <a:stretch>
            <a:fillRect/>
          </a:stretch>
        </p:blipFill>
        <p:spPr>
          <a:xfrm>
            <a:off x="9802243" y="3478386"/>
            <a:ext cx="609061" cy="656902"/>
          </a:xfrm>
          <a:prstGeom prst="rect">
            <a:avLst/>
          </a:prstGeom>
        </p:spPr>
      </p:pic>
      <p:pic>
        <p:nvPicPr>
          <p:cNvPr id="11" name="Picture 10">
            <a:extLst>
              <a:ext uri="{FF2B5EF4-FFF2-40B4-BE49-F238E27FC236}">
                <a16:creationId xmlns:a16="http://schemas.microsoft.com/office/drawing/2014/main" id="{6E694724-F4ED-8911-53C0-663C86050CE3}"/>
              </a:ext>
            </a:extLst>
          </p:cNvPr>
          <p:cNvPicPr>
            <a:picLocks noChangeAspect="1"/>
          </p:cNvPicPr>
          <p:nvPr/>
        </p:nvPicPr>
        <p:blipFill>
          <a:blip r:embed="rId7"/>
          <a:stretch>
            <a:fillRect/>
          </a:stretch>
        </p:blipFill>
        <p:spPr>
          <a:xfrm>
            <a:off x="7643853" y="2727019"/>
            <a:ext cx="523860" cy="648507"/>
          </a:xfrm>
          <a:prstGeom prst="rect">
            <a:avLst/>
          </a:prstGeom>
        </p:spPr>
      </p:pic>
      <p:pic>
        <p:nvPicPr>
          <p:cNvPr id="13" name="Picture 12" descr="A black background with a black square&#10;&#10;AI-generated content may be incorrect.">
            <a:extLst>
              <a:ext uri="{FF2B5EF4-FFF2-40B4-BE49-F238E27FC236}">
                <a16:creationId xmlns:a16="http://schemas.microsoft.com/office/drawing/2014/main" id="{B2DCF8B6-C31C-723E-D5CB-DADFF03A8FF9}"/>
              </a:ext>
            </a:extLst>
          </p:cNvPr>
          <p:cNvPicPr>
            <a:picLocks noChangeAspect="1"/>
          </p:cNvPicPr>
          <p:nvPr/>
        </p:nvPicPr>
        <p:blipFill>
          <a:blip r:embed="rId8"/>
          <a:stretch>
            <a:fillRect/>
          </a:stretch>
        </p:blipFill>
        <p:spPr>
          <a:xfrm>
            <a:off x="8400778" y="3240359"/>
            <a:ext cx="1132956" cy="1132956"/>
          </a:xfrm>
          <a:prstGeom prst="rect">
            <a:avLst/>
          </a:prstGeom>
        </p:spPr>
      </p:pic>
      <p:sp>
        <p:nvSpPr>
          <p:cNvPr id="14" name="TextBox 13">
            <a:extLst>
              <a:ext uri="{FF2B5EF4-FFF2-40B4-BE49-F238E27FC236}">
                <a16:creationId xmlns:a16="http://schemas.microsoft.com/office/drawing/2014/main" id="{99CE2F77-6588-D608-B823-CE98A9E5F0FB}"/>
              </a:ext>
            </a:extLst>
          </p:cNvPr>
          <p:cNvSpPr txBox="1"/>
          <p:nvPr/>
        </p:nvSpPr>
        <p:spPr>
          <a:xfrm>
            <a:off x="7137492" y="5415710"/>
            <a:ext cx="1488688" cy="830997"/>
          </a:xfrm>
          <a:prstGeom prst="rect">
            <a:avLst/>
          </a:prstGeom>
          <a:noFill/>
        </p:spPr>
        <p:txBody>
          <a:bodyPr wrap="square" rtlCol="0">
            <a:spAutoFit/>
          </a:bodyPr>
          <a:lstStyle/>
          <a:p>
            <a:pPr algn="ctr"/>
            <a:r>
              <a:rPr lang="en-US" sz="1600"/>
              <a:t>Nuanced Industry </a:t>
            </a:r>
          </a:p>
          <a:p>
            <a:pPr algn="ctr"/>
            <a:endParaRPr lang="en-US" sz="1600"/>
          </a:p>
        </p:txBody>
      </p:sp>
      <p:sp>
        <p:nvSpPr>
          <p:cNvPr id="15" name="TextBox 14">
            <a:extLst>
              <a:ext uri="{FF2B5EF4-FFF2-40B4-BE49-F238E27FC236}">
                <a16:creationId xmlns:a16="http://schemas.microsoft.com/office/drawing/2014/main" id="{9E5534CB-1D5D-6773-8EA9-796B1E1DED73}"/>
              </a:ext>
            </a:extLst>
          </p:cNvPr>
          <p:cNvSpPr txBox="1"/>
          <p:nvPr/>
        </p:nvSpPr>
        <p:spPr>
          <a:xfrm>
            <a:off x="8699216" y="5384933"/>
            <a:ext cx="1545071" cy="861774"/>
          </a:xfrm>
          <a:prstGeom prst="rect">
            <a:avLst/>
          </a:prstGeom>
          <a:noFill/>
        </p:spPr>
        <p:txBody>
          <a:bodyPr wrap="square" rtlCol="0">
            <a:spAutoFit/>
          </a:bodyPr>
          <a:lstStyle/>
          <a:p>
            <a:pPr algn="ctr"/>
            <a:r>
              <a:rPr lang="en-US" sz="1600"/>
              <a:t>Specific Customers</a:t>
            </a:r>
          </a:p>
          <a:p>
            <a:pPr algn="ctr"/>
            <a:endParaRPr lang="en-US" sz="1600"/>
          </a:p>
        </p:txBody>
      </p:sp>
      <p:sp>
        <p:nvSpPr>
          <p:cNvPr id="17" name="TextBox 16">
            <a:extLst>
              <a:ext uri="{FF2B5EF4-FFF2-40B4-BE49-F238E27FC236}">
                <a16:creationId xmlns:a16="http://schemas.microsoft.com/office/drawing/2014/main" id="{E1FA3B2B-03BC-C9A5-D1BC-0B1089DBE9C7}"/>
              </a:ext>
            </a:extLst>
          </p:cNvPr>
          <p:cNvSpPr txBox="1"/>
          <p:nvPr/>
        </p:nvSpPr>
        <p:spPr>
          <a:xfrm>
            <a:off x="10317323" y="5384933"/>
            <a:ext cx="1545071" cy="861774"/>
          </a:xfrm>
          <a:prstGeom prst="rect">
            <a:avLst/>
          </a:prstGeom>
          <a:noFill/>
        </p:spPr>
        <p:txBody>
          <a:bodyPr wrap="square" rtlCol="0">
            <a:spAutoFit/>
          </a:bodyPr>
          <a:lstStyle/>
          <a:p>
            <a:pPr algn="ctr"/>
            <a:r>
              <a:rPr lang="en-US" sz="1600"/>
              <a:t>Defined Competitors</a:t>
            </a:r>
          </a:p>
          <a:p>
            <a:pPr algn="ctr"/>
            <a:endParaRPr lang="en-US" sz="1600"/>
          </a:p>
        </p:txBody>
      </p:sp>
      <p:sp>
        <p:nvSpPr>
          <p:cNvPr id="18" name="Rectangle 17">
            <a:extLst>
              <a:ext uri="{FF2B5EF4-FFF2-40B4-BE49-F238E27FC236}">
                <a16:creationId xmlns:a16="http://schemas.microsoft.com/office/drawing/2014/main" id="{F32AE6DF-15EC-BD9C-440F-02291F10D16B}"/>
              </a:ext>
            </a:extLst>
          </p:cNvPr>
          <p:cNvSpPr/>
          <p:nvPr/>
        </p:nvSpPr>
        <p:spPr>
          <a:xfrm>
            <a:off x="7278255" y="2118530"/>
            <a:ext cx="4530921" cy="2254786"/>
          </a:xfrm>
          <a:prstGeom prst="rect">
            <a:avLst/>
          </a:prstGeom>
          <a:noFill/>
          <a:ln w="28575">
            <a:solidFill>
              <a:schemeClr val="accent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756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6F049-54F4-966A-FC8D-A2114085F0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40F63E-0FBC-83F3-6E0F-D03EA8509DAF}"/>
              </a:ext>
            </a:extLst>
          </p:cNvPr>
          <p:cNvSpPr/>
          <p:nvPr/>
        </p:nvSpPr>
        <p:spPr>
          <a:xfrm>
            <a:off x="315722" y="2627609"/>
            <a:ext cx="5598800" cy="36199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BB6AA3-AC0F-5617-401A-A8C3F5CFD119}"/>
              </a:ext>
            </a:extLst>
          </p:cNvPr>
          <p:cNvSpPr/>
          <p:nvPr/>
        </p:nvSpPr>
        <p:spPr>
          <a:xfrm>
            <a:off x="6159500" y="2628423"/>
            <a:ext cx="5596128" cy="36191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E6FF2877-7B14-69FD-A161-9BF0789F46FD}"/>
              </a:ext>
            </a:extLst>
          </p:cNvPr>
          <p:cNvSpPr>
            <a:spLocks noGrp="1"/>
          </p:cNvSpPr>
          <p:nvPr>
            <p:ph type="title"/>
          </p:nvPr>
        </p:nvSpPr>
        <p:spPr>
          <a:xfrm>
            <a:off x="219456" y="585215"/>
            <a:ext cx="11536172" cy="1265565"/>
          </a:xfrm>
        </p:spPr>
        <p:txBody>
          <a:bodyPr/>
          <a:lstStyle/>
          <a:p>
            <a:r>
              <a:rPr lang="en-US"/>
              <a:t>MEASURABILITY GAP:</a:t>
            </a:r>
            <a:br>
              <a:rPr lang="en-US"/>
            </a:br>
            <a:r>
              <a:rPr lang="en-US" sz="4800"/>
              <a:t>WHY GEO REQUIRES A DIFFERENT METHOD THAN SEO</a:t>
            </a:r>
            <a:endParaRPr lang="en-US"/>
          </a:p>
        </p:txBody>
      </p:sp>
      <p:sp>
        <p:nvSpPr>
          <p:cNvPr id="3" name="Slide Number Placeholder 2">
            <a:extLst>
              <a:ext uri="{FF2B5EF4-FFF2-40B4-BE49-F238E27FC236}">
                <a16:creationId xmlns:a16="http://schemas.microsoft.com/office/drawing/2014/main" id="{92CF4955-BB56-BF83-2D23-AA22F229D6F5}"/>
              </a:ext>
            </a:extLst>
          </p:cNvPr>
          <p:cNvSpPr>
            <a:spLocks noGrp="1"/>
          </p:cNvSpPr>
          <p:nvPr>
            <p:ph type="sldNum" sz="quarter" idx="12"/>
          </p:nvPr>
        </p:nvSpPr>
        <p:spPr/>
        <p:txBody>
          <a:bodyPr/>
          <a:lstStyle/>
          <a:p>
            <a:fld id="{6D05E8BB-FF85-4620-9298-8F3F48811131}" type="slidenum">
              <a:rPr lang="en-US" smtClean="0"/>
              <a:t>32</a:t>
            </a:fld>
            <a:endParaRPr lang="en-US"/>
          </a:p>
        </p:txBody>
      </p:sp>
      <p:sp>
        <p:nvSpPr>
          <p:cNvPr id="17" name="Text Placeholder 16">
            <a:extLst>
              <a:ext uri="{FF2B5EF4-FFF2-40B4-BE49-F238E27FC236}">
                <a16:creationId xmlns:a16="http://schemas.microsoft.com/office/drawing/2014/main" id="{90233513-8930-3ECC-FD2A-F59DEC86EC0E}"/>
              </a:ext>
            </a:extLst>
          </p:cNvPr>
          <p:cNvSpPr>
            <a:spLocks noGrp="1"/>
          </p:cNvSpPr>
          <p:nvPr>
            <p:ph type="body" sz="quarter" idx="13"/>
          </p:nvPr>
        </p:nvSpPr>
        <p:spPr/>
        <p:txBody>
          <a:bodyPr/>
          <a:lstStyle/>
          <a:p>
            <a:r>
              <a:rPr lang="en-US"/>
              <a:t>EXAMPLE GEO AUDIT METHODOLOGY</a:t>
            </a:r>
          </a:p>
        </p:txBody>
      </p:sp>
      <p:sp>
        <p:nvSpPr>
          <p:cNvPr id="21" name="Content Placeholder 4">
            <a:extLst>
              <a:ext uri="{FF2B5EF4-FFF2-40B4-BE49-F238E27FC236}">
                <a16:creationId xmlns:a16="http://schemas.microsoft.com/office/drawing/2014/main" id="{F7020683-9759-8DA3-A435-EAE23E2EC82F}"/>
              </a:ext>
            </a:extLst>
          </p:cNvPr>
          <p:cNvSpPr txBox="1">
            <a:spLocks/>
          </p:cNvSpPr>
          <p:nvPr/>
        </p:nvSpPr>
        <p:spPr>
          <a:xfrm>
            <a:off x="482619" y="3243233"/>
            <a:ext cx="4762462" cy="2480621"/>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r>
              <a:rPr lang="en-US" sz="1400">
                <a:solidFill>
                  <a:schemeClr val="bg1"/>
                </a:solidFill>
              </a:rPr>
              <a:t>Based upon data that Google provides.</a:t>
            </a:r>
          </a:p>
          <a:p>
            <a:pPr marL="285750" lvl="0" indent="-285750"/>
            <a:r>
              <a:rPr lang="en-US" sz="1400" b="1">
                <a:solidFill>
                  <a:schemeClr val="bg1"/>
                </a:solidFill>
              </a:rPr>
              <a:t>Defined variables</a:t>
            </a:r>
            <a:r>
              <a:rPr lang="en-US" sz="1400">
                <a:solidFill>
                  <a:schemeClr val="bg1"/>
                </a:solidFill>
              </a:rPr>
              <a:t> and repeatable measurement deliver stable, comparable results.</a:t>
            </a:r>
          </a:p>
          <a:p>
            <a:pPr marL="285750" lvl="0" indent="-285750"/>
            <a:r>
              <a:rPr lang="en-US" sz="1400">
                <a:solidFill>
                  <a:schemeClr val="bg1"/>
                </a:solidFill>
              </a:rPr>
              <a:t>Audits rely on preset parameters — </a:t>
            </a:r>
            <a:r>
              <a:rPr lang="en-US" sz="1400" b="1">
                <a:solidFill>
                  <a:schemeClr val="bg1"/>
                </a:solidFill>
              </a:rPr>
              <a:t>keywords, rankings, and volume.</a:t>
            </a:r>
          </a:p>
          <a:p>
            <a:pPr marL="285750" lvl="0" indent="-285750"/>
            <a:r>
              <a:rPr lang="en-US" sz="1400">
                <a:solidFill>
                  <a:schemeClr val="bg1"/>
                </a:solidFill>
              </a:rPr>
              <a:t>Insights are typically </a:t>
            </a:r>
            <a:r>
              <a:rPr lang="en-US" sz="1400" b="1">
                <a:solidFill>
                  <a:schemeClr val="bg1"/>
                </a:solidFill>
              </a:rPr>
              <a:t>standardized, aggregate performance metrics</a:t>
            </a:r>
            <a:r>
              <a:rPr lang="en-US" sz="1400">
                <a:solidFill>
                  <a:schemeClr val="bg1"/>
                </a:solidFill>
              </a:rPr>
              <a:t>.</a:t>
            </a:r>
          </a:p>
        </p:txBody>
      </p:sp>
      <p:sp>
        <p:nvSpPr>
          <p:cNvPr id="22" name="Content Placeholder 4">
            <a:extLst>
              <a:ext uri="{FF2B5EF4-FFF2-40B4-BE49-F238E27FC236}">
                <a16:creationId xmlns:a16="http://schemas.microsoft.com/office/drawing/2014/main" id="{6FECD785-1E2F-F627-0BC3-4EB750241A96}"/>
              </a:ext>
            </a:extLst>
          </p:cNvPr>
          <p:cNvSpPr txBox="1">
            <a:spLocks/>
          </p:cNvSpPr>
          <p:nvPr/>
        </p:nvSpPr>
        <p:spPr>
          <a:xfrm>
            <a:off x="6254750" y="3135253"/>
            <a:ext cx="4729882" cy="3112290"/>
          </a:xfrm>
          <a:prstGeom prst="rect">
            <a:avLst/>
          </a:prstGeom>
          <a:noFill/>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spcBef>
                <a:spcPts val="1600"/>
              </a:spcBef>
            </a:pPr>
            <a:r>
              <a:rPr lang="en-US" sz="1400">
                <a:solidFill>
                  <a:schemeClr val="tx1"/>
                </a:solidFill>
              </a:rPr>
              <a:t>LLMs do not make data available.</a:t>
            </a:r>
          </a:p>
          <a:p>
            <a:pPr lvl="0">
              <a:spcBef>
                <a:spcPts val="1600"/>
              </a:spcBef>
            </a:pPr>
            <a:r>
              <a:rPr lang="en-US" sz="1400" b="1">
                <a:solidFill>
                  <a:schemeClr val="tx1"/>
                </a:solidFill>
              </a:rPr>
              <a:t>Open-ended inputs </a:t>
            </a:r>
            <a:r>
              <a:rPr lang="en-US" sz="1400">
                <a:solidFill>
                  <a:schemeClr val="tx1"/>
                </a:solidFill>
              </a:rPr>
              <a:t>create higher variance outputs that require interpretation.</a:t>
            </a:r>
          </a:p>
          <a:p>
            <a:pPr lvl="0">
              <a:spcBef>
                <a:spcPts val="1600"/>
              </a:spcBef>
            </a:pPr>
            <a:r>
              <a:rPr lang="en-US" sz="1400">
                <a:solidFill>
                  <a:schemeClr val="tx1"/>
                </a:solidFill>
              </a:rPr>
              <a:t>Results shift with </a:t>
            </a:r>
            <a:r>
              <a:rPr lang="en-US" sz="1400" b="1">
                <a:solidFill>
                  <a:schemeClr val="tx1"/>
                </a:solidFill>
              </a:rPr>
              <a:t>phrasing, intent, context, and user need </a:t>
            </a:r>
            <a:r>
              <a:rPr lang="en-US" sz="1400">
                <a:solidFill>
                  <a:schemeClr val="tx1"/>
                </a:solidFill>
              </a:rPr>
              <a:t>— so the way we structure questions directly influences what we observe.</a:t>
            </a:r>
          </a:p>
          <a:p>
            <a:pPr lvl="0">
              <a:spcBef>
                <a:spcPts val="1600"/>
              </a:spcBef>
            </a:pPr>
            <a:r>
              <a:rPr lang="en-US" sz="1400">
                <a:solidFill>
                  <a:schemeClr val="tx1"/>
                </a:solidFill>
              </a:rPr>
              <a:t>Insights are </a:t>
            </a:r>
            <a:r>
              <a:rPr lang="en-US" sz="1400" b="1">
                <a:solidFill>
                  <a:schemeClr val="tx1"/>
                </a:solidFill>
              </a:rPr>
              <a:t>not always reducible to standardized metrics</a:t>
            </a:r>
            <a:r>
              <a:rPr lang="en-US" sz="1400">
                <a:solidFill>
                  <a:schemeClr val="tx1"/>
                </a:solidFill>
              </a:rPr>
              <a:t> requiring deeper analysis for meaning.</a:t>
            </a:r>
          </a:p>
        </p:txBody>
      </p:sp>
      <p:sp>
        <p:nvSpPr>
          <p:cNvPr id="23" name="Content Placeholder 4">
            <a:extLst>
              <a:ext uri="{FF2B5EF4-FFF2-40B4-BE49-F238E27FC236}">
                <a16:creationId xmlns:a16="http://schemas.microsoft.com/office/drawing/2014/main" id="{2CC69645-2A62-FE55-C5EF-235BB1114220}"/>
              </a:ext>
            </a:extLst>
          </p:cNvPr>
          <p:cNvSpPr txBox="1">
            <a:spLocks/>
          </p:cNvSpPr>
          <p:nvPr/>
        </p:nvSpPr>
        <p:spPr>
          <a:xfrm>
            <a:off x="6254750" y="2704850"/>
            <a:ext cx="5255900" cy="428479"/>
          </a:xfrm>
          <a:prstGeom prst="rect">
            <a:avLst/>
          </a:prstGeom>
          <a:noFill/>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chemeClr val="tx1"/>
                </a:solidFill>
              </a:rPr>
              <a:t>GEO auditing is closer to qualitative research</a:t>
            </a:r>
            <a:endParaRPr lang="en-US">
              <a:solidFill>
                <a:schemeClr val="tx1"/>
              </a:solidFill>
            </a:endParaRPr>
          </a:p>
        </p:txBody>
      </p:sp>
      <p:sp>
        <p:nvSpPr>
          <p:cNvPr id="24" name="Content Placeholder 4">
            <a:extLst>
              <a:ext uri="{FF2B5EF4-FFF2-40B4-BE49-F238E27FC236}">
                <a16:creationId xmlns:a16="http://schemas.microsoft.com/office/drawing/2014/main" id="{39815B8A-E482-A493-9231-947F304F0BDB}"/>
              </a:ext>
            </a:extLst>
          </p:cNvPr>
          <p:cNvSpPr txBox="1">
            <a:spLocks/>
          </p:cNvSpPr>
          <p:nvPr/>
        </p:nvSpPr>
        <p:spPr>
          <a:xfrm>
            <a:off x="482619" y="2704850"/>
            <a:ext cx="4762462" cy="538383"/>
          </a:xfrm>
          <a:prstGeom prst="rect">
            <a:avLst/>
          </a:prstGeom>
          <a:noFill/>
        </p:spPr>
        <p:txBody>
          <a:bodyPr vert="horz" lIns="91440" tIns="45720" rIns="91440" bIns="45720" rtlCol="0">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solidFill>
                  <a:schemeClr val="bg1"/>
                </a:solidFill>
              </a:rPr>
              <a:t>SEO is like quantitative survey research</a:t>
            </a:r>
          </a:p>
        </p:txBody>
      </p:sp>
    </p:spTree>
    <p:extLst>
      <p:ext uri="{BB962C8B-B14F-4D97-AF65-F5344CB8AC3E}">
        <p14:creationId xmlns:p14="http://schemas.microsoft.com/office/powerpoint/2010/main" val="286811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45229-081E-0D83-E7E4-0CF022A6ED7A}"/>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1F70200B-4554-EA74-CF91-743C6C11FBCF}"/>
              </a:ext>
            </a:extLst>
          </p:cNvPr>
          <p:cNvSpPr>
            <a:spLocks noGrp="1"/>
          </p:cNvSpPr>
          <p:nvPr>
            <p:ph type="title"/>
          </p:nvPr>
        </p:nvSpPr>
        <p:spPr>
          <a:xfrm>
            <a:off x="219456" y="585215"/>
            <a:ext cx="11536172" cy="1265565"/>
          </a:xfrm>
        </p:spPr>
        <p:txBody>
          <a:bodyPr/>
          <a:lstStyle/>
          <a:p>
            <a:r>
              <a:rPr lang="en-US"/>
              <a:t>TAILORING FOR NUANCES:</a:t>
            </a:r>
            <a:br>
              <a:rPr lang="en-US"/>
            </a:br>
            <a:endParaRPr lang="en-US"/>
          </a:p>
        </p:txBody>
      </p:sp>
      <p:sp>
        <p:nvSpPr>
          <p:cNvPr id="3" name="Slide Number Placeholder 2">
            <a:extLst>
              <a:ext uri="{FF2B5EF4-FFF2-40B4-BE49-F238E27FC236}">
                <a16:creationId xmlns:a16="http://schemas.microsoft.com/office/drawing/2014/main" id="{5C11A602-33DD-530B-742F-7E5487E397E9}"/>
              </a:ext>
            </a:extLst>
          </p:cNvPr>
          <p:cNvSpPr>
            <a:spLocks noGrp="1"/>
          </p:cNvSpPr>
          <p:nvPr>
            <p:ph type="sldNum" sz="quarter" idx="12"/>
          </p:nvPr>
        </p:nvSpPr>
        <p:spPr/>
        <p:txBody>
          <a:bodyPr/>
          <a:lstStyle/>
          <a:p>
            <a:fld id="{6D05E8BB-FF85-4620-9298-8F3F48811131}" type="slidenum">
              <a:rPr lang="en-US" smtClean="0"/>
              <a:t>33</a:t>
            </a:fld>
            <a:endParaRPr lang="en-US"/>
          </a:p>
        </p:txBody>
      </p:sp>
      <p:sp>
        <p:nvSpPr>
          <p:cNvPr id="17" name="Text Placeholder 16">
            <a:extLst>
              <a:ext uri="{FF2B5EF4-FFF2-40B4-BE49-F238E27FC236}">
                <a16:creationId xmlns:a16="http://schemas.microsoft.com/office/drawing/2014/main" id="{4986A0C0-4CC9-0CD4-CCB5-9698F106F7B6}"/>
              </a:ext>
            </a:extLst>
          </p:cNvPr>
          <p:cNvSpPr>
            <a:spLocks noGrp="1"/>
          </p:cNvSpPr>
          <p:nvPr>
            <p:ph type="body" sz="quarter" idx="13"/>
          </p:nvPr>
        </p:nvSpPr>
        <p:spPr/>
        <p:txBody>
          <a:bodyPr/>
          <a:lstStyle/>
          <a:p>
            <a:r>
              <a:rPr lang="en-US"/>
              <a:t>EXAMPLE GEO AUDIT METHODOLOGY</a:t>
            </a:r>
          </a:p>
        </p:txBody>
      </p:sp>
      <p:sp>
        <p:nvSpPr>
          <p:cNvPr id="2" name="TextBox 1">
            <a:extLst>
              <a:ext uri="{FF2B5EF4-FFF2-40B4-BE49-F238E27FC236}">
                <a16:creationId xmlns:a16="http://schemas.microsoft.com/office/drawing/2014/main" id="{2E352365-F35A-C3B2-E82D-0AF285672F24}"/>
              </a:ext>
            </a:extLst>
          </p:cNvPr>
          <p:cNvSpPr txBox="1"/>
          <p:nvPr/>
        </p:nvSpPr>
        <p:spPr>
          <a:xfrm>
            <a:off x="496282" y="2187974"/>
            <a:ext cx="2830343" cy="4323091"/>
          </a:xfrm>
          <a:prstGeom prst="rect">
            <a:avLst/>
          </a:prstGeom>
          <a:noFill/>
        </p:spPr>
        <p:txBody>
          <a:bodyPr wrap="square" lIns="91440" tIns="45720" rIns="91440" bIns="45720" rtlCol="0" anchor="t">
            <a:noAutofit/>
          </a:bodyPr>
          <a:lstStyle/>
          <a:p>
            <a:pPr lvl="0">
              <a:spcAft>
                <a:spcPts val="600"/>
              </a:spcAft>
              <a:buClr>
                <a:schemeClr val="accent1"/>
              </a:buClr>
            </a:pPr>
            <a:r>
              <a:rPr lang="en-US" sz="2000" b="1">
                <a:solidFill>
                  <a:schemeClr val="accent1"/>
                </a:solidFill>
              </a:rPr>
              <a:t>1. Alignment: </a:t>
            </a:r>
          </a:p>
          <a:p>
            <a:pPr lvl="0">
              <a:spcAft>
                <a:spcPts val="600"/>
              </a:spcAft>
              <a:buClr>
                <a:schemeClr val="accent1"/>
              </a:buClr>
            </a:pPr>
            <a:r>
              <a:rPr lang="en-US" sz="1600">
                <a:solidFill>
                  <a:schemeClr val="tx2">
                    <a:lumMod val="50000"/>
                  </a:schemeClr>
                </a:solidFill>
              </a:rPr>
              <a:t>Defined priority audiences and what core types of insights we’re looking to find. </a:t>
            </a:r>
          </a:p>
          <a:p>
            <a:pPr lvl="0">
              <a:spcAft>
                <a:spcPts val="600"/>
              </a:spcAft>
              <a:buClr>
                <a:schemeClr val="accent1"/>
              </a:buClr>
            </a:pPr>
            <a:endParaRPr lang="en-US" sz="1600">
              <a:solidFill>
                <a:schemeClr val="tx2">
                  <a:lumMod val="50000"/>
                </a:schemeClr>
              </a:solidFill>
            </a:endParaRPr>
          </a:p>
          <a:p>
            <a:pPr lvl="0">
              <a:spcAft>
                <a:spcPts val="600"/>
              </a:spcAft>
              <a:buClr>
                <a:schemeClr val="accent1"/>
              </a:buClr>
            </a:pPr>
            <a:endParaRPr lang="en-US" sz="1400" b="1" i="1">
              <a:solidFill>
                <a:schemeClr val="accent1"/>
              </a:solidFill>
            </a:endParaRPr>
          </a:p>
          <a:p>
            <a:pPr lvl="0">
              <a:spcAft>
                <a:spcPts val="600"/>
              </a:spcAft>
              <a:buClr>
                <a:schemeClr val="accent1"/>
              </a:buClr>
            </a:pPr>
            <a:r>
              <a:rPr lang="en-US" sz="1600" b="1" i="1">
                <a:solidFill>
                  <a:schemeClr val="accent1"/>
                </a:solidFill>
              </a:rPr>
              <a:t>Is there anything specifically we're trying to uncover? </a:t>
            </a:r>
          </a:p>
        </p:txBody>
      </p:sp>
      <p:sp>
        <p:nvSpPr>
          <p:cNvPr id="5" name="TextBox 4">
            <a:extLst>
              <a:ext uri="{FF2B5EF4-FFF2-40B4-BE49-F238E27FC236}">
                <a16:creationId xmlns:a16="http://schemas.microsoft.com/office/drawing/2014/main" id="{E336544C-EF82-DF24-2EDE-80FFD8F0BD90}"/>
              </a:ext>
            </a:extLst>
          </p:cNvPr>
          <p:cNvSpPr txBox="1"/>
          <p:nvPr/>
        </p:nvSpPr>
        <p:spPr>
          <a:xfrm>
            <a:off x="3608867" y="2187972"/>
            <a:ext cx="3030564" cy="2691864"/>
          </a:xfrm>
          <a:prstGeom prst="rect">
            <a:avLst/>
          </a:prstGeom>
          <a:noFill/>
        </p:spPr>
        <p:txBody>
          <a:bodyPr wrap="square" lIns="91440" tIns="45720" rIns="91440" bIns="45720" rtlCol="0" anchor="t">
            <a:noAutofit/>
          </a:bodyPr>
          <a:lstStyle/>
          <a:p>
            <a:pPr lvl="0">
              <a:spcAft>
                <a:spcPts val="600"/>
              </a:spcAft>
              <a:buClr>
                <a:schemeClr val="accent1"/>
              </a:buClr>
            </a:pPr>
            <a:r>
              <a:rPr lang="en-US" sz="2000" b="1">
                <a:solidFill>
                  <a:schemeClr val="accent1"/>
                </a:solidFill>
              </a:rPr>
              <a:t>2. Question Design: </a:t>
            </a:r>
          </a:p>
          <a:p>
            <a:pPr lvl="0">
              <a:spcAft>
                <a:spcPts val="600"/>
              </a:spcAft>
              <a:buClr>
                <a:schemeClr val="accent1"/>
              </a:buClr>
            </a:pPr>
            <a:r>
              <a:rPr lang="en-US" sz="1600">
                <a:solidFill>
                  <a:schemeClr val="tx2">
                    <a:lumMod val="50000"/>
                  </a:schemeClr>
                </a:solidFill>
              </a:rPr>
              <a:t>Building a structured universe on how our audiences seek answers across the full customer journey.</a:t>
            </a:r>
          </a:p>
          <a:p>
            <a:pPr lvl="0">
              <a:spcAft>
                <a:spcPts val="600"/>
              </a:spcAft>
              <a:buClr>
                <a:schemeClr val="accent1"/>
              </a:buClr>
            </a:pPr>
            <a:endParaRPr lang="en-US" sz="1600">
              <a:solidFill>
                <a:schemeClr val="tx2">
                  <a:lumMod val="50000"/>
                </a:schemeClr>
              </a:solidFill>
            </a:endParaRPr>
          </a:p>
          <a:p>
            <a:pPr lvl="0">
              <a:spcAft>
                <a:spcPts val="600"/>
              </a:spcAft>
              <a:buClr>
                <a:schemeClr val="accent1"/>
              </a:buClr>
            </a:pPr>
            <a:endParaRPr lang="en-US" sz="1400">
              <a:solidFill>
                <a:schemeClr val="tx2">
                  <a:lumMod val="50000"/>
                </a:schemeClr>
              </a:solidFill>
            </a:endParaRPr>
          </a:p>
          <a:p>
            <a:pPr lvl="0">
              <a:spcAft>
                <a:spcPts val="600"/>
              </a:spcAft>
              <a:buClr>
                <a:schemeClr val="accent1"/>
              </a:buClr>
            </a:pPr>
            <a:r>
              <a:rPr lang="en-US" sz="1600" b="1" i="1">
                <a:solidFill>
                  <a:schemeClr val="accent1"/>
                </a:solidFill>
              </a:rPr>
              <a:t>What questions do your customers ask that you want to show up for?</a:t>
            </a:r>
          </a:p>
        </p:txBody>
      </p:sp>
      <p:grpSp>
        <p:nvGrpSpPr>
          <p:cNvPr id="4" name="Group 3">
            <a:extLst>
              <a:ext uri="{FF2B5EF4-FFF2-40B4-BE49-F238E27FC236}">
                <a16:creationId xmlns:a16="http://schemas.microsoft.com/office/drawing/2014/main" id="{F413CC50-5382-ECAC-85AE-5FE575511A90}"/>
              </a:ext>
            </a:extLst>
          </p:cNvPr>
          <p:cNvGrpSpPr/>
          <p:nvPr/>
        </p:nvGrpSpPr>
        <p:grpSpPr>
          <a:xfrm>
            <a:off x="6919568" y="2187972"/>
            <a:ext cx="5036807" cy="3767970"/>
            <a:chOff x="6742443" y="1983174"/>
            <a:chExt cx="5036807" cy="3767970"/>
          </a:xfrm>
        </p:grpSpPr>
        <p:sp>
          <p:nvSpPr>
            <p:cNvPr id="8" name="Triangle 7">
              <a:extLst>
                <a:ext uri="{FF2B5EF4-FFF2-40B4-BE49-F238E27FC236}">
                  <a16:creationId xmlns:a16="http://schemas.microsoft.com/office/drawing/2014/main" id="{DA9BE270-7382-ECD7-8D40-34ED4592AF8C}"/>
                </a:ext>
              </a:extLst>
            </p:cNvPr>
            <p:cNvSpPr/>
            <p:nvPr/>
          </p:nvSpPr>
          <p:spPr>
            <a:xfrm rot="10800000">
              <a:off x="6742444" y="1983176"/>
              <a:ext cx="5036806" cy="3767966"/>
            </a:xfrm>
            <a:prstGeom prst="triangle">
              <a:avLst>
                <a:gd name="adj" fmla="val 5023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38D21FE-E795-F1E4-CB53-E464D3BD6E2C}"/>
                </a:ext>
              </a:extLst>
            </p:cNvPr>
            <p:cNvSpPr txBox="1"/>
            <p:nvPr/>
          </p:nvSpPr>
          <p:spPr>
            <a:xfrm>
              <a:off x="6742444" y="1983174"/>
              <a:ext cx="5013184" cy="1845246"/>
            </a:xfrm>
            <a:prstGeom prst="rect">
              <a:avLst/>
            </a:prstGeom>
            <a:solidFill>
              <a:schemeClr val="accent2">
                <a:alpha val="25506"/>
              </a:schemeClr>
            </a:solidFill>
          </p:spPr>
          <p:txBody>
            <a:bodyPr wrap="square" lIns="91440" tIns="45720" rIns="91440" bIns="45720" rtlCol="0" anchor="ctr">
              <a:noAutofit/>
            </a:bodyPr>
            <a:lstStyle/>
            <a:p>
              <a:pPr lvl="0" algn="ctr">
                <a:spcAft>
                  <a:spcPts val="600"/>
                </a:spcAft>
                <a:buClr>
                  <a:schemeClr val="accent1"/>
                </a:buClr>
              </a:pPr>
              <a:r>
                <a:rPr lang="en-US" b="1">
                  <a:solidFill>
                    <a:schemeClr val="bg1"/>
                  </a:solidFill>
                </a:rPr>
                <a:t>Unaided Questions</a:t>
              </a:r>
            </a:p>
            <a:p>
              <a:pPr lvl="0" algn="ctr">
                <a:spcAft>
                  <a:spcPts val="600"/>
                </a:spcAft>
                <a:buClr>
                  <a:schemeClr val="accent1"/>
                </a:buClr>
              </a:pPr>
              <a:r>
                <a:rPr lang="en-US" sz="1400">
                  <a:solidFill>
                    <a:schemeClr val="bg1"/>
                  </a:solidFill>
                </a:rPr>
                <a:t>Centered around the customers’ </a:t>
              </a:r>
            </a:p>
            <a:p>
              <a:pPr lvl="0" algn="ctr">
                <a:spcAft>
                  <a:spcPts val="600"/>
                </a:spcAft>
                <a:buClr>
                  <a:schemeClr val="accent1"/>
                </a:buClr>
              </a:pPr>
              <a:r>
                <a:rPr lang="en-US" sz="1400">
                  <a:solidFill>
                    <a:schemeClr val="bg1"/>
                  </a:solidFill>
                </a:rPr>
                <a:t>challenges or tasks </a:t>
              </a:r>
            </a:p>
            <a:p>
              <a:pPr lvl="0" algn="ctr">
                <a:spcAft>
                  <a:spcPts val="600"/>
                </a:spcAft>
                <a:buClr>
                  <a:schemeClr val="accent1"/>
                </a:buClr>
              </a:pPr>
              <a:r>
                <a:rPr lang="en-US" sz="1400">
                  <a:solidFill>
                    <a:schemeClr val="bg1"/>
                  </a:solidFill>
                </a:rPr>
                <a:t>(no brand mention)</a:t>
              </a:r>
            </a:p>
          </p:txBody>
        </p:sp>
        <p:sp>
          <p:nvSpPr>
            <p:cNvPr id="11" name="TextBox 10">
              <a:extLst>
                <a:ext uri="{FF2B5EF4-FFF2-40B4-BE49-F238E27FC236}">
                  <a16:creationId xmlns:a16="http://schemas.microsoft.com/office/drawing/2014/main" id="{FF1B0FB1-6826-53E5-4EE6-C0A3C0C4FE5E}"/>
                </a:ext>
              </a:extLst>
            </p:cNvPr>
            <p:cNvSpPr txBox="1"/>
            <p:nvPr/>
          </p:nvSpPr>
          <p:spPr>
            <a:xfrm>
              <a:off x="6742443" y="3828422"/>
              <a:ext cx="5013183" cy="1922722"/>
            </a:xfrm>
            <a:prstGeom prst="rect">
              <a:avLst/>
            </a:prstGeom>
            <a:solidFill>
              <a:schemeClr val="accent2">
                <a:alpha val="71764"/>
              </a:schemeClr>
            </a:solidFill>
          </p:spPr>
          <p:txBody>
            <a:bodyPr wrap="square" lIns="91440" tIns="45720" rIns="91440" bIns="45720" rtlCol="0" anchor="ctr">
              <a:noAutofit/>
            </a:bodyPr>
            <a:lstStyle/>
            <a:p>
              <a:pPr lvl="0" algn="ctr">
                <a:spcAft>
                  <a:spcPts val="600"/>
                </a:spcAft>
                <a:buClr>
                  <a:schemeClr val="accent1"/>
                </a:buClr>
              </a:pPr>
              <a:r>
                <a:rPr lang="en-US" sz="2000" b="1"/>
                <a:t>Aided Questions</a:t>
              </a:r>
            </a:p>
            <a:p>
              <a:pPr lvl="0" algn="ctr">
                <a:spcAft>
                  <a:spcPts val="600"/>
                </a:spcAft>
                <a:buClr>
                  <a:schemeClr val="accent1"/>
                </a:buClr>
              </a:pPr>
              <a:r>
                <a:rPr lang="en-US" sz="1600"/>
                <a:t>When customers are asking </a:t>
              </a:r>
            </a:p>
            <a:p>
              <a:pPr lvl="0" algn="ctr">
                <a:spcAft>
                  <a:spcPts val="600"/>
                </a:spcAft>
                <a:buClr>
                  <a:schemeClr val="accent1"/>
                </a:buClr>
              </a:pPr>
              <a:r>
                <a:rPr lang="en-US" sz="1600"/>
                <a:t>by brand name</a:t>
              </a:r>
            </a:p>
          </p:txBody>
        </p:sp>
      </p:grpSp>
      <p:sp>
        <p:nvSpPr>
          <p:cNvPr id="6" name="Text Placeholder 8">
            <a:extLst>
              <a:ext uri="{FF2B5EF4-FFF2-40B4-BE49-F238E27FC236}">
                <a16:creationId xmlns:a16="http://schemas.microsoft.com/office/drawing/2014/main" id="{48BD1F6A-C970-651F-12A0-46ABE3E15EDF}"/>
              </a:ext>
            </a:extLst>
          </p:cNvPr>
          <p:cNvSpPr>
            <a:spLocks noGrp="1"/>
          </p:cNvSpPr>
          <p:nvPr>
            <p:ph type="body" sz="quarter" idx="14"/>
          </p:nvPr>
        </p:nvSpPr>
        <p:spPr>
          <a:xfrm>
            <a:off x="6943193" y="1722387"/>
            <a:ext cx="5013182" cy="465584"/>
          </a:xfrm>
        </p:spPr>
        <p:txBody>
          <a:bodyPr/>
          <a:lstStyle/>
          <a:p>
            <a:pPr marL="0" indent="0" algn="ctr">
              <a:spcAft>
                <a:spcPts val="1200"/>
              </a:spcAft>
              <a:buNone/>
            </a:pPr>
            <a:r>
              <a:rPr lang="en-US" sz="1800" b="1"/>
              <a:t>Full-Funnel Approach to Question Design</a:t>
            </a:r>
          </a:p>
        </p:txBody>
      </p:sp>
    </p:spTree>
    <p:extLst>
      <p:ext uri="{BB962C8B-B14F-4D97-AF65-F5344CB8AC3E}">
        <p14:creationId xmlns:p14="http://schemas.microsoft.com/office/powerpoint/2010/main" val="2571196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2355-1909-EE46-8DBF-00C11AE43BE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8F4F4C0-7ADF-C439-2F0F-57738597A42C}"/>
              </a:ext>
            </a:extLst>
          </p:cNvPr>
          <p:cNvSpPr>
            <a:spLocks noGrp="1"/>
          </p:cNvSpPr>
          <p:nvPr>
            <p:ph type="title"/>
          </p:nvPr>
        </p:nvSpPr>
        <p:spPr>
          <a:xfrm>
            <a:off x="219456" y="329184"/>
            <a:ext cx="5876544" cy="1949321"/>
          </a:xfrm>
        </p:spPr>
        <p:txBody>
          <a:bodyPr/>
          <a:lstStyle/>
          <a:p>
            <a:r>
              <a:rPr lang="en-US" sz="4800">
                <a:solidFill>
                  <a:schemeClr val="tx1"/>
                </a:solidFill>
              </a:rPr>
              <a:t>OUTPUT:</a:t>
            </a:r>
            <a:br>
              <a:rPr lang="en-US" sz="4800">
                <a:solidFill>
                  <a:schemeClr val="tx1"/>
                </a:solidFill>
              </a:rPr>
            </a:br>
            <a:r>
              <a:rPr lang="en-US"/>
              <a:t>AI VISIBILITY AUDIT</a:t>
            </a:r>
          </a:p>
        </p:txBody>
      </p:sp>
      <p:sp>
        <p:nvSpPr>
          <p:cNvPr id="3" name="Slide Number Placeholder 2">
            <a:extLst>
              <a:ext uri="{FF2B5EF4-FFF2-40B4-BE49-F238E27FC236}">
                <a16:creationId xmlns:a16="http://schemas.microsoft.com/office/drawing/2014/main" id="{A32620B7-C031-FBE2-40AF-D445854C0847}"/>
              </a:ext>
            </a:extLst>
          </p:cNvPr>
          <p:cNvSpPr>
            <a:spLocks noGrp="1"/>
          </p:cNvSpPr>
          <p:nvPr>
            <p:ph type="sldNum" sz="quarter" idx="12"/>
          </p:nvPr>
        </p:nvSpPr>
        <p:spPr/>
        <p:txBody>
          <a:bodyPr/>
          <a:lstStyle/>
          <a:p>
            <a:fld id="{6D05E8BB-FF85-4620-9298-8F3F48811131}" type="slidenum">
              <a:rPr lang="en-US" smtClean="0"/>
              <a:t>34</a:t>
            </a:fld>
            <a:endParaRPr lang="en-US"/>
          </a:p>
        </p:txBody>
      </p:sp>
      <p:sp>
        <p:nvSpPr>
          <p:cNvPr id="4" name="Content Placeholder 4">
            <a:extLst>
              <a:ext uri="{FF2B5EF4-FFF2-40B4-BE49-F238E27FC236}">
                <a16:creationId xmlns:a16="http://schemas.microsoft.com/office/drawing/2014/main" id="{46B8E1A7-B803-C87A-6993-72473CE65829}"/>
              </a:ext>
            </a:extLst>
          </p:cNvPr>
          <p:cNvSpPr txBox="1">
            <a:spLocks/>
          </p:cNvSpPr>
          <p:nvPr/>
        </p:nvSpPr>
        <p:spPr>
          <a:xfrm>
            <a:off x="552054" y="1964703"/>
            <a:ext cx="5876544" cy="441054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1200"/>
              </a:spcAft>
              <a:buFont typeface="Arial" panose="020B0604020202020204" pitchFamily="34" charset="0"/>
              <a:buNone/>
            </a:pPr>
            <a:r>
              <a:rPr lang="en-US" sz="2400" b="1" dirty="0">
                <a:solidFill>
                  <a:schemeClr val="bg1"/>
                </a:solidFill>
              </a:rPr>
              <a:t>What it provides:</a:t>
            </a:r>
          </a:p>
          <a:p>
            <a:pPr marL="0" indent="0">
              <a:lnSpc>
                <a:spcPct val="100000"/>
              </a:lnSpc>
              <a:spcBef>
                <a:spcPts val="0"/>
              </a:spcBef>
              <a:spcAft>
                <a:spcPts val="1800"/>
              </a:spcAft>
              <a:buClr>
                <a:schemeClr val="accent4"/>
              </a:buClr>
              <a:buNone/>
            </a:pPr>
            <a:r>
              <a:rPr lang="en-US" sz="1600" b="1" dirty="0">
                <a:solidFill>
                  <a:schemeClr val="accent4"/>
                </a:solidFill>
              </a:rPr>
              <a:t>INSIGHTS:</a:t>
            </a:r>
          </a:p>
          <a:p>
            <a:pPr>
              <a:lnSpc>
                <a:spcPct val="100000"/>
              </a:lnSpc>
              <a:spcBef>
                <a:spcPts val="0"/>
              </a:spcBef>
              <a:spcAft>
                <a:spcPts val="1800"/>
              </a:spcAft>
              <a:buClr>
                <a:schemeClr val="accent4"/>
              </a:buClr>
            </a:pPr>
            <a:r>
              <a:rPr lang="en-US" sz="1600" b="1" dirty="0">
                <a:solidFill>
                  <a:schemeClr val="bg1"/>
                </a:solidFill>
              </a:rPr>
              <a:t>Answers the question: How is the brand showing up in AI-generated responses to customer questions</a:t>
            </a:r>
            <a:endParaRPr lang="en-US" sz="1600" dirty="0">
              <a:solidFill>
                <a:schemeClr val="bg1"/>
              </a:solidFill>
            </a:endParaRPr>
          </a:p>
          <a:p>
            <a:pPr marL="0" indent="0">
              <a:lnSpc>
                <a:spcPct val="100000"/>
              </a:lnSpc>
              <a:spcBef>
                <a:spcPts val="0"/>
              </a:spcBef>
              <a:spcAft>
                <a:spcPts val="1800"/>
              </a:spcAft>
              <a:buClr>
                <a:schemeClr val="accent4"/>
              </a:buClr>
              <a:buNone/>
            </a:pPr>
            <a:r>
              <a:rPr lang="en-US" sz="1600" b="1" dirty="0">
                <a:solidFill>
                  <a:schemeClr val="accent4"/>
                </a:solidFill>
              </a:rPr>
              <a:t>LAUNCH PAD FOR:</a:t>
            </a:r>
            <a:r>
              <a:rPr lang="en-US" sz="1600" dirty="0">
                <a:solidFill>
                  <a:schemeClr val="accent4"/>
                </a:solidFill>
              </a:rPr>
              <a:t> </a:t>
            </a:r>
          </a:p>
          <a:p>
            <a:pPr>
              <a:lnSpc>
                <a:spcPct val="100000"/>
              </a:lnSpc>
              <a:spcBef>
                <a:spcPts val="0"/>
              </a:spcBef>
              <a:spcAft>
                <a:spcPts val="1800"/>
              </a:spcAft>
              <a:buClr>
                <a:schemeClr val="accent4"/>
              </a:buClr>
            </a:pPr>
            <a:r>
              <a:rPr lang="en-US" sz="1600" b="1" dirty="0">
                <a:solidFill>
                  <a:schemeClr val="bg1"/>
                </a:solidFill>
              </a:rPr>
              <a:t>Content Ideas: </a:t>
            </a:r>
            <a:r>
              <a:rPr lang="en-US" sz="1600" dirty="0">
                <a:solidFill>
                  <a:schemeClr val="bg1"/>
                </a:solidFill>
              </a:rPr>
              <a:t>Better understanding where content may need bolstered.</a:t>
            </a:r>
          </a:p>
          <a:p>
            <a:pPr>
              <a:lnSpc>
                <a:spcPct val="100000"/>
              </a:lnSpc>
              <a:spcBef>
                <a:spcPts val="0"/>
              </a:spcBef>
              <a:spcAft>
                <a:spcPts val="1800"/>
              </a:spcAft>
              <a:buClr>
                <a:schemeClr val="accent4"/>
              </a:buClr>
            </a:pPr>
            <a:r>
              <a:rPr lang="en-US" sz="1600" b="1" dirty="0">
                <a:solidFill>
                  <a:schemeClr val="bg1"/>
                </a:solidFill>
              </a:rPr>
              <a:t>Channel Insights: </a:t>
            </a:r>
            <a:r>
              <a:rPr lang="en-US" sz="1600" dirty="0">
                <a:solidFill>
                  <a:schemeClr val="bg1"/>
                </a:solidFill>
              </a:rPr>
              <a:t>What is it that AI is citing most? Where should we play?</a:t>
            </a:r>
          </a:p>
          <a:p>
            <a:pPr>
              <a:lnSpc>
                <a:spcPct val="100000"/>
              </a:lnSpc>
              <a:spcBef>
                <a:spcPts val="0"/>
              </a:spcBef>
              <a:spcAft>
                <a:spcPts val="1800"/>
              </a:spcAft>
              <a:buClr>
                <a:schemeClr val="accent4"/>
              </a:buClr>
            </a:pPr>
            <a:r>
              <a:rPr lang="en-US" sz="1600" b="1" dirty="0">
                <a:solidFill>
                  <a:schemeClr val="bg1"/>
                </a:solidFill>
              </a:rPr>
              <a:t>Website Updates: </a:t>
            </a:r>
            <a:r>
              <a:rPr lang="en-US" sz="1600" dirty="0">
                <a:solidFill>
                  <a:schemeClr val="bg1"/>
                </a:solidFill>
              </a:rPr>
              <a:t>Technical and content enhancements to improve AI crawlability. </a:t>
            </a:r>
          </a:p>
          <a:p>
            <a:pPr>
              <a:lnSpc>
                <a:spcPct val="100000"/>
              </a:lnSpc>
              <a:spcBef>
                <a:spcPts val="0"/>
              </a:spcBef>
              <a:spcAft>
                <a:spcPts val="1800"/>
              </a:spcAft>
              <a:buClr>
                <a:schemeClr val="accent4"/>
              </a:buClr>
            </a:pPr>
            <a:endParaRPr lang="en-US" sz="1600" dirty="0">
              <a:solidFill>
                <a:schemeClr val="bg1"/>
              </a:solidFill>
            </a:endParaRPr>
          </a:p>
        </p:txBody>
      </p:sp>
      <p:sp>
        <p:nvSpPr>
          <p:cNvPr id="2" name="Content Placeholder 4">
            <a:extLst>
              <a:ext uri="{FF2B5EF4-FFF2-40B4-BE49-F238E27FC236}">
                <a16:creationId xmlns:a16="http://schemas.microsoft.com/office/drawing/2014/main" id="{40F6C21F-FD8E-823E-A165-1570290EAA80}"/>
              </a:ext>
            </a:extLst>
          </p:cNvPr>
          <p:cNvSpPr txBox="1">
            <a:spLocks/>
          </p:cNvSpPr>
          <p:nvPr/>
        </p:nvSpPr>
        <p:spPr>
          <a:xfrm>
            <a:off x="7251613" y="2149543"/>
            <a:ext cx="3585465" cy="404086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solidFill>
                  <a:schemeClr val="accent1"/>
                </a:solidFill>
              </a:rPr>
              <a:t>Outline:</a:t>
            </a:r>
          </a:p>
          <a:p>
            <a:r>
              <a:rPr lang="en-US" sz="1400" b="1"/>
              <a:t>Audit Summary</a:t>
            </a:r>
          </a:p>
          <a:p>
            <a:pPr lvl="1"/>
            <a:r>
              <a:rPr lang="en-US" sz="1400"/>
              <a:t>Strengths, Gaps, Opportunities</a:t>
            </a:r>
          </a:p>
          <a:p>
            <a:r>
              <a:rPr lang="en-US" sz="1400" b="1"/>
              <a:t>Citation Analysis:</a:t>
            </a:r>
          </a:p>
          <a:p>
            <a:pPr lvl="1"/>
            <a:r>
              <a:rPr lang="en-US" sz="1400"/>
              <a:t>Top Website Citations</a:t>
            </a:r>
          </a:p>
          <a:p>
            <a:pPr lvl="1"/>
            <a:r>
              <a:rPr lang="en-US" sz="1400"/>
              <a:t>Channel Performance</a:t>
            </a:r>
          </a:p>
          <a:p>
            <a:pPr lvl="1"/>
            <a:r>
              <a:rPr lang="en-US" sz="1400"/>
              <a:t>AI Model Performance</a:t>
            </a:r>
          </a:p>
          <a:p>
            <a:pPr lvl="1"/>
            <a:r>
              <a:rPr lang="en-US" sz="1400"/>
              <a:t>Brand Site Performance</a:t>
            </a:r>
            <a:endParaRPr lang="en-US" sz="1400" b="1"/>
          </a:p>
          <a:p>
            <a:r>
              <a:rPr lang="en-US" sz="1400" b="1"/>
              <a:t>AI Response Analysis:</a:t>
            </a:r>
          </a:p>
          <a:p>
            <a:pPr lvl="1"/>
            <a:r>
              <a:rPr lang="en-US" sz="1400"/>
              <a:t>Narrative Overview</a:t>
            </a:r>
          </a:p>
          <a:p>
            <a:pPr lvl="1"/>
            <a:r>
              <a:rPr lang="en-US" sz="1400"/>
              <a:t>Key Themes</a:t>
            </a:r>
          </a:p>
          <a:p>
            <a:r>
              <a:rPr lang="en-US" sz="1400" b="1"/>
              <a:t>Competitive Landscape</a:t>
            </a:r>
          </a:p>
          <a:p>
            <a:r>
              <a:rPr lang="en-US" sz="1400" b="1"/>
              <a:t>Core Takeaways</a:t>
            </a:r>
          </a:p>
          <a:p>
            <a:pPr lvl="1"/>
            <a:endParaRPr lang="en-US" sz="1400" b="1"/>
          </a:p>
          <a:p>
            <a:endParaRPr lang="en-US" sz="1400"/>
          </a:p>
        </p:txBody>
      </p:sp>
    </p:spTree>
    <p:extLst>
      <p:ext uri="{BB962C8B-B14F-4D97-AF65-F5344CB8AC3E}">
        <p14:creationId xmlns:p14="http://schemas.microsoft.com/office/powerpoint/2010/main" val="4052306844"/>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924E-BD10-95A8-EF4C-F98BD134A7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3274A4-CCC6-5936-220B-B6E5C0EB71B5}"/>
              </a:ext>
            </a:extLst>
          </p:cNvPr>
          <p:cNvSpPr>
            <a:spLocks noGrp="1"/>
          </p:cNvSpPr>
          <p:nvPr>
            <p:ph type="title"/>
          </p:nvPr>
        </p:nvSpPr>
        <p:spPr>
          <a:xfrm>
            <a:off x="219456" y="585216"/>
            <a:ext cx="11286744" cy="832104"/>
          </a:xfrm>
        </p:spPr>
        <p:txBody>
          <a:bodyPr/>
          <a:lstStyle/>
          <a:p>
            <a:r>
              <a:rPr lang="en-US" b="1"/>
              <a:t>OUR EXPERIENCE</a:t>
            </a:r>
            <a:endParaRPr lang="en-US"/>
          </a:p>
        </p:txBody>
      </p:sp>
      <p:sp>
        <p:nvSpPr>
          <p:cNvPr id="2" name="Slide Number Placeholder 1">
            <a:extLst>
              <a:ext uri="{FF2B5EF4-FFF2-40B4-BE49-F238E27FC236}">
                <a16:creationId xmlns:a16="http://schemas.microsoft.com/office/drawing/2014/main" id="{0B1EE8DA-6179-018B-DE18-D57850DEB1A3}"/>
              </a:ext>
            </a:extLst>
          </p:cNvPr>
          <p:cNvSpPr>
            <a:spLocks noGrp="1"/>
          </p:cNvSpPr>
          <p:nvPr>
            <p:ph type="sldNum" sz="quarter" idx="12"/>
          </p:nvPr>
        </p:nvSpPr>
        <p:spPr/>
        <p:txBody>
          <a:bodyPr/>
          <a:lstStyle/>
          <a:p>
            <a:fld id="{6D05E8BB-FF85-4620-9298-8F3F48811131}" type="slidenum">
              <a:rPr lang="en-US" smtClean="0"/>
              <a:t>35</a:t>
            </a:fld>
            <a:endParaRPr lang="en-US"/>
          </a:p>
        </p:txBody>
      </p:sp>
      <p:sp>
        <p:nvSpPr>
          <p:cNvPr id="8" name="Text Placeholder 7">
            <a:extLst>
              <a:ext uri="{FF2B5EF4-FFF2-40B4-BE49-F238E27FC236}">
                <a16:creationId xmlns:a16="http://schemas.microsoft.com/office/drawing/2014/main" id="{BACD7BC7-759C-A526-B2AA-9940E24DDF9F}"/>
              </a:ext>
            </a:extLst>
          </p:cNvPr>
          <p:cNvSpPr>
            <a:spLocks noGrp="1"/>
          </p:cNvSpPr>
          <p:nvPr>
            <p:ph type="body" sz="quarter" idx="13"/>
          </p:nvPr>
        </p:nvSpPr>
        <p:spPr/>
        <p:txBody>
          <a:bodyPr/>
          <a:lstStyle/>
          <a:p>
            <a:r>
              <a:rPr lang="en-US"/>
              <a:t>HOW AI IS RESHAPING SEARCH STRATEGY</a:t>
            </a:r>
          </a:p>
        </p:txBody>
      </p:sp>
      <p:sp>
        <p:nvSpPr>
          <p:cNvPr id="9" name="Text Placeholder 8">
            <a:extLst>
              <a:ext uri="{FF2B5EF4-FFF2-40B4-BE49-F238E27FC236}">
                <a16:creationId xmlns:a16="http://schemas.microsoft.com/office/drawing/2014/main" id="{94995552-0F0C-CD4D-E322-7714E0234C22}"/>
              </a:ext>
            </a:extLst>
          </p:cNvPr>
          <p:cNvSpPr>
            <a:spLocks noGrp="1"/>
          </p:cNvSpPr>
          <p:nvPr>
            <p:ph type="body" sz="quarter" idx="14"/>
          </p:nvPr>
        </p:nvSpPr>
        <p:spPr>
          <a:xfrm>
            <a:off x="803388" y="2259360"/>
            <a:ext cx="3503587" cy="2820229"/>
          </a:xfrm>
        </p:spPr>
        <p:txBody>
          <a:bodyPr/>
          <a:lstStyle/>
          <a:p>
            <a:pPr marL="0" indent="0">
              <a:spcAft>
                <a:spcPts val="1200"/>
              </a:spcAft>
              <a:buNone/>
            </a:pPr>
            <a:r>
              <a:rPr lang="en-US" sz="1600" b="1"/>
              <a:t>Garden Weasel</a:t>
            </a:r>
          </a:p>
          <a:p>
            <a:pPr>
              <a:spcAft>
                <a:spcPts val="1200"/>
              </a:spcAft>
              <a:buFontTx/>
              <a:buChar char="-"/>
            </a:pPr>
            <a:r>
              <a:rPr lang="en-US" sz="1600"/>
              <a:t>B2C (Garden Tools)</a:t>
            </a:r>
          </a:p>
          <a:p>
            <a:pPr>
              <a:spcAft>
                <a:spcPts val="1200"/>
              </a:spcAft>
              <a:buFontTx/>
              <a:buChar char="-"/>
            </a:pPr>
            <a:r>
              <a:rPr lang="en-US" sz="1600" i="1"/>
              <a:t>Website vs. retailers?</a:t>
            </a:r>
          </a:p>
          <a:p>
            <a:pPr>
              <a:spcAft>
                <a:spcPts val="1200"/>
              </a:spcAft>
              <a:buFontTx/>
              <a:buChar char="-"/>
            </a:pPr>
            <a:endParaRPr lang="en-US" sz="1600"/>
          </a:p>
          <a:p>
            <a:pPr marL="0" indent="0">
              <a:spcAft>
                <a:spcPts val="1200"/>
              </a:spcAft>
              <a:buNone/>
            </a:pPr>
            <a:endParaRPr lang="en-US" sz="1600"/>
          </a:p>
        </p:txBody>
      </p:sp>
      <p:sp>
        <p:nvSpPr>
          <p:cNvPr id="49" name="TextBox 48">
            <a:extLst>
              <a:ext uri="{FF2B5EF4-FFF2-40B4-BE49-F238E27FC236}">
                <a16:creationId xmlns:a16="http://schemas.microsoft.com/office/drawing/2014/main" id="{B149AADA-3175-AE39-6B8B-14CC8B386033}"/>
              </a:ext>
            </a:extLst>
          </p:cNvPr>
          <p:cNvSpPr txBox="1"/>
          <p:nvPr/>
        </p:nvSpPr>
        <p:spPr>
          <a:xfrm>
            <a:off x="6135000" y="3479041"/>
            <a:ext cx="1564909" cy="369332"/>
          </a:xfrm>
          <a:prstGeom prst="rect">
            <a:avLst/>
          </a:prstGeom>
          <a:noFill/>
        </p:spPr>
        <p:txBody>
          <a:bodyPr wrap="square" rtlCol="0" anchor="ctr">
            <a:spAutoFit/>
          </a:bodyPr>
          <a:lstStyle/>
          <a:p>
            <a:pPr algn="ctr"/>
            <a:r>
              <a:rPr lang="en-US" b="1">
                <a:solidFill>
                  <a:schemeClr val="bg1"/>
                </a:solidFill>
              </a:rPr>
              <a:t>ANSWER</a:t>
            </a:r>
          </a:p>
        </p:txBody>
      </p:sp>
      <p:sp>
        <p:nvSpPr>
          <p:cNvPr id="3" name="Text Placeholder 8">
            <a:extLst>
              <a:ext uri="{FF2B5EF4-FFF2-40B4-BE49-F238E27FC236}">
                <a16:creationId xmlns:a16="http://schemas.microsoft.com/office/drawing/2014/main" id="{9CC61E81-C048-0C31-CF07-EDACA2B7E1DF}"/>
              </a:ext>
            </a:extLst>
          </p:cNvPr>
          <p:cNvSpPr txBox="1">
            <a:spLocks/>
          </p:cNvSpPr>
          <p:nvPr/>
        </p:nvSpPr>
        <p:spPr>
          <a:xfrm>
            <a:off x="788132" y="4677470"/>
            <a:ext cx="3479007" cy="177956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t>Bath &amp; Body Works</a:t>
            </a:r>
          </a:p>
          <a:p>
            <a:pPr>
              <a:spcAft>
                <a:spcPts val="1200"/>
              </a:spcAft>
              <a:buFontTx/>
              <a:buChar char="-"/>
            </a:pPr>
            <a:r>
              <a:rPr lang="en-US" sz="1600"/>
              <a:t>Corporate Comms</a:t>
            </a:r>
          </a:p>
          <a:p>
            <a:pPr>
              <a:spcAft>
                <a:spcPts val="1200"/>
              </a:spcAft>
              <a:buFontTx/>
              <a:buChar char="-"/>
            </a:pPr>
            <a:r>
              <a:rPr lang="en-US" sz="1600" i="1"/>
              <a:t>What are journalists looking for and using when they cover BBW?</a:t>
            </a:r>
          </a:p>
          <a:p>
            <a:pPr>
              <a:spcAft>
                <a:spcPts val="1200"/>
              </a:spcAft>
              <a:buFontTx/>
              <a:buChar char="-"/>
            </a:pPr>
            <a:endParaRPr lang="en-US" sz="1600"/>
          </a:p>
          <a:p>
            <a:pPr marL="0" indent="0">
              <a:spcAft>
                <a:spcPts val="1200"/>
              </a:spcAft>
              <a:buFont typeface="Arial" panose="020B0604020202020204" pitchFamily="34" charset="0"/>
              <a:buNone/>
            </a:pPr>
            <a:endParaRPr lang="en-US" sz="1600"/>
          </a:p>
        </p:txBody>
      </p:sp>
      <p:sp>
        <p:nvSpPr>
          <p:cNvPr id="4" name="Text Placeholder 8">
            <a:extLst>
              <a:ext uri="{FF2B5EF4-FFF2-40B4-BE49-F238E27FC236}">
                <a16:creationId xmlns:a16="http://schemas.microsoft.com/office/drawing/2014/main" id="{81E0A3B5-424B-AE7A-E82F-6644FDE9C235}"/>
              </a:ext>
            </a:extLst>
          </p:cNvPr>
          <p:cNvSpPr txBox="1">
            <a:spLocks/>
          </p:cNvSpPr>
          <p:nvPr/>
        </p:nvSpPr>
        <p:spPr>
          <a:xfrm>
            <a:off x="788132" y="1701718"/>
            <a:ext cx="3534098" cy="369332"/>
          </a:xfrm>
          <a:prstGeom prst="rect">
            <a:avLst/>
          </a:prstGeom>
          <a:solidFill>
            <a:schemeClr val="accent3"/>
          </a:solidFill>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solidFill>
                  <a:schemeClr val="bg1"/>
                </a:solidFill>
              </a:rPr>
              <a:t>COMPLETED</a:t>
            </a:r>
            <a:endParaRPr lang="en-US" sz="1600">
              <a:solidFill>
                <a:schemeClr val="bg1"/>
              </a:solidFill>
            </a:endParaRPr>
          </a:p>
          <a:p>
            <a:pPr marL="0" indent="0">
              <a:spcAft>
                <a:spcPts val="1200"/>
              </a:spcAft>
              <a:buNone/>
            </a:pPr>
            <a:endParaRPr lang="en-US" sz="1600">
              <a:solidFill>
                <a:schemeClr val="bg1"/>
              </a:solidFill>
            </a:endParaRPr>
          </a:p>
        </p:txBody>
      </p:sp>
      <p:sp>
        <p:nvSpPr>
          <p:cNvPr id="5" name="Text Placeholder 8">
            <a:extLst>
              <a:ext uri="{FF2B5EF4-FFF2-40B4-BE49-F238E27FC236}">
                <a16:creationId xmlns:a16="http://schemas.microsoft.com/office/drawing/2014/main" id="{9513A69B-8032-3C08-4D8D-F5DF5932980F}"/>
              </a:ext>
            </a:extLst>
          </p:cNvPr>
          <p:cNvSpPr txBox="1">
            <a:spLocks/>
          </p:cNvSpPr>
          <p:nvPr/>
        </p:nvSpPr>
        <p:spPr>
          <a:xfrm>
            <a:off x="788131" y="4067506"/>
            <a:ext cx="3479007" cy="369332"/>
          </a:xfrm>
          <a:prstGeom prst="rect">
            <a:avLst/>
          </a:prstGeom>
          <a:solidFill>
            <a:srgbClr val="FFC000"/>
          </a:solidFill>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t>UNDERWAY</a:t>
            </a:r>
            <a:endParaRPr lang="en-US" sz="1600"/>
          </a:p>
          <a:p>
            <a:pPr>
              <a:spcAft>
                <a:spcPts val="1200"/>
              </a:spcAft>
              <a:buFontTx/>
              <a:buChar char="-"/>
            </a:pPr>
            <a:endParaRPr lang="en-US" sz="1600"/>
          </a:p>
          <a:p>
            <a:pPr marL="0" indent="0">
              <a:spcAft>
                <a:spcPts val="1200"/>
              </a:spcAft>
              <a:buFont typeface="Arial" panose="020B0604020202020204" pitchFamily="34" charset="0"/>
              <a:buNone/>
            </a:pPr>
            <a:endParaRPr lang="en-US" sz="1600"/>
          </a:p>
        </p:txBody>
      </p:sp>
      <p:sp>
        <p:nvSpPr>
          <p:cNvPr id="6" name="Text Placeholder 8">
            <a:extLst>
              <a:ext uri="{FF2B5EF4-FFF2-40B4-BE49-F238E27FC236}">
                <a16:creationId xmlns:a16="http://schemas.microsoft.com/office/drawing/2014/main" id="{3B0E5B74-5476-5CB4-145D-ACD75548D26E}"/>
              </a:ext>
            </a:extLst>
          </p:cNvPr>
          <p:cNvSpPr txBox="1">
            <a:spLocks/>
          </p:cNvSpPr>
          <p:nvPr/>
        </p:nvSpPr>
        <p:spPr>
          <a:xfrm>
            <a:off x="4659926" y="2218201"/>
            <a:ext cx="3479007" cy="194163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t>Ohio’s 529 Savings Plan </a:t>
            </a:r>
          </a:p>
          <a:p>
            <a:pPr marL="0" indent="0">
              <a:spcAft>
                <a:spcPts val="1200"/>
              </a:spcAft>
              <a:buFont typeface="Arial" panose="020B0604020202020204" pitchFamily="34" charset="0"/>
              <a:buNone/>
            </a:pPr>
            <a:r>
              <a:rPr lang="en-US" sz="1600"/>
              <a:t>B2C (College savings fund) </a:t>
            </a:r>
          </a:p>
          <a:p>
            <a:pPr>
              <a:spcAft>
                <a:spcPts val="1200"/>
              </a:spcAft>
              <a:buFontTx/>
              <a:buChar char="-"/>
            </a:pPr>
            <a:r>
              <a:rPr lang="en-US" sz="1600" i="1"/>
              <a:t>Concerned about misinformation</a:t>
            </a:r>
          </a:p>
          <a:p>
            <a:pPr marL="0" indent="0">
              <a:spcAft>
                <a:spcPts val="1200"/>
              </a:spcAft>
              <a:buFont typeface="Arial" panose="020B0604020202020204" pitchFamily="34" charset="0"/>
              <a:buNone/>
            </a:pPr>
            <a:endParaRPr lang="en-US" sz="1600"/>
          </a:p>
        </p:txBody>
      </p:sp>
      <p:sp>
        <p:nvSpPr>
          <p:cNvPr id="10" name="Text Placeholder 8">
            <a:extLst>
              <a:ext uri="{FF2B5EF4-FFF2-40B4-BE49-F238E27FC236}">
                <a16:creationId xmlns:a16="http://schemas.microsoft.com/office/drawing/2014/main" id="{C8D68237-7060-E3AF-C254-2158127159BF}"/>
              </a:ext>
            </a:extLst>
          </p:cNvPr>
          <p:cNvSpPr txBox="1">
            <a:spLocks/>
          </p:cNvSpPr>
          <p:nvPr/>
        </p:nvSpPr>
        <p:spPr>
          <a:xfrm>
            <a:off x="4604835" y="1713120"/>
            <a:ext cx="3534098" cy="369332"/>
          </a:xfrm>
          <a:prstGeom prst="rect">
            <a:avLst/>
          </a:prstGeom>
          <a:solidFill>
            <a:schemeClr val="accent6">
              <a:lumMod val="50000"/>
            </a:schemeClr>
          </a:solidFill>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solidFill>
                  <a:schemeClr val="bg1"/>
                </a:solidFill>
              </a:rPr>
              <a:t>UP NEXT</a:t>
            </a:r>
            <a:endParaRPr lang="en-US" sz="1600">
              <a:solidFill>
                <a:schemeClr val="bg1"/>
              </a:solidFill>
            </a:endParaRPr>
          </a:p>
          <a:p>
            <a:pPr>
              <a:spcAft>
                <a:spcPts val="1200"/>
              </a:spcAft>
              <a:buFontTx/>
              <a:buChar char="-"/>
            </a:pPr>
            <a:endParaRPr lang="en-US" sz="1600">
              <a:solidFill>
                <a:schemeClr val="bg1"/>
              </a:solidFill>
            </a:endParaRPr>
          </a:p>
          <a:p>
            <a:pPr marL="0" indent="0">
              <a:spcAft>
                <a:spcPts val="1200"/>
              </a:spcAft>
              <a:buFont typeface="Arial" panose="020B0604020202020204" pitchFamily="34" charset="0"/>
              <a:buNone/>
            </a:pPr>
            <a:endParaRPr lang="en-US" sz="1600">
              <a:solidFill>
                <a:schemeClr val="bg1"/>
              </a:solidFill>
            </a:endParaRPr>
          </a:p>
        </p:txBody>
      </p:sp>
      <p:sp>
        <p:nvSpPr>
          <p:cNvPr id="11" name="Text Placeholder 8">
            <a:extLst>
              <a:ext uri="{FF2B5EF4-FFF2-40B4-BE49-F238E27FC236}">
                <a16:creationId xmlns:a16="http://schemas.microsoft.com/office/drawing/2014/main" id="{BCBEA17C-E584-14D7-1B8D-3E499860FDA7}"/>
              </a:ext>
            </a:extLst>
          </p:cNvPr>
          <p:cNvSpPr txBox="1">
            <a:spLocks/>
          </p:cNvSpPr>
          <p:nvPr/>
        </p:nvSpPr>
        <p:spPr>
          <a:xfrm>
            <a:off x="4604835" y="3706654"/>
            <a:ext cx="3988649" cy="194163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t>Creative Composites Group</a:t>
            </a:r>
          </a:p>
          <a:p>
            <a:pPr>
              <a:spcAft>
                <a:spcPts val="1200"/>
              </a:spcAft>
              <a:buFontTx/>
              <a:buChar char="-"/>
            </a:pPr>
            <a:r>
              <a:rPr lang="en-US" sz="1600"/>
              <a:t>B2B (Industrial Fiber-Reinforced Polymer)</a:t>
            </a:r>
          </a:p>
          <a:p>
            <a:pPr>
              <a:spcAft>
                <a:spcPts val="1200"/>
              </a:spcAft>
              <a:buFontTx/>
              <a:buChar char="-"/>
            </a:pPr>
            <a:r>
              <a:rPr lang="en-US" sz="1600" i="1"/>
              <a:t>5 brands, 5 customer segments, 1 site – How does that affect AI search?</a:t>
            </a:r>
          </a:p>
          <a:p>
            <a:pPr marL="0" indent="0">
              <a:spcAft>
                <a:spcPts val="1200"/>
              </a:spcAft>
              <a:buFont typeface="Arial" panose="020B0604020202020204" pitchFamily="34" charset="0"/>
              <a:buNone/>
            </a:pPr>
            <a:endParaRPr lang="en-US" sz="1600"/>
          </a:p>
        </p:txBody>
      </p:sp>
      <p:sp>
        <p:nvSpPr>
          <p:cNvPr id="13" name="Text Placeholder 8">
            <a:extLst>
              <a:ext uri="{FF2B5EF4-FFF2-40B4-BE49-F238E27FC236}">
                <a16:creationId xmlns:a16="http://schemas.microsoft.com/office/drawing/2014/main" id="{BFE23C08-E3D8-7F47-2E84-323B5F3EBF58}"/>
              </a:ext>
            </a:extLst>
          </p:cNvPr>
          <p:cNvSpPr txBox="1">
            <a:spLocks/>
          </p:cNvSpPr>
          <p:nvPr/>
        </p:nvSpPr>
        <p:spPr>
          <a:xfrm>
            <a:off x="8593485" y="2259360"/>
            <a:ext cx="3479007" cy="1941631"/>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t>Copeland</a:t>
            </a:r>
          </a:p>
          <a:p>
            <a:pPr marL="0" indent="0">
              <a:spcAft>
                <a:spcPts val="1200"/>
              </a:spcAft>
              <a:buFont typeface="Arial" panose="020B0604020202020204" pitchFamily="34" charset="0"/>
              <a:buNone/>
            </a:pPr>
            <a:r>
              <a:rPr lang="en-US" sz="1600" b="1"/>
              <a:t>Swisslog</a:t>
            </a:r>
          </a:p>
          <a:p>
            <a:pPr marL="0" indent="0">
              <a:spcAft>
                <a:spcPts val="1200"/>
              </a:spcAft>
              <a:buFont typeface="Arial" panose="020B0604020202020204" pitchFamily="34" charset="0"/>
              <a:buNone/>
            </a:pPr>
            <a:endParaRPr lang="en-US" sz="1600"/>
          </a:p>
        </p:txBody>
      </p:sp>
      <p:sp>
        <p:nvSpPr>
          <p:cNvPr id="14" name="Text Placeholder 8">
            <a:extLst>
              <a:ext uri="{FF2B5EF4-FFF2-40B4-BE49-F238E27FC236}">
                <a16:creationId xmlns:a16="http://schemas.microsoft.com/office/drawing/2014/main" id="{AE4A8B01-73C4-D157-DFC5-14A200722925}"/>
              </a:ext>
            </a:extLst>
          </p:cNvPr>
          <p:cNvSpPr txBox="1">
            <a:spLocks/>
          </p:cNvSpPr>
          <p:nvPr/>
        </p:nvSpPr>
        <p:spPr>
          <a:xfrm>
            <a:off x="8436794" y="1713120"/>
            <a:ext cx="3121348" cy="369332"/>
          </a:xfrm>
          <a:prstGeom prst="rect">
            <a:avLst/>
          </a:prstGeom>
          <a:solidFill>
            <a:schemeClr val="bg1">
              <a:lumMod val="85000"/>
            </a:schemeClr>
          </a:solidFill>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Font typeface="Arial" panose="020B0604020202020204" pitchFamily="34" charset="0"/>
              <a:buNone/>
            </a:pPr>
            <a:r>
              <a:rPr lang="en-US" sz="1600" b="1">
                <a:solidFill>
                  <a:schemeClr val="bg1"/>
                </a:solidFill>
              </a:rPr>
              <a:t>PITCHED</a:t>
            </a:r>
            <a:endParaRPr lang="en-US" sz="1600">
              <a:solidFill>
                <a:schemeClr val="bg1"/>
              </a:solidFill>
            </a:endParaRPr>
          </a:p>
        </p:txBody>
      </p:sp>
    </p:spTree>
    <p:extLst>
      <p:ext uri="{BB962C8B-B14F-4D97-AF65-F5344CB8AC3E}">
        <p14:creationId xmlns:p14="http://schemas.microsoft.com/office/powerpoint/2010/main" val="3970820563"/>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19A635-160B-3009-0A32-CD3ED1D6B0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0BD17E-BDCB-48EB-49DC-0FA23FBC151E}"/>
              </a:ext>
            </a:extLst>
          </p:cNvPr>
          <p:cNvSpPr>
            <a:spLocks noGrp="1"/>
          </p:cNvSpPr>
          <p:nvPr>
            <p:ph type="sldNum" sz="quarter" idx="12"/>
          </p:nvPr>
        </p:nvSpPr>
        <p:spPr/>
        <p:txBody>
          <a:bodyPr/>
          <a:lstStyle/>
          <a:p>
            <a:fld id="{6D05E8BB-FF85-4620-9298-8F3F48811131}" type="slidenum">
              <a:rPr lang="en-US" smtClean="0">
                <a:solidFill>
                  <a:schemeClr val="bg1"/>
                </a:solidFill>
              </a:rPr>
              <a:t>36</a:t>
            </a:fld>
            <a:endParaRPr lang="en-US">
              <a:solidFill>
                <a:schemeClr val="bg1"/>
              </a:solidFill>
            </a:endParaRPr>
          </a:p>
        </p:txBody>
      </p:sp>
      <p:sp>
        <p:nvSpPr>
          <p:cNvPr id="7" name="TextBox 6">
            <a:extLst>
              <a:ext uri="{FF2B5EF4-FFF2-40B4-BE49-F238E27FC236}">
                <a16:creationId xmlns:a16="http://schemas.microsoft.com/office/drawing/2014/main" id="{9A16B765-2776-C27E-A4AE-6618D9D5EAFB}"/>
              </a:ext>
            </a:extLst>
          </p:cNvPr>
          <p:cNvSpPr txBox="1"/>
          <p:nvPr/>
        </p:nvSpPr>
        <p:spPr>
          <a:xfrm>
            <a:off x="0" y="2395698"/>
            <a:ext cx="12192000" cy="2308324"/>
          </a:xfrm>
          <a:prstGeom prst="rect">
            <a:avLst/>
          </a:prstGeom>
          <a:noFill/>
        </p:spPr>
        <p:txBody>
          <a:bodyPr wrap="square">
            <a:spAutoFit/>
          </a:bodyPr>
          <a:lstStyle/>
          <a:p>
            <a:pPr algn="ctr"/>
            <a:r>
              <a:rPr lang="en-US" sz="7200">
                <a:solidFill>
                  <a:schemeClr val="bg1"/>
                </a:solidFill>
                <a:latin typeface="+mj-lt"/>
              </a:rPr>
              <a:t>CASE STUDY:</a:t>
            </a:r>
          </a:p>
          <a:p>
            <a:pPr algn="ctr"/>
            <a:r>
              <a:rPr lang="en-US" sz="7200">
                <a:solidFill>
                  <a:schemeClr val="bg1"/>
                </a:solidFill>
                <a:latin typeface="+mj-lt"/>
              </a:rPr>
              <a:t>GARDEN WEASEL</a:t>
            </a:r>
          </a:p>
        </p:txBody>
      </p:sp>
    </p:spTree>
    <p:extLst>
      <p:ext uri="{BB962C8B-B14F-4D97-AF65-F5344CB8AC3E}">
        <p14:creationId xmlns:p14="http://schemas.microsoft.com/office/powerpoint/2010/main" val="30084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B8AD8-3243-2642-286A-054B281C17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F06E31B-BE81-CD81-8A1F-2F6F6702CF73}"/>
              </a:ext>
            </a:extLst>
          </p:cNvPr>
          <p:cNvSpPr>
            <a:spLocks noGrp="1"/>
          </p:cNvSpPr>
          <p:nvPr>
            <p:ph type="title"/>
          </p:nvPr>
        </p:nvSpPr>
        <p:spPr>
          <a:xfrm>
            <a:off x="219456" y="585216"/>
            <a:ext cx="11286744" cy="832104"/>
          </a:xfrm>
        </p:spPr>
        <p:txBody>
          <a:bodyPr/>
          <a:lstStyle/>
          <a:p>
            <a:r>
              <a:rPr lang="en-US" b="1"/>
              <a:t>CASE EXAMPLE: GARDEN WEASEL</a:t>
            </a:r>
            <a:endParaRPr lang="en-US"/>
          </a:p>
        </p:txBody>
      </p:sp>
      <p:sp>
        <p:nvSpPr>
          <p:cNvPr id="2" name="Slide Number Placeholder 1">
            <a:extLst>
              <a:ext uri="{FF2B5EF4-FFF2-40B4-BE49-F238E27FC236}">
                <a16:creationId xmlns:a16="http://schemas.microsoft.com/office/drawing/2014/main" id="{B3ABDE3A-4183-6BBE-00E5-D94BF177AACF}"/>
              </a:ext>
            </a:extLst>
          </p:cNvPr>
          <p:cNvSpPr>
            <a:spLocks noGrp="1"/>
          </p:cNvSpPr>
          <p:nvPr>
            <p:ph type="sldNum" sz="quarter" idx="12"/>
          </p:nvPr>
        </p:nvSpPr>
        <p:spPr/>
        <p:txBody>
          <a:bodyPr/>
          <a:lstStyle/>
          <a:p>
            <a:fld id="{6D05E8BB-FF85-4620-9298-8F3F48811131}" type="slidenum">
              <a:rPr lang="en-US" smtClean="0"/>
              <a:t>37</a:t>
            </a:fld>
            <a:endParaRPr lang="en-US"/>
          </a:p>
        </p:txBody>
      </p:sp>
      <p:sp>
        <p:nvSpPr>
          <p:cNvPr id="8" name="Text Placeholder 7">
            <a:extLst>
              <a:ext uri="{FF2B5EF4-FFF2-40B4-BE49-F238E27FC236}">
                <a16:creationId xmlns:a16="http://schemas.microsoft.com/office/drawing/2014/main" id="{B69B64F7-CFE0-78C7-9FE4-1F4BADABDDCE}"/>
              </a:ext>
            </a:extLst>
          </p:cNvPr>
          <p:cNvSpPr>
            <a:spLocks noGrp="1"/>
          </p:cNvSpPr>
          <p:nvPr>
            <p:ph type="body" sz="quarter" idx="13"/>
          </p:nvPr>
        </p:nvSpPr>
        <p:spPr/>
        <p:txBody>
          <a:bodyPr/>
          <a:lstStyle/>
          <a:p>
            <a:r>
              <a:rPr lang="en-US"/>
              <a:t>HOW AI IS RESHAPING SEARCH STRATEGY</a:t>
            </a:r>
          </a:p>
        </p:txBody>
      </p:sp>
      <p:sp>
        <p:nvSpPr>
          <p:cNvPr id="49" name="TextBox 48">
            <a:extLst>
              <a:ext uri="{FF2B5EF4-FFF2-40B4-BE49-F238E27FC236}">
                <a16:creationId xmlns:a16="http://schemas.microsoft.com/office/drawing/2014/main" id="{68ACED08-FE4D-CEE7-59FE-82AA782C75D3}"/>
              </a:ext>
            </a:extLst>
          </p:cNvPr>
          <p:cNvSpPr txBox="1"/>
          <p:nvPr/>
        </p:nvSpPr>
        <p:spPr>
          <a:xfrm>
            <a:off x="6135000" y="3479041"/>
            <a:ext cx="1564909" cy="369332"/>
          </a:xfrm>
          <a:prstGeom prst="rect">
            <a:avLst/>
          </a:prstGeom>
          <a:noFill/>
        </p:spPr>
        <p:txBody>
          <a:bodyPr wrap="square" rtlCol="0" anchor="ctr">
            <a:spAutoFit/>
          </a:bodyPr>
          <a:lstStyle/>
          <a:p>
            <a:pPr algn="ctr"/>
            <a:r>
              <a:rPr lang="en-US" b="1">
                <a:solidFill>
                  <a:schemeClr val="bg1"/>
                </a:solidFill>
              </a:rPr>
              <a:t>ANSWER</a:t>
            </a:r>
          </a:p>
        </p:txBody>
      </p:sp>
      <p:sp>
        <p:nvSpPr>
          <p:cNvPr id="5" name="Content Placeholder 4">
            <a:extLst>
              <a:ext uri="{FF2B5EF4-FFF2-40B4-BE49-F238E27FC236}">
                <a16:creationId xmlns:a16="http://schemas.microsoft.com/office/drawing/2014/main" id="{7DFF2C00-B6DD-89C4-D133-FF8DFDF620C7}"/>
              </a:ext>
            </a:extLst>
          </p:cNvPr>
          <p:cNvSpPr txBox="1">
            <a:spLocks/>
          </p:cNvSpPr>
          <p:nvPr/>
        </p:nvSpPr>
        <p:spPr>
          <a:xfrm>
            <a:off x="2521527" y="1913362"/>
            <a:ext cx="3574473" cy="222590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The Situation</a:t>
            </a:r>
            <a:endParaRPr lang="en-US" sz="1800"/>
          </a:p>
          <a:p>
            <a:pPr lvl="0"/>
            <a:r>
              <a:rPr lang="en-US" sz="1400"/>
              <a:t>Garden Weasel is a 40+ year garden tool brand known for ergonomic, stand-up gardening tools</a:t>
            </a:r>
          </a:p>
          <a:p>
            <a:pPr lvl="0"/>
            <a:r>
              <a:rPr lang="en-US" sz="1400" b="1" i="1">
                <a:solidFill>
                  <a:schemeClr val="accent1"/>
                </a:solidFill>
              </a:rPr>
              <a:t>How does our brand site perform against Amazon and retailers in AI responses?</a:t>
            </a:r>
          </a:p>
        </p:txBody>
      </p:sp>
      <p:sp>
        <p:nvSpPr>
          <p:cNvPr id="6" name="Content Placeholder 4">
            <a:extLst>
              <a:ext uri="{FF2B5EF4-FFF2-40B4-BE49-F238E27FC236}">
                <a16:creationId xmlns:a16="http://schemas.microsoft.com/office/drawing/2014/main" id="{C0E7B0E2-B7A0-3BD8-AE65-2FA1AACC63A8}"/>
              </a:ext>
            </a:extLst>
          </p:cNvPr>
          <p:cNvSpPr txBox="1">
            <a:spLocks/>
          </p:cNvSpPr>
          <p:nvPr/>
        </p:nvSpPr>
        <p:spPr>
          <a:xfrm>
            <a:off x="6721900" y="1913362"/>
            <a:ext cx="4877872" cy="304458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The Approach</a:t>
            </a:r>
          </a:p>
          <a:p>
            <a:pPr marL="0" lvl="0" indent="0">
              <a:buNone/>
            </a:pPr>
            <a:r>
              <a:rPr lang="en-US" sz="1400" b="1">
                <a:solidFill>
                  <a:schemeClr val="accent1"/>
                </a:solidFill>
              </a:rPr>
              <a:t>50 journey-based prompts:</a:t>
            </a:r>
          </a:p>
          <a:p>
            <a:r>
              <a:rPr lang="en-US" sz="1400" b="1"/>
              <a:t>Unaided: </a:t>
            </a:r>
            <a:r>
              <a:rPr lang="en-US" sz="1400"/>
              <a:t>problem-solving queries with no brand mention (e.g., ‘What’s the easiest way to aerate lawn by hand?’)</a:t>
            </a:r>
          </a:p>
          <a:p>
            <a:r>
              <a:rPr lang="en-US" sz="1400" b="1"/>
              <a:t>Aided:</a:t>
            </a:r>
            <a:r>
              <a:rPr lang="en-US" sz="1400"/>
              <a:t> brand-included queries reflecting consideration and purchase intent (e.g., “Are garden weasel tools worth the money?”)</a:t>
            </a:r>
          </a:p>
          <a:p>
            <a:pPr marL="0" lvl="0" indent="0">
              <a:buNone/>
            </a:pPr>
            <a:r>
              <a:rPr lang="en-US" sz="1400" b="1">
                <a:solidFill>
                  <a:schemeClr val="accent1"/>
                </a:solidFill>
              </a:rPr>
              <a:t>5 AI Models: </a:t>
            </a:r>
          </a:p>
          <a:p>
            <a:r>
              <a:rPr lang="en-US" sz="1400"/>
              <a:t>ChatGPT, Google AI Overview, Google AI Mode, Perplexity, Gemini</a:t>
            </a:r>
          </a:p>
          <a:p>
            <a:pPr marL="0" lvl="0" indent="0">
              <a:buNone/>
            </a:pPr>
            <a:r>
              <a:rPr lang="en-US" sz="1400" b="1">
                <a:solidFill>
                  <a:schemeClr val="accent1"/>
                </a:solidFill>
              </a:rPr>
              <a:t>5 Competitors:</a:t>
            </a:r>
          </a:p>
          <a:p>
            <a:r>
              <a:rPr lang="en-US" sz="1400"/>
              <a:t>Fiskars, Corona, Yard Butler, Bully Tools, Gardena</a:t>
            </a:r>
          </a:p>
        </p:txBody>
      </p:sp>
      <p:pic>
        <p:nvPicPr>
          <p:cNvPr id="4" name="Picture 3">
            <a:extLst>
              <a:ext uri="{FF2B5EF4-FFF2-40B4-BE49-F238E27FC236}">
                <a16:creationId xmlns:a16="http://schemas.microsoft.com/office/drawing/2014/main" id="{42C1B30C-1900-2E13-058A-F66F51B39F99}"/>
              </a:ext>
            </a:extLst>
          </p:cNvPr>
          <p:cNvPicPr>
            <a:picLocks noChangeAspect="1"/>
          </p:cNvPicPr>
          <p:nvPr/>
        </p:nvPicPr>
        <p:blipFill>
          <a:blip r:embed="rId3"/>
          <a:stretch>
            <a:fillRect/>
          </a:stretch>
        </p:blipFill>
        <p:spPr>
          <a:xfrm>
            <a:off x="426212" y="1751824"/>
            <a:ext cx="1628219" cy="1968177"/>
          </a:xfrm>
          <a:prstGeom prst="rect">
            <a:avLst/>
          </a:prstGeom>
        </p:spPr>
      </p:pic>
      <p:pic>
        <p:nvPicPr>
          <p:cNvPr id="9" name="Picture 8">
            <a:extLst>
              <a:ext uri="{FF2B5EF4-FFF2-40B4-BE49-F238E27FC236}">
                <a16:creationId xmlns:a16="http://schemas.microsoft.com/office/drawing/2014/main" id="{C34F09E9-951B-3CF1-1475-EDB5493D29CE}"/>
              </a:ext>
            </a:extLst>
          </p:cNvPr>
          <p:cNvPicPr>
            <a:picLocks noChangeAspect="1"/>
          </p:cNvPicPr>
          <p:nvPr/>
        </p:nvPicPr>
        <p:blipFill>
          <a:blip r:embed="rId4"/>
          <a:srcRect r="25742"/>
          <a:stretch>
            <a:fillRect/>
          </a:stretch>
        </p:blipFill>
        <p:spPr>
          <a:xfrm>
            <a:off x="426211" y="3931404"/>
            <a:ext cx="5828593" cy="2341379"/>
          </a:xfrm>
          <a:prstGeom prst="rect">
            <a:avLst/>
          </a:prstGeom>
        </p:spPr>
      </p:pic>
    </p:spTree>
    <p:extLst>
      <p:ext uri="{BB962C8B-B14F-4D97-AF65-F5344CB8AC3E}">
        <p14:creationId xmlns:p14="http://schemas.microsoft.com/office/powerpoint/2010/main" val="996102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FF12D-03E5-DD0B-9254-1CE9059A37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3BE77FC-7A05-EA37-4A1E-8CEE5E4D783E}"/>
              </a:ext>
            </a:extLst>
          </p:cNvPr>
          <p:cNvSpPr>
            <a:spLocks noGrp="1"/>
          </p:cNvSpPr>
          <p:nvPr>
            <p:ph type="title"/>
          </p:nvPr>
        </p:nvSpPr>
        <p:spPr>
          <a:xfrm>
            <a:off x="219456" y="585216"/>
            <a:ext cx="11286744" cy="832104"/>
          </a:xfrm>
        </p:spPr>
        <p:txBody>
          <a:bodyPr/>
          <a:lstStyle/>
          <a:p>
            <a:r>
              <a:rPr lang="en-US" b="1"/>
              <a:t>WHAT WE LEARED:</a:t>
            </a:r>
            <a:br>
              <a:rPr lang="en-US" sz="4800" b="1"/>
            </a:br>
            <a:r>
              <a:rPr lang="en-US" sz="4800" b="1"/>
              <a:t>WHERE THEY SHOW UP &amp; HOW THEY’RE PERCEIVED</a:t>
            </a:r>
            <a:r>
              <a:rPr lang="en-US" sz="4800"/>
              <a:t> </a:t>
            </a:r>
          </a:p>
        </p:txBody>
      </p:sp>
      <p:sp>
        <p:nvSpPr>
          <p:cNvPr id="2" name="Slide Number Placeholder 1">
            <a:extLst>
              <a:ext uri="{FF2B5EF4-FFF2-40B4-BE49-F238E27FC236}">
                <a16:creationId xmlns:a16="http://schemas.microsoft.com/office/drawing/2014/main" id="{2DD8D09F-F99E-E7D4-67FC-FADD21C31A4B}"/>
              </a:ext>
            </a:extLst>
          </p:cNvPr>
          <p:cNvSpPr>
            <a:spLocks noGrp="1"/>
          </p:cNvSpPr>
          <p:nvPr>
            <p:ph type="sldNum" sz="quarter" idx="12"/>
          </p:nvPr>
        </p:nvSpPr>
        <p:spPr/>
        <p:txBody>
          <a:bodyPr/>
          <a:lstStyle/>
          <a:p>
            <a:fld id="{6D05E8BB-FF85-4620-9298-8F3F48811131}" type="slidenum">
              <a:rPr lang="en-US" smtClean="0"/>
              <a:t>38</a:t>
            </a:fld>
            <a:endParaRPr lang="en-US"/>
          </a:p>
        </p:txBody>
      </p:sp>
      <p:sp>
        <p:nvSpPr>
          <p:cNvPr id="8" name="Text Placeholder 7">
            <a:extLst>
              <a:ext uri="{FF2B5EF4-FFF2-40B4-BE49-F238E27FC236}">
                <a16:creationId xmlns:a16="http://schemas.microsoft.com/office/drawing/2014/main" id="{2AE89A3D-A786-D0BB-986F-3FDE56E88330}"/>
              </a:ext>
            </a:extLst>
          </p:cNvPr>
          <p:cNvSpPr>
            <a:spLocks noGrp="1"/>
          </p:cNvSpPr>
          <p:nvPr>
            <p:ph type="body" sz="quarter" idx="13"/>
          </p:nvPr>
        </p:nvSpPr>
        <p:spPr/>
        <p:txBody>
          <a:bodyPr/>
          <a:lstStyle/>
          <a:p>
            <a:r>
              <a:rPr lang="en-US"/>
              <a:t>HOW AI IS RESHAPING SEARCH STRATEGY</a:t>
            </a:r>
          </a:p>
        </p:txBody>
      </p:sp>
      <p:sp>
        <p:nvSpPr>
          <p:cNvPr id="49" name="TextBox 48">
            <a:extLst>
              <a:ext uri="{FF2B5EF4-FFF2-40B4-BE49-F238E27FC236}">
                <a16:creationId xmlns:a16="http://schemas.microsoft.com/office/drawing/2014/main" id="{CD65EA8E-BF34-0713-EA69-D6F0E590A133}"/>
              </a:ext>
            </a:extLst>
          </p:cNvPr>
          <p:cNvSpPr txBox="1"/>
          <p:nvPr/>
        </p:nvSpPr>
        <p:spPr>
          <a:xfrm>
            <a:off x="6135000" y="3479041"/>
            <a:ext cx="1564909" cy="369332"/>
          </a:xfrm>
          <a:prstGeom prst="rect">
            <a:avLst/>
          </a:prstGeom>
          <a:noFill/>
        </p:spPr>
        <p:txBody>
          <a:bodyPr wrap="square" rtlCol="0" anchor="ctr">
            <a:spAutoFit/>
          </a:bodyPr>
          <a:lstStyle/>
          <a:p>
            <a:pPr algn="ctr"/>
            <a:r>
              <a:rPr lang="en-US" b="1">
                <a:solidFill>
                  <a:schemeClr val="bg1"/>
                </a:solidFill>
              </a:rPr>
              <a:t>ANSWER</a:t>
            </a:r>
          </a:p>
        </p:txBody>
      </p:sp>
      <p:sp>
        <p:nvSpPr>
          <p:cNvPr id="4" name="Rectangle 3">
            <a:extLst>
              <a:ext uri="{FF2B5EF4-FFF2-40B4-BE49-F238E27FC236}">
                <a16:creationId xmlns:a16="http://schemas.microsoft.com/office/drawing/2014/main" id="{454B1CE5-B534-3B53-FE0B-9EC25952F812}"/>
              </a:ext>
            </a:extLst>
          </p:cNvPr>
          <p:cNvSpPr/>
          <p:nvPr/>
        </p:nvSpPr>
        <p:spPr>
          <a:xfrm>
            <a:off x="917232" y="2054431"/>
            <a:ext cx="4307912" cy="6768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F0723D2F-5D52-6841-DFF6-2150DD1A7F30}"/>
              </a:ext>
            </a:extLst>
          </p:cNvPr>
          <p:cNvSpPr txBox="1">
            <a:spLocks/>
          </p:cNvSpPr>
          <p:nvPr/>
        </p:nvSpPr>
        <p:spPr>
          <a:xfrm>
            <a:off x="917231" y="2228397"/>
            <a:ext cx="4307911" cy="304458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2400" b="1">
                <a:solidFill>
                  <a:schemeClr val="bg1"/>
                </a:solidFill>
              </a:rPr>
              <a:t>VISIBILITY </a:t>
            </a:r>
          </a:p>
          <a:p>
            <a:pPr marL="0" indent="0">
              <a:spcAft>
                <a:spcPts val="1200"/>
              </a:spcAft>
              <a:buNone/>
            </a:pPr>
            <a:r>
              <a:rPr lang="en-US" sz="1800" b="1">
                <a:solidFill>
                  <a:schemeClr val="accent1"/>
                </a:solidFill>
              </a:rPr>
              <a:t>Strong position, but narrow footprint</a:t>
            </a:r>
            <a:endParaRPr lang="en-US" sz="1800">
              <a:solidFill>
                <a:schemeClr val="accent1"/>
              </a:solidFill>
            </a:endParaRPr>
          </a:p>
          <a:p>
            <a:pPr lvl="0"/>
            <a:r>
              <a:rPr lang="en-US" sz="1200" b="1"/>
              <a:t>Position:</a:t>
            </a:r>
            <a:r>
              <a:rPr lang="en-US" sz="1200"/>
              <a:t> Garden Weasel ranked #2 in unaided brand mentions, just behind Fiskars.</a:t>
            </a:r>
          </a:p>
          <a:p>
            <a:pPr lvl="0"/>
            <a:r>
              <a:rPr lang="en-US" sz="1200" b="1"/>
              <a:t>Narrow Product Mentions: </a:t>
            </a:r>
            <a:r>
              <a:rPr lang="en-US" sz="1200"/>
              <a:t>Visibility concentrated almost entirely in nut and debris collection queries — while Fiskars appeared across ergonomics, edging, weed removal, and general tool recommendations.</a:t>
            </a:r>
          </a:p>
          <a:p>
            <a:pPr lvl="0"/>
            <a:r>
              <a:rPr lang="en-US" sz="1200" b="1"/>
              <a:t>The Rotary Cultivator </a:t>
            </a:r>
            <a:r>
              <a:rPr lang="en-US" sz="1200"/>
              <a:t>— a flagship product — did not appear in a single unaided AI response.</a:t>
            </a:r>
          </a:p>
          <a:p>
            <a:pPr lvl="0"/>
            <a:r>
              <a:rPr lang="en-US" sz="1200" b="1"/>
              <a:t>Fiskars and Corona dominated arthritis-friendly and standing-tool</a:t>
            </a:r>
            <a:r>
              <a:rPr lang="en-US" sz="1200"/>
              <a:t> queries despite Garden Weasel having directly relevant products.</a:t>
            </a:r>
          </a:p>
          <a:p>
            <a:pPr lvl="0"/>
            <a:r>
              <a:rPr lang="en-US" sz="1200" b="1"/>
              <a:t>New Competitor: </a:t>
            </a:r>
            <a:r>
              <a:rPr lang="en-US" sz="1200"/>
              <a:t>Bag-a-Nut, not in the original competitor set, emerged as a strong competitor in the same nut-gathering space.</a:t>
            </a:r>
          </a:p>
        </p:txBody>
      </p:sp>
      <p:sp>
        <p:nvSpPr>
          <p:cNvPr id="9" name="Rectangle 8">
            <a:extLst>
              <a:ext uri="{FF2B5EF4-FFF2-40B4-BE49-F238E27FC236}">
                <a16:creationId xmlns:a16="http://schemas.microsoft.com/office/drawing/2014/main" id="{1641A762-CB37-AB68-72B9-5A1F09083A85}"/>
              </a:ext>
            </a:extLst>
          </p:cNvPr>
          <p:cNvSpPr/>
          <p:nvPr/>
        </p:nvSpPr>
        <p:spPr>
          <a:xfrm>
            <a:off x="6143293" y="2054431"/>
            <a:ext cx="4307912" cy="67689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0E8ACB01-1664-683C-CD6E-49349F2C8288}"/>
              </a:ext>
            </a:extLst>
          </p:cNvPr>
          <p:cNvSpPr txBox="1">
            <a:spLocks/>
          </p:cNvSpPr>
          <p:nvPr/>
        </p:nvSpPr>
        <p:spPr>
          <a:xfrm>
            <a:off x="6135000" y="2242354"/>
            <a:ext cx="4307912" cy="40304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2400" b="1">
                <a:solidFill>
                  <a:schemeClr val="bg1"/>
                </a:solidFill>
              </a:rPr>
              <a:t>SENTIMENT</a:t>
            </a:r>
          </a:p>
          <a:p>
            <a:pPr marL="0" indent="0">
              <a:spcAft>
                <a:spcPts val="1200"/>
              </a:spcAft>
              <a:buNone/>
            </a:pPr>
            <a:r>
              <a:rPr lang="en-US" sz="1800" b="1">
                <a:solidFill>
                  <a:schemeClr val="accent5"/>
                </a:solidFill>
              </a:rPr>
              <a:t>The foundation is strong — protect it</a:t>
            </a:r>
            <a:endParaRPr lang="en-US" sz="1800">
              <a:solidFill>
                <a:schemeClr val="accent5"/>
              </a:solidFill>
            </a:endParaRPr>
          </a:p>
          <a:p>
            <a:pPr lvl="0"/>
            <a:r>
              <a:rPr lang="en-US" sz="1200" b="1"/>
              <a:t>Positive: </a:t>
            </a:r>
            <a:r>
              <a:rPr lang="en-US" sz="1200"/>
              <a:t>When AI platforms organically recommend Garden Weasel, sentiment is unanimously positive.</a:t>
            </a:r>
          </a:p>
          <a:p>
            <a:pPr lvl="0"/>
            <a:r>
              <a:rPr lang="en-US" sz="1200" b="1"/>
              <a:t>Limited Negative: </a:t>
            </a:r>
            <a:r>
              <a:rPr lang="en-US" sz="1200"/>
              <a:t>Only 9% of aided responses carried negative sentiment — all prompt-driven (users specifically asking about complaints or breakage).</a:t>
            </a:r>
          </a:p>
          <a:p>
            <a:pPr lvl="0"/>
            <a:r>
              <a:rPr lang="en-US" sz="1200" b="1"/>
              <a:t>Strengths: </a:t>
            </a:r>
            <a:r>
              <a:rPr lang="en-US" sz="1200"/>
              <a:t>AI consistently positions Garden Weasel around ergonomic/back-saving design, durable construction, and lifetime warranty.</a:t>
            </a:r>
          </a:p>
          <a:p>
            <a:pPr lvl="0"/>
            <a:r>
              <a:rPr lang="en-US" sz="1200" b="1"/>
              <a:t>Weaknesses: </a:t>
            </a:r>
            <a:r>
              <a:rPr lang="en-US" sz="1200"/>
              <a:t>AI surfaces are specific and actionable: hard/clay soil performance, tine durability under stress, and plastic component concerns.</a:t>
            </a:r>
          </a:p>
          <a:p>
            <a:pPr lvl="0"/>
            <a:r>
              <a:rPr lang="en-US" sz="1200" b="1"/>
              <a:t>Opportunities: </a:t>
            </a:r>
            <a:r>
              <a:rPr lang="en-US" sz="1200"/>
              <a:t>Address objections proactively before AI defaults to third-party narratives.</a:t>
            </a:r>
          </a:p>
        </p:txBody>
      </p:sp>
    </p:spTree>
    <p:extLst>
      <p:ext uri="{BB962C8B-B14F-4D97-AF65-F5344CB8AC3E}">
        <p14:creationId xmlns:p14="http://schemas.microsoft.com/office/powerpoint/2010/main" val="3686656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FAA2-9610-A87E-A8A8-36FCC0F8B9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9F79BE-3D48-7E7A-9CB3-6BE8C039B6D5}"/>
              </a:ext>
            </a:extLst>
          </p:cNvPr>
          <p:cNvSpPr>
            <a:spLocks noGrp="1"/>
          </p:cNvSpPr>
          <p:nvPr>
            <p:ph type="sldNum" sz="quarter" idx="12"/>
          </p:nvPr>
        </p:nvSpPr>
        <p:spPr/>
        <p:txBody>
          <a:bodyPr/>
          <a:lstStyle/>
          <a:p>
            <a:fld id="{6D05E8BB-FF85-4620-9298-8F3F48811131}" type="slidenum">
              <a:rPr lang="en-US" smtClean="0"/>
              <a:t>39</a:t>
            </a:fld>
            <a:endParaRPr lang="en-US"/>
          </a:p>
        </p:txBody>
      </p:sp>
      <p:sp>
        <p:nvSpPr>
          <p:cNvPr id="8" name="Text Placeholder 7">
            <a:extLst>
              <a:ext uri="{FF2B5EF4-FFF2-40B4-BE49-F238E27FC236}">
                <a16:creationId xmlns:a16="http://schemas.microsoft.com/office/drawing/2014/main" id="{9E8B5F8F-B173-F9A0-463F-75E7077DE3C2}"/>
              </a:ext>
            </a:extLst>
          </p:cNvPr>
          <p:cNvSpPr>
            <a:spLocks noGrp="1"/>
          </p:cNvSpPr>
          <p:nvPr>
            <p:ph type="body" sz="quarter" idx="13"/>
          </p:nvPr>
        </p:nvSpPr>
        <p:spPr/>
        <p:txBody>
          <a:bodyPr/>
          <a:lstStyle/>
          <a:p>
            <a:r>
              <a:rPr lang="en-US"/>
              <a:t>HOW AI IS RESHAPING SEARCH STRATEGY</a:t>
            </a:r>
          </a:p>
        </p:txBody>
      </p:sp>
      <p:sp>
        <p:nvSpPr>
          <p:cNvPr id="49" name="TextBox 48">
            <a:extLst>
              <a:ext uri="{FF2B5EF4-FFF2-40B4-BE49-F238E27FC236}">
                <a16:creationId xmlns:a16="http://schemas.microsoft.com/office/drawing/2014/main" id="{189C29E4-9B89-D762-CE26-CD52481DFAB8}"/>
              </a:ext>
            </a:extLst>
          </p:cNvPr>
          <p:cNvSpPr txBox="1"/>
          <p:nvPr/>
        </p:nvSpPr>
        <p:spPr>
          <a:xfrm>
            <a:off x="6135000" y="3479041"/>
            <a:ext cx="1564909" cy="369332"/>
          </a:xfrm>
          <a:prstGeom prst="rect">
            <a:avLst/>
          </a:prstGeom>
          <a:noFill/>
        </p:spPr>
        <p:txBody>
          <a:bodyPr wrap="square" rtlCol="0" anchor="ctr">
            <a:spAutoFit/>
          </a:bodyPr>
          <a:lstStyle/>
          <a:p>
            <a:pPr algn="ctr"/>
            <a:r>
              <a:rPr lang="en-US" b="1">
                <a:solidFill>
                  <a:schemeClr val="bg1"/>
                </a:solidFill>
              </a:rPr>
              <a:t>ANSWER</a:t>
            </a:r>
          </a:p>
        </p:txBody>
      </p:sp>
      <p:sp>
        <p:nvSpPr>
          <p:cNvPr id="5" name="Content Placeholder 4">
            <a:extLst>
              <a:ext uri="{FF2B5EF4-FFF2-40B4-BE49-F238E27FC236}">
                <a16:creationId xmlns:a16="http://schemas.microsoft.com/office/drawing/2014/main" id="{92F9B60F-52F1-BB6E-E156-ECBC2336E47D}"/>
              </a:ext>
            </a:extLst>
          </p:cNvPr>
          <p:cNvSpPr txBox="1">
            <a:spLocks/>
          </p:cNvSpPr>
          <p:nvPr/>
        </p:nvSpPr>
        <p:spPr>
          <a:xfrm>
            <a:off x="8281737" y="2117803"/>
            <a:ext cx="3566962" cy="197807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a:solidFill>
                  <a:schemeClr val="accent1"/>
                </a:solidFill>
              </a:rPr>
              <a:t>Unaided - Discovery Intent</a:t>
            </a:r>
            <a:endParaRPr lang="en-US" sz="1200">
              <a:solidFill>
                <a:schemeClr val="accent1"/>
              </a:solidFill>
            </a:endParaRPr>
          </a:p>
          <a:p>
            <a:pPr lvl="0"/>
            <a:r>
              <a:rPr lang="en-US"/>
              <a:t>Amazon and </a:t>
            </a:r>
            <a:r>
              <a:rPr lang="en-US" err="1"/>
              <a:t>gardenweasel.com</a:t>
            </a:r>
            <a:r>
              <a:rPr lang="en-US"/>
              <a:t> had nearly identical citation counts.</a:t>
            </a:r>
          </a:p>
          <a:p>
            <a:pPr lvl="0"/>
            <a:r>
              <a:rPr lang="en-US"/>
              <a:t>But, Amazon covered 25% of unaided prompts vs. only 10% for the brand site — Amazon’s product breadth carries it across more categories.</a:t>
            </a:r>
          </a:p>
          <a:p>
            <a:pPr lvl="0"/>
            <a:r>
              <a:rPr lang="en-US"/>
              <a:t>Social platforms (Reddit, YouTube, Facebook) dominated unaided citations overall, accounting for 13.4% of all citations combined.</a:t>
            </a:r>
          </a:p>
        </p:txBody>
      </p:sp>
      <p:sp>
        <p:nvSpPr>
          <p:cNvPr id="6" name="Content Placeholder 4">
            <a:extLst>
              <a:ext uri="{FF2B5EF4-FFF2-40B4-BE49-F238E27FC236}">
                <a16:creationId xmlns:a16="http://schemas.microsoft.com/office/drawing/2014/main" id="{613F0A71-D917-994A-2A4C-53499E5A25A6}"/>
              </a:ext>
            </a:extLst>
          </p:cNvPr>
          <p:cNvSpPr txBox="1">
            <a:spLocks/>
          </p:cNvSpPr>
          <p:nvPr/>
        </p:nvSpPr>
        <p:spPr>
          <a:xfrm>
            <a:off x="8281737" y="4098782"/>
            <a:ext cx="3663375" cy="2310175"/>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a:solidFill>
                  <a:schemeClr val="accent1"/>
                </a:solidFill>
              </a:rPr>
              <a:t>Aided - Consideration Intent</a:t>
            </a:r>
            <a:endParaRPr lang="en-US" sz="1200">
              <a:solidFill>
                <a:schemeClr val="accent1"/>
              </a:solidFill>
            </a:endParaRPr>
          </a:p>
          <a:p>
            <a:pPr lvl="0"/>
            <a:r>
              <a:rPr lang="en-US" err="1"/>
              <a:t>Gardenweasel.com</a:t>
            </a:r>
            <a:r>
              <a:rPr lang="en-US"/>
              <a:t> dominated decisively as the top cited domain.</a:t>
            </a:r>
          </a:p>
          <a:p>
            <a:pPr lvl="0"/>
            <a:r>
              <a:rPr lang="en-US"/>
              <a:t>Retailers (Home Depot, Amazon, Walmart, Lowe’s) collectively accounted for 14.3% of aided citations.</a:t>
            </a:r>
          </a:p>
          <a:p>
            <a:pPr lvl="0"/>
            <a:r>
              <a:rPr lang="en-US"/>
              <a:t>But, on the “where to buy” prompt specifically, Home Depot greatly overshadowed the brand site.</a:t>
            </a:r>
          </a:p>
        </p:txBody>
      </p:sp>
      <p:sp>
        <p:nvSpPr>
          <p:cNvPr id="3" name="Content Placeholder 4">
            <a:extLst>
              <a:ext uri="{FF2B5EF4-FFF2-40B4-BE49-F238E27FC236}">
                <a16:creationId xmlns:a16="http://schemas.microsoft.com/office/drawing/2014/main" id="{2750338B-6FB3-6DA3-7382-53820521D79D}"/>
              </a:ext>
            </a:extLst>
          </p:cNvPr>
          <p:cNvSpPr txBox="1">
            <a:spLocks/>
          </p:cNvSpPr>
          <p:nvPr/>
        </p:nvSpPr>
        <p:spPr>
          <a:xfrm>
            <a:off x="343301" y="2124943"/>
            <a:ext cx="3391461" cy="42110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solidFill>
                  <a:schemeClr val="accent1"/>
                </a:solidFill>
              </a:rPr>
              <a:t>One of Garden Weasel’s core questions — the data tells a nuanced story </a:t>
            </a:r>
          </a:p>
        </p:txBody>
      </p:sp>
      <p:grpSp>
        <p:nvGrpSpPr>
          <p:cNvPr id="4" name="Group 3">
            <a:extLst>
              <a:ext uri="{FF2B5EF4-FFF2-40B4-BE49-F238E27FC236}">
                <a16:creationId xmlns:a16="http://schemas.microsoft.com/office/drawing/2014/main" id="{DDF3CBD5-A222-0822-88A9-5CEAAF383753}"/>
              </a:ext>
            </a:extLst>
          </p:cNvPr>
          <p:cNvGrpSpPr/>
          <p:nvPr/>
        </p:nvGrpSpPr>
        <p:grpSpPr>
          <a:xfrm>
            <a:off x="4539584" y="2117803"/>
            <a:ext cx="3585465" cy="4288254"/>
            <a:chOff x="6742443" y="2182100"/>
            <a:chExt cx="5036807" cy="3569044"/>
          </a:xfrm>
        </p:grpSpPr>
        <p:sp>
          <p:nvSpPr>
            <p:cNvPr id="9" name="Triangle 8">
              <a:extLst>
                <a:ext uri="{FF2B5EF4-FFF2-40B4-BE49-F238E27FC236}">
                  <a16:creationId xmlns:a16="http://schemas.microsoft.com/office/drawing/2014/main" id="{0D47823B-DC44-75D4-AA3C-8BDC3AAB9931}"/>
                </a:ext>
              </a:extLst>
            </p:cNvPr>
            <p:cNvSpPr/>
            <p:nvPr/>
          </p:nvSpPr>
          <p:spPr>
            <a:xfrm rot="10800000">
              <a:off x="6742444" y="2182100"/>
              <a:ext cx="5036806" cy="3569042"/>
            </a:xfrm>
            <a:prstGeom prst="triangle">
              <a:avLst>
                <a:gd name="adj" fmla="val 5023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FC6CDD8-D81F-5D25-1858-BA4C0C7C22EC}"/>
                </a:ext>
              </a:extLst>
            </p:cNvPr>
            <p:cNvSpPr txBox="1"/>
            <p:nvPr/>
          </p:nvSpPr>
          <p:spPr>
            <a:xfrm>
              <a:off x="6742444" y="2182100"/>
              <a:ext cx="5013184" cy="1646321"/>
            </a:xfrm>
            <a:prstGeom prst="rect">
              <a:avLst/>
            </a:prstGeom>
            <a:solidFill>
              <a:schemeClr val="accent2">
                <a:alpha val="25506"/>
              </a:schemeClr>
            </a:solidFill>
          </p:spPr>
          <p:txBody>
            <a:bodyPr wrap="square" lIns="91440" tIns="45720" rIns="91440" bIns="45720" rtlCol="0" anchor="ctr">
              <a:noAutofit/>
            </a:bodyPr>
            <a:lstStyle/>
            <a:p>
              <a:pPr lvl="0" algn="ctr">
                <a:spcAft>
                  <a:spcPts val="600"/>
                </a:spcAft>
                <a:buClr>
                  <a:schemeClr val="accent1"/>
                </a:buClr>
              </a:pPr>
              <a:r>
                <a:rPr lang="en-US" b="1">
                  <a:solidFill>
                    <a:schemeClr val="bg1"/>
                  </a:solidFill>
                </a:rPr>
                <a:t>Unaided Questions</a:t>
              </a:r>
            </a:p>
            <a:p>
              <a:pPr lvl="0" algn="ctr">
                <a:buClr>
                  <a:schemeClr val="accent1"/>
                </a:buClr>
              </a:pPr>
              <a:r>
                <a:rPr lang="en-US" sz="1100">
                  <a:solidFill>
                    <a:schemeClr val="bg1"/>
                  </a:solidFill>
                </a:rPr>
                <a:t>Centered around the customers' </a:t>
              </a:r>
            </a:p>
            <a:p>
              <a:pPr lvl="0" algn="ctr">
                <a:spcAft>
                  <a:spcPts val="600"/>
                </a:spcAft>
                <a:buClr>
                  <a:schemeClr val="accent1"/>
                </a:buClr>
              </a:pPr>
              <a:r>
                <a:rPr lang="en-US" sz="1100">
                  <a:solidFill>
                    <a:schemeClr val="bg1"/>
                  </a:solidFill>
                </a:rPr>
                <a:t>problems or tasks </a:t>
              </a:r>
            </a:p>
            <a:p>
              <a:pPr lvl="0" algn="ctr">
                <a:spcAft>
                  <a:spcPts val="600"/>
                </a:spcAft>
                <a:buClr>
                  <a:schemeClr val="accent1"/>
                </a:buClr>
              </a:pPr>
              <a:r>
                <a:rPr lang="en-US" sz="1100">
                  <a:solidFill>
                    <a:schemeClr val="bg1"/>
                  </a:solidFill>
                </a:rPr>
                <a:t>(no brand mention)</a:t>
              </a:r>
            </a:p>
          </p:txBody>
        </p:sp>
        <p:sp>
          <p:nvSpPr>
            <p:cNvPr id="11" name="TextBox 10">
              <a:extLst>
                <a:ext uri="{FF2B5EF4-FFF2-40B4-BE49-F238E27FC236}">
                  <a16:creationId xmlns:a16="http://schemas.microsoft.com/office/drawing/2014/main" id="{FBAC8A99-BB45-B973-6064-6FE3BAD558E1}"/>
                </a:ext>
              </a:extLst>
            </p:cNvPr>
            <p:cNvSpPr txBox="1"/>
            <p:nvPr/>
          </p:nvSpPr>
          <p:spPr>
            <a:xfrm>
              <a:off x="6742443" y="3828422"/>
              <a:ext cx="5013183" cy="1922722"/>
            </a:xfrm>
            <a:prstGeom prst="rect">
              <a:avLst/>
            </a:prstGeom>
            <a:solidFill>
              <a:schemeClr val="accent2">
                <a:alpha val="71764"/>
              </a:schemeClr>
            </a:solidFill>
          </p:spPr>
          <p:txBody>
            <a:bodyPr wrap="square" lIns="91440" tIns="45720" rIns="91440" bIns="45720" rtlCol="0" anchor="ctr">
              <a:noAutofit/>
            </a:bodyPr>
            <a:lstStyle/>
            <a:p>
              <a:pPr lvl="0" algn="ctr">
                <a:spcAft>
                  <a:spcPts val="600"/>
                </a:spcAft>
                <a:buClr>
                  <a:schemeClr val="accent1"/>
                </a:buClr>
              </a:pPr>
              <a:r>
                <a:rPr lang="en-US" b="1"/>
                <a:t>Aided Questions</a:t>
              </a:r>
            </a:p>
            <a:p>
              <a:pPr lvl="0" algn="ctr">
                <a:buClr>
                  <a:schemeClr val="accent1"/>
                </a:buClr>
              </a:pPr>
              <a:r>
                <a:rPr lang="en-US" sz="1100"/>
                <a:t>When customers are asking </a:t>
              </a:r>
            </a:p>
            <a:p>
              <a:pPr lvl="0" algn="ctr">
                <a:buClr>
                  <a:schemeClr val="accent1"/>
                </a:buClr>
              </a:pPr>
              <a:r>
                <a:rPr lang="en-US" sz="1100"/>
                <a:t>by brand name</a:t>
              </a:r>
            </a:p>
          </p:txBody>
        </p:sp>
      </p:grpSp>
      <p:sp>
        <p:nvSpPr>
          <p:cNvPr id="15" name="Content Placeholder 4">
            <a:extLst>
              <a:ext uri="{FF2B5EF4-FFF2-40B4-BE49-F238E27FC236}">
                <a16:creationId xmlns:a16="http://schemas.microsoft.com/office/drawing/2014/main" id="{B2C1C4A5-2FF4-3277-6FEF-830F527EF35E}"/>
              </a:ext>
            </a:extLst>
          </p:cNvPr>
          <p:cNvSpPr txBox="1">
            <a:spLocks/>
          </p:cNvSpPr>
          <p:nvPr/>
        </p:nvSpPr>
        <p:spPr>
          <a:xfrm>
            <a:off x="246888" y="3106841"/>
            <a:ext cx="3678131" cy="218396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a:t>AI doesn’t inherently favor one over the other – brand site or retailer.</a:t>
            </a:r>
            <a:endParaRPr lang="en-US" sz="1400"/>
          </a:p>
          <a:p>
            <a:r>
              <a:rPr lang="en-US" sz="1400" b="1"/>
              <a:t>User intent </a:t>
            </a:r>
            <a:r>
              <a:rPr lang="en-US" sz="1400"/>
              <a:t>determines what sources AI selects.</a:t>
            </a:r>
          </a:p>
          <a:p>
            <a:pPr lvl="0"/>
            <a:r>
              <a:rPr lang="en-US" sz="1400" b="1"/>
              <a:t>Top-funnel: </a:t>
            </a:r>
          </a:p>
          <a:p>
            <a:pPr lvl="1"/>
            <a:r>
              <a:rPr lang="en-US" sz="1400" b="1"/>
              <a:t>Brand site &amp; retailers equal </a:t>
            </a:r>
            <a:r>
              <a:rPr lang="en-US" sz="1400"/>
              <a:t>in citations, however brand site is for only one product</a:t>
            </a:r>
          </a:p>
          <a:p>
            <a:pPr lvl="1"/>
            <a:r>
              <a:rPr lang="en-US" sz="1400" b="1"/>
              <a:t>Social carries weight</a:t>
            </a:r>
          </a:p>
          <a:p>
            <a:pPr lvl="0"/>
            <a:r>
              <a:rPr lang="en-US" sz="1400" b="1"/>
              <a:t>Mid-funnel:</a:t>
            </a:r>
          </a:p>
          <a:p>
            <a:pPr lvl="1"/>
            <a:r>
              <a:rPr lang="en-US" sz="1400" b="1"/>
              <a:t>Brand site prevails</a:t>
            </a:r>
          </a:p>
          <a:p>
            <a:pPr lvl="0"/>
            <a:r>
              <a:rPr lang="en-US" sz="1400" b="1"/>
              <a:t>Bottom-funnel:</a:t>
            </a:r>
          </a:p>
          <a:p>
            <a:pPr lvl="1"/>
            <a:r>
              <a:rPr lang="en-US" sz="1400" b="1"/>
              <a:t>Retailers</a:t>
            </a:r>
            <a:r>
              <a:rPr lang="en-US" sz="1400"/>
              <a:t> own the purchase moment.</a:t>
            </a:r>
          </a:p>
        </p:txBody>
      </p:sp>
      <p:sp>
        <p:nvSpPr>
          <p:cNvPr id="13" name="Title 6">
            <a:extLst>
              <a:ext uri="{FF2B5EF4-FFF2-40B4-BE49-F238E27FC236}">
                <a16:creationId xmlns:a16="http://schemas.microsoft.com/office/drawing/2014/main" id="{2B3CCB54-8A4E-580D-02A9-00C327ED7AF5}"/>
              </a:ext>
            </a:extLst>
          </p:cNvPr>
          <p:cNvSpPr txBox="1">
            <a:spLocks/>
          </p:cNvSpPr>
          <p:nvPr/>
        </p:nvSpPr>
        <p:spPr>
          <a:xfrm>
            <a:off x="219456" y="585216"/>
            <a:ext cx="11286744" cy="832104"/>
          </a:xfrm>
          <a:prstGeom prst="rect">
            <a:avLst/>
          </a:prstGeom>
        </p:spPr>
        <p:txBody>
          <a:bodyPr vert="horz" lIns="91440" tIns="45720" rIns="91440" bIns="45720" rtlCol="0" anchor="t" anchorCtr="0">
            <a:noAutofit/>
          </a:bodyPr>
          <a:lstStyle>
            <a:lvl1pPr algn="l" defTabSz="914400" rtl="0" eaLnBrk="1" latinLnBrk="0" hangingPunct="1">
              <a:lnSpc>
                <a:spcPct val="75000"/>
              </a:lnSpc>
              <a:spcBef>
                <a:spcPct val="0"/>
              </a:spcBef>
              <a:buNone/>
              <a:defRPr sz="6600" kern="1200">
                <a:solidFill>
                  <a:schemeClr val="tx1"/>
                </a:solidFill>
                <a:latin typeface="+mj-lt"/>
                <a:ea typeface="+mj-ea"/>
                <a:cs typeface="+mj-cs"/>
              </a:defRPr>
            </a:lvl1pPr>
          </a:lstStyle>
          <a:p>
            <a:r>
              <a:rPr lang="en-US" b="1"/>
              <a:t>WHAT WE LEARED:</a:t>
            </a:r>
            <a:br>
              <a:rPr lang="en-US" sz="4800" b="1"/>
            </a:br>
            <a:r>
              <a:rPr lang="en-US" sz="4800" b="1"/>
              <a:t>HOW DOES AI WEIGH BRAND SITE VS. RETAILERS?</a:t>
            </a:r>
            <a:endParaRPr lang="en-US" sz="4800"/>
          </a:p>
        </p:txBody>
      </p:sp>
    </p:spTree>
    <p:extLst>
      <p:ext uri="{BB962C8B-B14F-4D97-AF65-F5344CB8AC3E}">
        <p14:creationId xmlns:p14="http://schemas.microsoft.com/office/powerpoint/2010/main" val="4109234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19A635-160B-3009-0A32-CD3ED1D6B0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0BD17E-BDCB-48EB-49DC-0FA23FBC151E}"/>
              </a:ext>
            </a:extLst>
          </p:cNvPr>
          <p:cNvSpPr>
            <a:spLocks noGrp="1"/>
          </p:cNvSpPr>
          <p:nvPr>
            <p:ph type="sldNum" sz="quarter" idx="12"/>
          </p:nvPr>
        </p:nvSpPr>
        <p:spPr/>
        <p:txBody>
          <a:bodyPr/>
          <a:lstStyle/>
          <a:p>
            <a:fld id="{6D05E8BB-FF85-4620-9298-8F3F48811131}" type="slidenum">
              <a:rPr lang="en-US" smtClean="0">
                <a:solidFill>
                  <a:schemeClr val="bg1"/>
                </a:solidFill>
              </a:rPr>
              <a:t>40</a:t>
            </a:fld>
            <a:endParaRPr lang="en-US">
              <a:solidFill>
                <a:schemeClr val="bg1"/>
              </a:solidFill>
            </a:endParaRPr>
          </a:p>
        </p:txBody>
      </p:sp>
      <p:sp>
        <p:nvSpPr>
          <p:cNvPr id="7" name="TextBox 6">
            <a:extLst>
              <a:ext uri="{FF2B5EF4-FFF2-40B4-BE49-F238E27FC236}">
                <a16:creationId xmlns:a16="http://schemas.microsoft.com/office/drawing/2014/main" id="{9A16B765-2776-C27E-A4AE-6618D9D5EAFB}"/>
              </a:ext>
            </a:extLst>
          </p:cNvPr>
          <p:cNvSpPr txBox="1"/>
          <p:nvPr/>
        </p:nvSpPr>
        <p:spPr>
          <a:xfrm>
            <a:off x="0" y="2828835"/>
            <a:ext cx="12192000" cy="1200329"/>
          </a:xfrm>
          <a:prstGeom prst="rect">
            <a:avLst/>
          </a:prstGeom>
          <a:noFill/>
        </p:spPr>
        <p:txBody>
          <a:bodyPr wrap="square">
            <a:spAutoFit/>
          </a:bodyPr>
          <a:lstStyle/>
          <a:p>
            <a:pPr algn="ctr"/>
            <a:r>
              <a:rPr lang="en-US" sz="7200">
                <a:solidFill>
                  <a:schemeClr val="bg1"/>
                </a:solidFill>
                <a:latin typeface="+mj-lt"/>
              </a:rPr>
              <a:t>HOW TO ENGAGE</a:t>
            </a:r>
          </a:p>
        </p:txBody>
      </p:sp>
    </p:spTree>
    <p:extLst>
      <p:ext uri="{BB962C8B-B14F-4D97-AF65-F5344CB8AC3E}">
        <p14:creationId xmlns:p14="http://schemas.microsoft.com/office/powerpoint/2010/main" val="3115634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ED83FA-35D6-6CFC-9714-6886F2A4E2B7}"/>
              </a:ext>
            </a:extLst>
          </p:cNvPr>
          <p:cNvSpPr/>
          <p:nvPr/>
        </p:nvSpPr>
        <p:spPr>
          <a:xfrm>
            <a:off x="0" y="1"/>
            <a:ext cx="12192000" cy="16329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0793D2E6-1AA3-124D-629B-2583F0B2810B}"/>
              </a:ext>
            </a:extLst>
          </p:cNvPr>
          <p:cNvSpPr>
            <a:spLocks noGrp="1"/>
          </p:cNvSpPr>
          <p:nvPr>
            <p:ph type="title"/>
          </p:nvPr>
        </p:nvSpPr>
        <p:spPr/>
        <p:txBody>
          <a:bodyPr/>
          <a:lstStyle/>
          <a:p>
            <a:r>
              <a:rPr lang="en-US">
                <a:solidFill>
                  <a:schemeClr val="bg1"/>
                </a:solidFill>
              </a:rPr>
              <a:t>THE STARTING POINT</a:t>
            </a:r>
          </a:p>
        </p:txBody>
      </p:sp>
      <p:sp>
        <p:nvSpPr>
          <p:cNvPr id="14" name="Text Placeholder 13">
            <a:extLst>
              <a:ext uri="{FF2B5EF4-FFF2-40B4-BE49-F238E27FC236}">
                <a16:creationId xmlns:a16="http://schemas.microsoft.com/office/drawing/2014/main" id="{B762E864-3F59-5E48-6B7D-7FD8D31E7045}"/>
              </a:ext>
            </a:extLst>
          </p:cNvPr>
          <p:cNvSpPr>
            <a:spLocks noGrp="1"/>
          </p:cNvSpPr>
          <p:nvPr>
            <p:ph type="body" sz="quarter" idx="15"/>
          </p:nvPr>
        </p:nvSpPr>
        <p:spPr/>
        <p:txBody>
          <a:bodyPr/>
          <a:lstStyle/>
          <a:p>
            <a:r>
              <a:rPr lang="en-US">
                <a:solidFill>
                  <a:schemeClr val="bg1"/>
                </a:solidFill>
              </a:rPr>
              <a:t>AI Visibility Audit — How to Engage Clients in This Work</a:t>
            </a:r>
          </a:p>
        </p:txBody>
      </p:sp>
      <p:sp>
        <p:nvSpPr>
          <p:cNvPr id="19" name="Text 7"/>
          <p:cNvSpPr/>
          <p:nvPr/>
        </p:nvSpPr>
        <p:spPr>
          <a:xfrm>
            <a:off x="263520" y="1845641"/>
            <a:ext cx="4991100" cy="487680"/>
          </a:xfrm>
          <a:prstGeom prst="rect">
            <a:avLst/>
          </a:prstGeom>
          <a:noFill/>
          <a:ln/>
        </p:spPr>
        <p:txBody>
          <a:bodyPr wrap="square" lIns="91440" tIns="91440" rIns="0" bIns="0" rtlCol="0" anchor="t" anchorCtr="0"/>
          <a:lstStyle/>
          <a:p>
            <a:r>
              <a:rPr lang="en-US" sz="2000" b="1">
                <a:solidFill>
                  <a:schemeClr val="accent1"/>
                </a:solidFill>
                <a:ea typeface="Arial" pitchFamily="34" charset="-122"/>
                <a:cs typeface="Arial" pitchFamily="34" charset="-120"/>
              </a:rPr>
              <a:t>Good Candidates for an Audit</a:t>
            </a:r>
            <a:endParaRPr lang="en-US" sz="2000">
              <a:solidFill>
                <a:schemeClr val="accent1"/>
              </a:solidFill>
            </a:endParaRPr>
          </a:p>
        </p:txBody>
      </p:sp>
      <p:sp>
        <p:nvSpPr>
          <p:cNvPr id="20" name="Text 8"/>
          <p:cNvSpPr/>
          <p:nvPr/>
        </p:nvSpPr>
        <p:spPr>
          <a:xfrm>
            <a:off x="219456" y="2417902"/>
            <a:ext cx="5266944" cy="3991523"/>
          </a:xfrm>
          <a:prstGeom prst="rect">
            <a:avLst/>
          </a:prstGeom>
          <a:noFill/>
          <a:ln/>
        </p:spPr>
        <p:txBody>
          <a:bodyPr wrap="square" rtlCol="0" anchor="t"/>
          <a:lstStyle/>
          <a:p>
            <a:pPr marL="182880" indent="-182880">
              <a:spcAft>
                <a:spcPts val="1200"/>
              </a:spcAft>
              <a:buSzPct val="100000"/>
              <a:buFontTx/>
              <a:buChar char="•"/>
            </a:pPr>
            <a:r>
              <a:rPr lang="en-US" sz="1600" b="1">
                <a:solidFill>
                  <a:srgbClr val="333333"/>
                </a:solidFill>
                <a:cs typeface="Arial" pitchFamily="34" charset="-120"/>
              </a:rPr>
              <a:t>“AI Search-curious” </a:t>
            </a:r>
            <a:r>
              <a:rPr lang="en-US" sz="1600">
                <a:solidFill>
                  <a:srgbClr val="333333"/>
                </a:solidFill>
                <a:cs typeface="Arial" pitchFamily="34" charset="-120"/>
              </a:rPr>
              <a:t>clients who have asked about it</a:t>
            </a:r>
          </a:p>
          <a:p>
            <a:pPr marL="182880" indent="-182880">
              <a:spcAft>
                <a:spcPts val="1200"/>
              </a:spcAft>
              <a:buSzPct val="100000"/>
              <a:buFontTx/>
              <a:buChar char="•"/>
            </a:pPr>
            <a:r>
              <a:rPr lang="en-US" sz="1600" b="1">
                <a:solidFill>
                  <a:srgbClr val="333333"/>
                </a:solidFill>
                <a:cs typeface="Arial" pitchFamily="34" charset="-120"/>
              </a:rPr>
              <a:t>“Feeling pains of zero click” </a:t>
            </a:r>
            <a:r>
              <a:rPr lang="en-US" sz="1600">
                <a:solidFill>
                  <a:srgbClr val="333333"/>
                </a:solidFill>
                <a:cs typeface="Arial" pitchFamily="34" charset="-120"/>
              </a:rPr>
              <a:t>clients experiencing traffic declines or unexpected shifts in site performance</a:t>
            </a:r>
          </a:p>
          <a:p>
            <a:pPr marL="182880" indent="-182880">
              <a:spcAft>
                <a:spcPts val="1200"/>
              </a:spcAft>
              <a:buSzPct val="100000"/>
              <a:buFontTx/>
              <a:buChar char="•"/>
            </a:pPr>
            <a:r>
              <a:rPr lang="en-US" sz="1600" b="1">
                <a:solidFill>
                  <a:srgbClr val="333333"/>
                </a:solidFill>
                <a:cs typeface="Arial" pitchFamily="34" charset="-120"/>
              </a:rPr>
              <a:t>“New content ideas” </a:t>
            </a:r>
            <a:r>
              <a:rPr lang="en-US" sz="1600">
                <a:solidFill>
                  <a:srgbClr val="333333"/>
                </a:solidFill>
                <a:cs typeface="Arial" pitchFamily="34" charset="-120"/>
              </a:rPr>
              <a:t>brands looking for new territories for content — topics or types of content</a:t>
            </a:r>
          </a:p>
          <a:p>
            <a:pPr marL="182880" indent="-182880">
              <a:spcAft>
                <a:spcPts val="1200"/>
              </a:spcAft>
              <a:buSzPct val="100000"/>
              <a:buChar char="•"/>
            </a:pPr>
            <a:r>
              <a:rPr lang="en-US" sz="1600" b="1">
                <a:solidFill>
                  <a:srgbClr val="333333"/>
                </a:solidFill>
                <a:cs typeface="Arial" pitchFamily="34" charset="-120"/>
              </a:rPr>
              <a:t>“New ways to reach audiences” </a:t>
            </a:r>
            <a:r>
              <a:rPr lang="en-US" sz="1600">
                <a:solidFill>
                  <a:srgbClr val="333333"/>
                </a:solidFill>
                <a:cs typeface="Arial" pitchFamily="34" charset="-120"/>
              </a:rPr>
              <a:t>clients looking for new channel approaches</a:t>
            </a:r>
          </a:p>
          <a:p>
            <a:pPr marL="182880" indent="-182880">
              <a:spcAft>
                <a:spcPts val="1200"/>
              </a:spcAft>
              <a:buSzPct val="100000"/>
              <a:buChar char="•"/>
            </a:pPr>
            <a:r>
              <a:rPr lang="en-US" sz="1600" b="1">
                <a:solidFill>
                  <a:srgbClr val="333333"/>
                </a:solidFill>
                <a:cs typeface="Arial" pitchFamily="34" charset="-120"/>
              </a:rPr>
              <a:t>“Planning stage” </a:t>
            </a:r>
            <a:r>
              <a:rPr lang="en-US" sz="1600">
                <a:solidFill>
                  <a:srgbClr val="333333"/>
                </a:solidFill>
                <a:cs typeface="Arial" pitchFamily="34" charset="-120"/>
              </a:rPr>
              <a:t>clients actively in annual or campaign planning mode</a:t>
            </a:r>
          </a:p>
          <a:p>
            <a:pPr marL="182880" indent="-182880">
              <a:spcAft>
                <a:spcPts val="1200"/>
              </a:spcAft>
              <a:buSzPct val="100000"/>
              <a:buChar char="•"/>
            </a:pPr>
            <a:r>
              <a:rPr lang="en-US" sz="1600" b="1">
                <a:solidFill>
                  <a:srgbClr val="333333"/>
                </a:solidFill>
                <a:cs typeface="Arial" pitchFamily="34" charset="-120"/>
              </a:rPr>
              <a:t>“New business” </a:t>
            </a:r>
            <a:r>
              <a:rPr lang="en-US" sz="1600">
                <a:solidFill>
                  <a:srgbClr val="333333"/>
                </a:solidFill>
                <a:cs typeface="Arial" pitchFamily="34" charset="-120"/>
              </a:rPr>
              <a:t>opportunities where a quick audit might yield thought-provoking insights for the pitch</a:t>
            </a:r>
          </a:p>
        </p:txBody>
      </p:sp>
      <p:sp>
        <p:nvSpPr>
          <p:cNvPr id="2" name="Slide Number Placeholder 1">
            <a:extLst>
              <a:ext uri="{FF2B5EF4-FFF2-40B4-BE49-F238E27FC236}">
                <a16:creationId xmlns:a16="http://schemas.microsoft.com/office/drawing/2014/main" id="{5023A07A-54FD-0E35-D8ED-149AF515849A}"/>
              </a:ext>
            </a:extLst>
          </p:cNvPr>
          <p:cNvSpPr>
            <a:spLocks noGrp="1"/>
          </p:cNvSpPr>
          <p:nvPr>
            <p:ph type="sldNum" sz="quarter" idx="12"/>
          </p:nvPr>
        </p:nvSpPr>
        <p:spPr/>
        <p:txBody>
          <a:bodyPr/>
          <a:lstStyle/>
          <a:p>
            <a:fld id="{98F3EE46-22F2-40FF-849A-D81FB3452EE0}" type="slidenum">
              <a:rPr lang="en-US" smtClean="0"/>
              <a:t>41</a:t>
            </a:fld>
            <a:endParaRPr lang="en-US"/>
          </a:p>
        </p:txBody>
      </p:sp>
      <p:sp>
        <p:nvSpPr>
          <p:cNvPr id="4" name="Rectangle 3">
            <a:extLst>
              <a:ext uri="{FF2B5EF4-FFF2-40B4-BE49-F238E27FC236}">
                <a16:creationId xmlns:a16="http://schemas.microsoft.com/office/drawing/2014/main" id="{1F9F2E4B-E0DD-A32E-7C20-C79BA79317FC}"/>
              </a:ext>
            </a:extLst>
          </p:cNvPr>
          <p:cNvSpPr/>
          <p:nvPr/>
        </p:nvSpPr>
        <p:spPr>
          <a:xfrm>
            <a:off x="6491053" y="1845641"/>
            <a:ext cx="5421923" cy="47245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85CD4D1A-B20C-7ABA-00AF-F19A0926AC18}"/>
              </a:ext>
            </a:extLst>
          </p:cNvPr>
          <p:cNvSpPr txBox="1">
            <a:spLocks/>
          </p:cNvSpPr>
          <p:nvPr/>
        </p:nvSpPr>
        <p:spPr>
          <a:xfrm>
            <a:off x="6722833" y="2685395"/>
            <a:ext cx="4965891" cy="3884798"/>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b="1">
                <a:solidFill>
                  <a:schemeClr val="tx1"/>
                </a:solidFill>
              </a:rPr>
              <a:t>Check if applies:</a:t>
            </a:r>
          </a:p>
          <a:p>
            <a:pPr>
              <a:spcBef>
                <a:spcPts val="1200"/>
              </a:spcBef>
              <a:buFont typeface="MS Gothic" panose="020B0609070205080204" pitchFamily="49" charset="-128"/>
              <a:buChar char="☑"/>
            </a:pPr>
            <a:r>
              <a:rPr lang="en-US" sz="1600">
                <a:solidFill>
                  <a:schemeClr val="tx1"/>
                </a:solidFill>
              </a:rPr>
              <a:t>Customer uses AI for discovery </a:t>
            </a:r>
          </a:p>
          <a:p>
            <a:pPr>
              <a:spcBef>
                <a:spcPts val="1200"/>
              </a:spcBef>
              <a:buFont typeface="Wingdings" pitchFamily="2" charset="2"/>
              <a:buChar char="q"/>
            </a:pPr>
            <a:r>
              <a:rPr lang="en-US" sz="1600">
                <a:solidFill>
                  <a:schemeClr val="tx1"/>
                </a:solidFill>
              </a:rPr>
              <a:t>Seeing decline in website performance </a:t>
            </a:r>
          </a:p>
          <a:p>
            <a:pPr>
              <a:spcBef>
                <a:spcPts val="1200"/>
              </a:spcBef>
              <a:buFont typeface="Wingdings" pitchFamily="2" charset="2"/>
              <a:buChar char="q"/>
            </a:pPr>
            <a:r>
              <a:rPr lang="en-US" sz="1600">
                <a:solidFill>
                  <a:schemeClr val="tx1"/>
                </a:solidFill>
              </a:rPr>
              <a:t>Looking for opportunities and curious if GEO can help</a:t>
            </a:r>
          </a:p>
          <a:p>
            <a:pPr>
              <a:spcBef>
                <a:spcPts val="1200"/>
              </a:spcBef>
              <a:buFont typeface="Wingdings" pitchFamily="2" charset="2"/>
              <a:buChar char="q"/>
            </a:pPr>
            <a:r>
              <a:rPr lang="en-US" sz="1600">
                <a:solidFill>
                  <a:schemeClr val="tx1"/>
                </a:solidFill>
              </a:rPr>
              <a:t>It’s unknown how well the website is structured for AI crawlability</a:t>
            </a:r>
          </a:p>
          <a:p>
            <a:pPr>
              <a:spcBef>
                <a:spcPts val="1200"/>
              </a:spcBef>
              <a:buFont typeface="Wingdings" pitchFamily="2" charset="2"/>
              <a:buChar char="q"/>
            </a:pPr>
            <a:r>
              <a:rPr lang="en-US" sz="1600">
                <a:solidFill>
                  <a:schemeClr val="tx1"/>
                </a:solidFill>
              </a:rPr>
              <a:t>Desires to learn basics of GEO and what it might mean for business</a:t>
            </a:r>
          </a:p>
          <a:p>
            <a:pPr marL="0" indent="0">
              <a:spcBef>
                <a:spcPts val="1200"/>
              </a:spcBef>
              <a:buNone/>
            </a:pPr>
            <a:r>
              <a:rPr lang="en-US" b="1">
                <a:solidFill>
                  <a:schemeClr val="tx1"/>
                </a:solidFill>
              </a:rPr>
              <a:t>If yes to 2+, then good candidate</a:t>
            </a:r>
          </a:p>
        </p:txBody>
      </p:sp>
      <p:sp>
        <p:nvSpPr>
          <p:cNvPr id="6" name="Content Placeholder 4">
            <a:extLst>
              <a:ext uri="{FF2B5EF4-FFF2-40B4-BE49-F238E27FC236}">
                <a16:creationId xmlns:a16="http://schemas.microsoft.com/office/drawing/2014/main" id="{9DB96EF5-FD14-A80C-4C6B-2B4999F95809}"/>
              </a:ext>
            </a:extLst>
          </p:cNvPr>
          <p:cNvSpPr txBox="1">
            <a:spLocks/>
          </p:cNvSpPr>
          <p:nvPr/>
        </p:nvSpPr>
        <p:spPr>
          <a:xfrm>
            <a:off x="6684253" y="2014476"/>
            <a:ext cx="4965890" cy="466812"/>
          </a:xfrm>
          <a:prstGeom prst="rect">
            <a:avLst/>
          </a:prstGeom>
          <a:noFill/>
        </p:spPr>
        <p:txBody>
          <a:bodyPr vert="horz" lIns="91440" tIns="45720" rIns="91440" bIns="45720" rtlCol="0" anchor="t">
            <a:noAutofit/>
          </a:bodyPr>
          <a:lstStyle>
            <a:lvl1pPr marL="320040" indent="-320040" algn="l" defTabSz="914400" rtl="0" eaLnBrk="1" latinLnBrk="0" hangingPunct="1">
              <a:lnSpc>
                <a:spcPct val="110000"/>
              </a:lnSpc>
              <a:spcBef>
                <a:spcPts val="2000"/>
              </a:spcBef>
              <a:buFont typeface="Arial" panose="020B0604020202020204" pitchFamily="34" charset="0"/>
              <a:buChar char="•"/>
              <a:defRPr sz="1800" kern="1200" baseline="0">
                <a:solidFill>
                  <a:schemeClr val="accent1"/>
                </a:solidFill>
                <a:latin typeface="+mn-lt"/>
                <a:ea typeface="+mn-ea"/>
                <a:cs typeface="+mn-cs"/>
              </a:defRPr>
            </a:lvl1pPr>
            <a:lvl2pPr marL="777240" indent="-320040" algn="l" defTabSz="914400" rtl="0" eaLnBrk="1" latinLnBrk="0" hangingPunct="1">
              <a:lnSpc>
                <a:spcPct val="110000"/>
              </a:lnSpc>
              <a:spcBef>
                <a:spcPts val="1000"/>
              </a:spcBef>
              <a:buFont typeface="Work Sans Regular" pitchFamily="2" charset="0"/>
              <a:buChar char="–"/>
              <a:defRPr sz="1600" kern="1200" baseline="0">
                <a:solidFill>
                  <a:schemeClr val="accent1"/>
                </a:solidFill>
                <a:latin typeface="+mn-lt"/>
                <a:ea typeface="+mn-ea"/>
                <a:cs typeface="+mn-cs"/>
              </a:defRPr>
            </a:lvl2pPr>
            <a:lvl3pPr marL="1188720" indent="-320040" algn="l" defTabSz="914400" rtl="0" eaLnBrk="1" latinLnBrk="0" hangingPunct="1">
              <a:lnSpc>
                <a:spcPct val="110000"/>
              </a:lnSpc>
              <a:spcBef>
                <a:spcPts val="500"/>
              </a:spcBef>
              <a:buFont typeface="Arial" panose="020B0604020202020204" pitchFamily="34" charset="0"/>
              <a:buChar char="•"/>
              <a:defRPr sz="1400" kern="1200" baseline="0">
                <a:solidFill>
                  <a:schemeClr val="accent1"/>
                </a:solidFill>
                <a:latin typeface="+mn-lt"/>
                <a:ea typeface="+mn-ea"/>
                <a:cs typeface="+mn-cs"/>
              </a:defRPr>
            </a:lvl3pPr>
            <a:lvl4pPr marL="1554480" indent="-292608" algn="l" defTabSz="914400" rtl="0" eaLnBrk="1" latinLnBrk="0" hangingPunct="1">
              <a:lnSpc>
                <a:spcPct val="110000"/>
              </a:lnSpc>
              <a:spcBef>
                <a:spcPts val="200"/>
              </a:spcBef>
              <a:buFont typeface="Work Sans Regular" pitchFamily="2" charset="0"/>
              <a:buChar char="–"/>
              <a:defRPr sz="1200" kern="1200" baseline="0">
                <a:solidFill>
                  <a:schemeClr val="accent1"/>
                </a:solidFill>
                <a:latin typeface="+mn-lt"/>
                <a:ea typeface="+mn-ea"/>
                <a:cs typeface="+mn-cs"/>
              </a:defRPr>
            </a:lvl4pPr>
            <a:lvl5pPr marL="1920240" indent="-274320" algn="l" defTabSz="914400" rtl="0" eaLnBrk="1" latinLnBrk="0" hangingPunct="1">
              <a:lnSpc>
                <a:spcPct val="110000"/>
              </a:lnSpc>
              <a:spcBef>
                <a:spcPts val="100"/>
              </a:spcBef>
              <a:buFont typeface="Arial" panose="020B0604020202020204" pitchFamily="34" charset="0"/>
              <a:buChar char="•"/>
              <a:defRPr sz="1100"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US" sz="2800" b="1">
                <a:solidFill>
                  <a:schemeClr val="tx1"/>
                </a:solidFill>
              </a:rPr>
              <a:t>Opportunity Checklist</a:t>
            </a:r>
            <a:endParaRPr lang="en-US" sz="2800">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994B5-456E-09D3-E16A-8D91150ED485}"/>
            </a:ext>
          </a:extLst>
        </p:cNvPr>
        <p:cNvGrpSpPr/>
        <p:nvPr/>
      </p:nvGrpSpPr>
      <p:grpSpPr>
        <a:xfrm>
          <a:off x="0" y="0"/>
          <a:ext cx="0" cy="0"/>
          <a:chOff x="0" y="0"/>
          <a:chExt cx="0" cy="0"/>
        </a:xfrm>
      </p:grpSpPr>
      <p:pic>
        <p:nvPicPr>
          <p:cNvPr id="3076" name="Picture 4" descr="Profile image">
            <a:extLst>
              <a:ext uri="{FF2B5EF4-FFF2-40B4-BE49-F238E27FC236}">
                <a16:creationId xmlns:a16="http://schemas.microsoft.com/office/drawing/2014/main" id="{7C7C4533-A6BE-80B4-6DA8-841AD8C3D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739" y="2701498"/>
            <a:ext cx="3570681" cy="35706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Profile image">
            <a:extLst>
              <a:ext uri="{FF2B5EF4-FFF2-40B4-BE49-F238E27FC236}">
                <a16:creationId xmlns:a16="http://schemas.microsoft.com/office/drawing/2014/main" id="{F85BE2C8-4EB6-BDCD-B8E1-435AE468D8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24" y="2701499"/>
            <a:ext cx="3570681" cy="357068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54DE5E84-C175-87E4-8BAD-30064B912420}"/>
              </a:ext>
            </a:extLst>
          </p:cNvPr>
          <p:cNvSpPr>
            <a:spLocks noGrp="1"/>
          </p:cNvSpPr>
          <p:nvPr>
            <p:ph type="title"/>
          </p:nvPr>
        </p:nvSpPr>
        <p:spPr>
          <a:xfrm>
            <a:off x="219456" y="585216"/>
            <a:ext cx="11286744" cy="832104"/>
          </a:xfrm>
        </p:spPr>
        <p:txBody>
          <a:bodyPr/>
          <a:lstStyle/>
          <a:p>
            <a:r>
              <a:rPr lang="en-US" b="1"/>
              <a:t>WHO TO CONTACT</a:t>
            </a:r>
            <a:endParaRPr lang="en-US"/>
          </a:p>
        </p:txBody>
      </p:sp>
      <p:sp>
        <p:nvSpPr>
          <p:cNvPr id="2" name="Slide Number Placeholder 1">
            <a:extLst>
              <a:ext uri="{FF2B5EF4-FFF2-40B4-BE49-F238E27FC236}">
                <a16:creationId xmlns:a16="http://schemas.microsoft.com/office/drawing/2014/main" id="{297B5C06-19A9-A7AF-835A-B720D811D534}"/>
              </a:ext>
            </a:extLst>
          </p:cNvPr>
          <p:cNvSpPr>
            <a:spLocks noGrp="1"/>
          </p:cNvSpPr>
          <p:nvPr>
            <p:ph type="sldNum" sz="quarter" idx="12"/>
          </p:nvPr>
        </p:nvSpPr>
        <p:spPr/>
        <p:txBody>
          <a:bodyPr/>
          <a:lstStyle/>
          <a:p>
            <a:fld id="{6D05E8BB-FF85-4620-9298-8F3F48811131}" type="slidenum">
              <a:rPr lang="en-US" smtClean="0"/>
              <a:t>42</a:t>
            </a:fld>
            <a:endParaRPr lang="en-US"/>
          </a:p>
        </p:txBody>
      </p:sp>
      <p:sp>
        <p:nvSpPr>
          <p:cNvPr id="8" name="Text Placeholder 7">
            <a:extLst>
              <a:ext uri="{FF2B5EF4-FFF2-40B4-BE49-F238E27FC236}">
                <a16:creationId xmlns:a16="http://schemas.microsoft.com/office/drawing/2014/main" id="{6F8B6231-1653-187B-0ADF-65B11E9C9DE3}"/>
              </a:ext>
            </a:extLst>
          </p:cNvPr>
          <p:cNvSpPr>
            <a:spLocks noGrp="1"/>
          </p:cNvSpPr>
          <p:nvPr>
            <p:ph type="body" sz="quarter" idx="13"/>
          </p:nvPr>
        </p:nvSpPr>
        <p:spPr/>
        <p:txBody>
          <a:bodyPr/>
          <a:lstStyle/>
          <a:p>
            <a:r>
              <a:rPr lang="en-US"/>
              <a:t>HOW AI IS RESHAPING SEARCH STRATEGY</a:t>
            </a:r>
          </a:p>
        </p:txBody>
      </p:sp>
      <p:pic>
        <p:nvPicPr>
          <p:cNvPr id="3082" name="Picture 10" descr="Profile photo for Katie Tebbutt">
            <a:extLst>
              <a:ext uri="{FF2B5EF4-FFF2-40B4-BE49-F238E27FC236}">
                <a16:creationId xmlns:a16="http://schemas.microsoft.com/office/drawing/2014/main" id="{44817FDD-C212-DE04-DD7E-C8B4A007F1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5354" y="2701498"/>
            <a:ext cx="3570680" cy="357068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a:extLst>
              <a:ext uri="{FF2B5EF4-FFF2-40B4-BE49-F238E27FC236}">
                <a16:creationId xmlns:a16="http://schemas.microsoft.com/office/drawing/2014/main" id="{BA646103-9AC3-8CA4-C6EC-9ECC4823BC5A}"/>
              </a:ext>
            </a:extLst>
          </p:cNvPr>
          <p:cNvSpPr>
            <a:spLocks noGrp="1"/>
          </p:cNvSpPr>
          <p:nvPr>
            <p:ph type="body" sz="quarter" idx="14"/>
          </p:nvPr>
        </p:nvSpPr>
        <p:spPr>
          <a:xfrm>
            <a:off x="494124" y="1666348"/>
            <a:ext cx="3570681" cy="832104"/>
          </a:xfrm>
        </p:spPr>
        <p:txBody>
          <a:bodyPr/>
          <a:lstStyle/>
          <a:p>
            <a:pPr marL="0" indent="0">
              <a:buNone/>
            </a:pPr>
            <a:r>
              <a:rPr lang="en-US" sz="2000" b="1"/>
              <a:t>Sean Cowan</a:t>
            </a:r>
            <a:br>
              <a:rPr lang="en-US" sz="2000" b="1"/>
            </a:br>
            <a:r>
              <a:rPr lang="en-US" sz="1400"/>
              <a:t>EVP, Digital Experience</a:t>
            </a:r>
            <a:br>
              <a:rPr lang="en-US" sz="1400"/>
            </a:br>
            <a:r>
              <a:rPr lang="en-US" u="sng">
                <a:hlinkClick r:id="rId6"/>
              </a:rPr>
              <a:t>scowan@theshipyard.com</a:t>
            </a:r>
            <a:r>
              <a:rPr lang="en-US"/>
              <a:t> </a:t>
            </a:r>
            <a:endParaRPr lang="en-US" b="1"/>
          </a:p>
          <a:p>
            <a:pPr marL="0" indent="0">
              <a:buNone/>
            </a:pPr>
            <a:endParaRPr lang="en-US" sz="1400"/>
          </a:p>
        </p:txBody>
      </p:sp>
      <p:sp>
        <p:nvSpPr>
          <p:cNvPr id="9" name="Text Placeholder 5">
            <a:extLst>
              <a:ext uri="{FF2B5EF4-FFF2-40B4-BE49-F238E27FC236}">
                <a16:creationId xmlns:a16="http://schemas.microsoft.com/office/drawing/2014/main" id="{0F56BA98-9AED-2253-FF70-E5E2197A3FA2}"/>
              </a:ext>
            </a:extLst>
          </p:cNvPr>
          <p:cNvSpPr txBox="1">
            <a:spLocks/>
          </p:cNvSpPr>
          <p:nvPr/>
        </p:nvSpPr>
        <p:spPr>
          <a:xfrm>
            <a:off x="4264740" y="1666348"/>
            <a:ext cx="3570681" cy="83210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t>Mike </a:t>
            </a:r>
            <a:r>
              <a:rPr lang="en-US" sz="2000" b="1" err="1"/>
              <a:t>Klebacha</a:t>
            </a:r>
            <a:br>
              <a:rPr lang="en-US" sz="2000" b="1"/>
            </a:br>
            <a:r>
              <a:rPr lang="en-US" sz="1400"/>
              <a:t>AVP, Digital Strategy</a:t>
            </a:r>
            <a:br>
              <a:rPr lang="en-US" sz="1800"/>
            </a:br>
            <a:r>
              <a:rPr lang="en-US" u="sng">
                <a:hlinkClick r:id="rId7"/>
              </a:rPr>
              <a:t>mklebacha@theshipyard.com</a:t>
            </a:r>
            <a:r>
              <a:rPr lang="en-US"/>
              <a:t> </a:t>
            </a:r>
          </a:p>
          <a:p>
            <a:pPr marL="0" indent="0">
              <a:buNone/>
            </a:pPr>
            <a:endParaRPr lang="en-US" sz="1400" b="1"/>
          </a:p>
        </p:txBody>
      </p:sp>
      <p:sp>
        <p:nvSpPr>
          <p:cNvPr id="10" name="Text Placeholder 5">
            <a:extLst>
              <a:ext uri="{FF2B5EF4-FFF2-40B4-BE49-F238E27FC236}">
                <a16:creationId xmlns:a16="http://schemas.microsoft.com/office/drawing/2014/main" id="{E7D8C30A-5B53-EDD4-32E3-14F4BC07FE48}"/>
              </a:ext>
            </a:extLst>
          </p:cNvPr>
          <p:cNvSpPr txBox="1">
            <a:spLocks/>
          </p:cNvSpPr>
          <p:nvPr/>
        </p:nvSpPr>
        <p:spPr>
          <a:xfrm>
            <a:off x="8035354" y="1666348"/>
            <a:ext cx="3944312" cy="832104"/>
          </a:xfrm>
          <a:prstGeom prst="rect">
            <a:avLst/>
          </a:prstGeom>
        </p:spPr>
        <p:txBody>
          <a:bodyPr vert="horz" lIns="91440" tIns="45720" rIns="91440" bIns="45720" rtlCol="0" anchor="t" anchorCtr="0">
            <a:noAutofit/>
          </a:bodyPr>
          <a:lstStyle>
            <a:lvl1pPr marL="228600" indent="-228600" algn="l" defTabSz="914400" rtl="0" eaLnBrk="1" latinLnBrk="0" hangingPunct="1">
              <a:lnSpc>
                <a:spcPct val="110000"/>
              </a:lnSpc>
              <a:spcBef>
                <a:spcPts val="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t>Katie Tebbutt</a:t>
            </a:r>
            <a:br>
              <a:rPr lang="en-US" sz="2000" b="1"/>
            </a:br>
            <a:r>
              <a:rPr lang="en-US" sz="1400"/>
              <a:t>VP, Director of Digital Project Management</a:t>
            </a:r>
            <a:br>
              <a:rPr lang="en-US" sz="1400"/>
            </a:br>
            <a:r>
              <a:rPr lang="en-US" u="sng">
                <a:hlinkClick r:id="rId8"/>
              </a:rPr>
              <a:t>ktebbutt@theshipyard.com</a:t>
            </a:r>
            <a:r>
              <a:rPr lang="en-US" sz="1400"/>
              <a:t> </a:t>
            </a:r>
            <a:endParaRPr lang="en-US" sz="1400" b="1"/>
          </a:p>
        </p:txBody>
      </p:sp>
    </p:spTree>
    <p:extLst>
      <p:ext uri="{BB962C8B-B14F-4D97-AF65-F5344CB8AC3E}">
        <p14:creationId xmlns:p14="http://schemas.microsoft.com/office/powerpoint/2010/main" val="1244563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39FB3-B675-7D5E-669D-CEF848BE90D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62CD7F45-3B0A-5834-B455-8824A91FDAC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90B4F7A2-D4AC-C652-1C54-EED94A070F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9864" y="5164667"/>
            <a:ext cx="5285591" cy="1290789"/>
          </a:xfrm>
          <a:prstGeom prst="rect">
            <a:avLst/>
          </a:prstGeom>
        </p:spPr>
      </p:pic>
      <p:sp>
        <p:nvSpPr>
          <p:cNvPr id="5" name="TextBox 4">
            <a:extLst>
              <a:ext uri="{FF2B5EF4-FFF2-40B4-BE49-F238E27FC236}">
                <a16:creationId xmlns:a16="http://schemas.microsoft.com/office/drawing/2014/main" id="{EBC7A5EC-6C9F-C459-7D6B-10ABCB8F3A58}"/>
              </a:ext>
            </a:extLst>
          </p:cNvPr>
          <p:cNvSpPr txBox="1"/>
          <p:nvPr/>
        </p:nvSpPr>
        <p:spPr>
          <a:xfrm>
            <a:off x="-1061884" y="4011561"/>
            <a:ext cx="0" cy="0"/>
          </a:xfrm>
          <a:prstGeom prst="rect">
            <a:avLst/>
          </a:prstGeom>
          <a:noFill/>
        </p:spPr>
        <p:txBody>
          <a:bodyPr wrap="none" rtlCol="0">
            <a:noAutofit/>
          </a:bodyPr>
          <a:lstStyle/>
          <a:p>
            <a:pPr marL="171450" indent="-171450" algn="l">
              <a:buFont typeface="Arial" panose="020B0604020202020204" pitchFamily="34" charset="0"/>
              <a:buChar char="•"/>
            </a:pPr>
            <a:endParaRPr lang="en-US" err="1">
              <a:solidFill>
                <a:schemeClr val="accent1"/>
              </a:solidFill>
            </a:endParaRPr>
          </a:p>
        </p:txBody>
      </p:sp>
      <p:sp>
        <p:nvSpPr>
          <p:cNvPr id="13" name="Subtitle 1">
            <a:extLst>
              <a:ext uri="{FF2B5EF4-FFF2-40B4-BE49-F238E27FC236}">
                <a16:creationId xmlns:a16="http://schemas.microsoft.com/office/drawing/2014/main" id="{6D653E6D-00DA-9D5C-F697-57F1ADF9F913}"/>
              </a:ext>
            </a:extLst>
          </p:cNvPr>
          <p:cNvSpPr txBox="1">
            <a:spLocks/>
          </p:cNvSpPr>
          <p:nvPr/>
        </p:nvSpPr>
        <p:spPr>
          <a:xfrm>
            <a:off x="8890019" y="340585"/>
            <a:ext cx="3006417" cy="365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a:solidFill>
                  <a:schemeClr val="bg1"/>
                </a:solidFill>
              </a:rPr>
              <a:t>DECEMBER 2025</a:t>
            </a:r>
          </a:p>
        </p:txBody>
      </p:sp>
      <p:sp>
        <p:nvSpPr>
          <p:cNvPr id="14" name="Title 2">
            <a:extLst>
              <a:ext uri="{FF2B5EF4-FFF2-40B4-BE49-F238E27FC236}">
                <a16:creationId xmlns:a16="http://schemas.microsoft.com/office/drawing/2014/main" id="{AC1B240C-4998-BE2B-466F-1581728D962A}"/>
              </a:ext>
            </a:extLst>
          </p:cNvPr>
          <p:cNvSpPr txBox="1">
            <a:spLocks/>
          </p:cNvSpPr>
          <p:nvPr/>
        </p:nvSpPr>
        <p:spPr>
          <a:xfrm>
            <a:off x="159386" y="813818"/>
            <a:ext cx="4121670" cy="2261892"/>
          </a:xfrm>
          <a:prstGeom prst="rect">
            <a:avLst/>
          </a:prstGeom>
        </p:spPr>
        <p:txBody>
          <a:bodyPr/>
          <a:lstStyle>
            <a:lvl1pPr algn="l" defTabSz="914400" rtl="0" eaLnBrk="1" latinLnBrk="0" hangingPunct="1">
              <a:lnSpc>
                <a:spcPct val="75000"/>
              </a:lnSpc>
              <a:spcBef>
                <a:spcPct val="0"/>
              </a:spcBef>
              <a:buNone/>
              <a:defRPr sz="6600" kern="1200">
                <a:solidFill>
                  <a:schemeClr val="tx1"/>
                </a:solidFill>
                <a:latin typeface="+mj-lt"/>
                <a:ea typeface="+mj-ea"/>
                <a:cs typeface="+mj-cs"/>
              </a:defRPr>
            </a:lvl1pPr>
          </a:lstStyle>
          <a:p>
            <a:r>
              <a:rPr lang="en-US" sz="5400">
                <a:solidFill>
                  <a:schemeClr val="bg1"/>
                </a:solidFill>
              </a:rPr>
              <a:t>CURRENT MECHANICS OF </a:t>
            </a:r>
            <a:br>
              <a:rPr lang="en-US" sz="5400">
                <a:solidFill>
                  <a:schemeClr val="bg1"/>
                </a:solidFill>
              </a:rPr>
            </a:br>
            <a:r>
              <a:rPr lang="en-US" sz="5400">
                <a:solidFill>
                  <a:schemeClr val="bg1"/>
                </a:solidFill>
              </a:rPr>
              <a:t>AIO/GEO</a:t>
            </a:r>
          </a:p>
        </p:txBody>
      </p:sp>
      <p:sp>
        <p:nvSpPr>
          <p:cNvPr id="15" name="Text Placeholder 3">
            <a:extLst>
              <a:ext uri="{FF2B5EF4-FFF2-40B4-BE49-F238E27FC236}">
                <a16:creationId xmlns:a16="http://schemas.microsoft.com/office/drawing/2014/main" id="{53E3910A-DD56-65E2-0F0B-899676813897}"/>
              </a:ext>
            </a:extLst>
          </p:cNvPr>
          <p:cNvSpPr txBox="1">
            <a:spLocks/>
          </p:cNvSpPr>
          <p:nvPr/>
        </p:nvSpPr>
        <p:spPr>
          <a:xfrm>
            <a:off x="195962" y="340585"/>
            <a:ext cx="6573838" cy="4968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ork Sans" pitchFamily="2"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bg1"/>
                </a:solidFill>
              </a:rPr>
              <a:t>AIO/GEO</a:t>
            </a:r>
          </a:p>
        </p:txBody>
      </p:sp>
    </p:spTree>
    <p:extLst>
      <p:ext uri="{BB962C8B-B14F-4D97-AF65-F5344CB8AC3E}">
        <p14:creationId xmlns:p14="http://schemas.microsoft.com/office/powerpoint/2010/main" val="2394827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AC0A-609F-15DE-780D-9BB4D2BCE2B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4BFCBB8-B215-DB5A-A85E-B338DC0A59AA}"/>
              </a:ext>
            </a:extLst>
          </p:cNvPr>
          <p:cNvSpPr>
            <a:spLocks noGrp="1"/>
          </p:cNvSpPr>
          <p:nvPr>
            <p:ph type="title"/>
          </p:nvPr>
        </p:nvSpPr>
        <p:spPr>
          <a:xfrm>
            <a:off x="219456" y="585216"/>
            <a:ext cx="11134344" cy="832104"/>
          </a:xfrm>
        </p:spPr>
        <p:txBody>
          <a:bodyPr/>
          <a:lstStyle/>
          <a:p>
            <a:r>
              <a:rPr lang="en-US"/>
              <a:t>INSTAGRAM/META CITATIONS</a:t>
            </a:r>
          </a:p>
        </p:txBody>
      </p:sp>
      <p:sp>
        <p:nvSpPr>
          <p:cNvPr id="4" name="Slide Number Placeholder 3">
            <a:extLst>
              <a:ext uri="{FF2B5EF4-FFF2-40B4-BE49-F238E27FC236}">
                <a16:creationId xmlns:a16="http://schemas.microsoft.com/office/drawing/2014/main" id="{F90E1418-F266-7830-369C-3132B8B97A11}"/>
              </a:ext>
            </a:extLst>
          </p:cNvPr>
          <p:cNvSpPr>
            <a:spLocks noGrp="1"/>
          </p:cNvSpPr>
          <p:nvPr>
            <p:ph type="sldNum" sz="quarter" idx="12"/>
          </p:nvPr>
        </p:nvSpPr>
        <p:spPr/>
        <p:txBody>
          <a:bodyPr/>
          <a:lstStyle/>
          <a:p>
            <a:fld id="{6D05E8BB-FF85-4620-9298-8F3F48811131}" type="slidenum">
              <a:rPr lang="en-US" smtClean="0"/>
              <a:t>44</a:t>
            </a:fld>
            <a:endParaRPr lang="en-US"/>
          </a:p>
        </p:txBody>
      </p:sp>
      <p:sp>
        <p:nvSpPr>
          <p:cNvPr id="14" name="Text Placeholder 13">
            <a:extLst>
              <a:ext uri="{FF2B5EF4-FFF2-40B4-BE49-F238E27FC236}">
                <a16:creationId xmlns:a16="http://schemas.microsoft.com/office/drawing/2014/main" id="{EAD4F408-857F-FCA6-5E95-A4B937934C9F}"/>
              </a:ext>
            </a:extLst>
          </p:cNvPr>
          <p:cNvSpPr>
            <a:spLocks noGrp="1"/>
          </p:cNvSpPr>
          <p:nvPr>
            <p:ph type="body" sz="quarter" idx="13"/>
          </p:nvPr>
        </p:nvSpPr>
        <p:spPr/>
        <p:txBody>
          <a:bodyPr/>
          <a:lstStyle/>
          <a:p>
            <a:r>
              <a:rPr lang="en-US"/>
              <a:t>CURRENT MECHANICS OF AIO/GEO</a:t>
            </a:r>
          </a:p>
        </p:txBody>
      </p:sp>
      <p:sp>
        <p:nvSpPr>
          <p:cNvPr id="16" name="Text Placeholder 15">
            <a:extLst>
              <a:ext uri="{FF2B5EF4-FFF2-40B4-BE49-F238E27FC236}">
                <a16:creationId xmlns:a16="http://schemas.microsoft.com/office/drawing/2014/main" id="{A364EEBF-EC00-12E8-F1AA-8E50147EB15A}"/>
              </a:ext>
            </a:extLst>
          </p:cNvPr>
          <p:cNvSpPr>
            <a:spLocks noGrp="1"/>
          </p:cNvSpPr>
          <p:nvPr>
            <p:ph type="body" sz="quarter" idx="15"/>
          </p:nvPr>
        </p:nvSpPr>
        <p:spPr/>
        <p:txBody>
          <a:bodyPr/>
          <a:lstStyle/>
          <a:p>
            <a:r>
              <a:rPr lang="en-US"/>
              <a:t>While META is accessible to Search &amp; LLMs as of November 2025, not all LLMs use the data the same.</a:t>
            </a:r>
          </a:p>
        </p:txBody>
      </p:sp>
      <p:graphicFrame>
        <p:nvGraphicFramePr>
          <p:cNvPr id="9" name="Table 0">
            <a:extLst>
              <a:ext uri="{FF2B5EF4-FFF2-40B4-BE49-F238E27FC236}">
                <a16:creationId xmlns:a16="http://schemas.microsoft.com/office/drawing/2014/main" id="{5D007BF1-8AE5-DDEB-BE98-D717583CC322}"/>
              </a:ext>
            </a:extLst>
          </p:cNvPr>
          <p:cNvGraphicFramePr>
            <a:graphicFrameLocks noGrp="1"/>
          </p:cNvGraphicFramePr>
          <p:nvPr>
            <p:extLst>
              <p:ext uri="{D42A27DB-BD31-4B8C-83A1-F6EECF244321}">
                <p14:modId xmlns:p14="http://schemas.microsoft.com/office/powerpoint/2010/main" val="1713802667"/>
              </p:ext>
            </p:extLst>
          </p:nvPr>
        </p:nvGraphicFramePr>
        <p:xfrm>
          <a:off x="342901" y="1905000"/>
          <a:ext cx="11506200" cy="4610099"/>
        </p:xfrm>
        <a:graphic>
          <a:graphicData uri="http://schemas.openxmlformats.org/drawingml/2006/table">
            <a:tbl>
              <a:tblPr/>
              <a:tblGrid>
                <a:gridCol w="1645862">
                  <a:extLst>
                    <a:ext uri="{9D8B030D-6E8A-4147-A177-3AD203B41FA5}">
                      <a16:colId xmlns:a16="http://schemas.microsoft.com/office/drawing/2014/main" val="20000"/>
                    </a:ext>
                  </a:extLst>
                </a:gridCol>
                <a:gridCol w="2248545">
                  <a:extLst>
                    <a:ext uri="{9D8B030D-6E8A-4147-A177-3AD203B41FA5}">
                      <a16:colId xmlns:a16="http://schemas.microsoft.com/office/drawing/2014/main" val="20001"/>
                    </a:ext>
                  </a:extLst>
                </a:gridCol>
                <a:gridCol w="3097823">
                  <a:extLst>
                    <a:ext uri="{9D8B030D-6E8A-4147-A177-3AD203B41FA5}">
                      <a16:colId xmlns:a16="http://schemas.microsoft.com/office/drawing/2014/main" val="20002"/>
                    </a:ext>
                  </a:extLst>
                </a:gridCol>
                <a:gridCol w="4513970">
                  <a:extLst>
                    <a:ext uri="{9D8B030D-6E8A-4147-A177-3AD203B41FA5}">
                      <a16:colId xmlns:a16="http://schemas.microsoft.com/office/drawing/2014/main" val="20003"/>
                    </a:ext>
                  </a:extLst>
                </a:gridCol>
              </a:tblGrid>
              <a:tr h="444154">
                <a:tc>
                  <a:txBody>
                    <a:bodyPr/>
                    <a:lstStyle/>
                    <a:p>
                      <a:pPr marL="0" indent="0" algn="l">
                        <a:buNone/>
                      </a:pPr>
                      <a:r>
                        <a:rPr lang="en-US" sz="1200" b="1">
                          <a:solidFill>
                            <a:srgbClr val="FFFFFF"/>
                          </a:solidFill>
                          <a:latin typeface="+mj-lt"/>
                        </a:rPr>
                        <a:t>LLM / ASSISTANT</a:t>
                      </a:r>
                      <a:endParaRPr lang="en-US" sz="120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000" b="1">
                          <a:solidFill>
                            <a:schemeClr val="tx1"/>
                          </a:solidFill>
                        </a:rPr>
                        <a:t>How it accesses Instagram</a:t>
                      </a:r>
                      <a:br>
                        <a:rPr lang="en-US" sz="1000" b="1">
                          <a:solidFill>
                            <a:schemeClr val="tx1"/>
                          </a:solidFill>
                        </a:rPr>
                      </a:br>
                      <a:r>
                        <a:rPr lang="en-US" sz="1000" b="1">
                          <a:solidFill>
                            <a:schemeClr val="tx1"/>
                          </a:solidFill>
                        </a:rPr>
                        <a:t>/ Meta data (high level)</a:t>
                      </a:r>
                      <a:endParaRPr 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indent="0" algn="l">
                        <a:buNone/>
                      </a:pPr>
                      <a:r>
                        <a:rPr lang="en-US" sz="1000" b="1">
                          <a:solidFill>
                            <a:schemeClr val="tx1"/>
                          </a:solidFill>
                        </a:rPr>
                        <a:t>Example B2B</a:t>
                      </a:r>
                      <a:br>
                        <a:rPr lang="en-US" sz="1000" b="1">
                          <a:solidFill>
                            <a:schemeClr val="tx1"/>
                          </a:solidFill>
                        </a:rPr>
                      </a:br>
                      <a:r>
                        <a:rPr lang="en-US" sz="1000" b="1">
                          <a:solidFill>
                            <a:schemeClr val="tx1"/>
                          </a:solidFill>
                        </a:rPr>
                        <a:t>Research Use Case</a:t>
                      </a:r>
                      <a:endParaRPr 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indent="0" algn="l">
                        <a:buNone/>
                      </a:pPr>
                      <a:r>
                        <a:rPr lang="en-US" sz="1000" b="1">
                          <a:solidFill>
                            <a:schemeClr val="tx1"/>
                          </a:solidFill>
                        </a:rPr>
                        <a:t>How Likely is it to Explicitly Show / Cite an Instagram Post?</a:t>
                      </a:r>
                      <a:endParaRPr lang="en-US" sz="10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723545">
                <a:tc>
                  <a:txBody>
                    <a:bodyPr/>
                    <a:lstStyle/>
                    <a:p>
                      <a:pPr marL="0" indent="0" algn="l">
                        <a:buNone/>
                      </a:pPr>
                      <a:r>
                        <a:rPr lang="en-US" sz="1000" b="1">
                          <a:solidFill>
                            <a:srgbClr val="000000"/>
                          </a:solidFill>
                        </a:rPr>
                        <a:t>Google Gemini</a:t>
                      </a:r>
                      <a:endParaRPr lang="en-US" sz="1000"/>
                    </a:p>
                    <a:p>
                      <a:pPr marL="0" indent="0" algn="l">
                        <a:buNone/>
                      </a:pPr>
                      <a:r>
                        <a:rPr lang="en-US" sz="800" b="0">
                          <a:solidFill>
                            <a:srgbClr val="000000"/>
                          </a:solidFill>
                        </a:rPr>
                        <a:t>(incl. AI Overviews)</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Uses Google's web index + Knowledge Graph. Since July 2025, public content from </a:t>
                      </a:r>
                      <a:r>
                        <a:rPr lang="en-US" sz="700" b="1">
                          <a:solidFill>
                            <a:srgbClr val="000000"/>
                          </a:solidFill>
                        </a:rPr>
                        <a:t>Instagram professional accounts is indexable</a:t>
                      </a:r>
                      <a:r>
                        <a:rPr lang="en-US" sz="700">
                          <a:solidFill>
                            <a:srgbClr val="000000"/>
                          </a:solidFill>
                        </a:rPr>
                        <a:t>, so IG posts can appear like any other result and can be pulled into AI Overviews.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Buyer searches: "examples of ESG dashboards from supply chain vendors." Gemini may summarize options and </a:t>
                      </a:r>
                      <a:r>
                        <a:rPr lang="en-US" sz="700" b="1">
                          <a:solidFill>
                            <a:srgbClr val="000000"/>
                          </a:solidFill>
                        </a:rPr>
                        <a:t>include tiles or links to relevant IG posts </a:t>
                      </a:r>
                      <a:r>
                        <a:rPr lang="en-US" sz="700">
                          <a:solidFill>
                            <a:srgbClr val="000000"/>
                          </a:solidFill>
                        </a:rPr>
                        <a:t>from vendor accounts that showcase dashboards.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tx1"/>
                          </a:solidFill>
                          <a:highlight>
                            <a:srgbClr val="FFFF00"/>
                          </a:highlight>
                        </a:rPr>
                        <a:t>Medium</a:t>
                      </a:r>
                      <a:r>
                        <a:rPr lang="en-US" sz="700">
                          <a:solidFill>
                            <a:schemeClr val="tx1"/>
                          </a:solidFill>
                        </a:rPr>
                        <a:t> </a:t>
                      </a:r>
                      <a:r>
                        <a:rPr lang="en-US" sz="700">
                          <a:solidFill>
                            <a:srgbClr val="000000"/>
                          </a:solidFill>
                        </a:rPr>
                        <a:t>– Gemini will explicitly show IG posts when: (1) the query is visual/brand/creator-focused, (2) an IG post ranks highly, or (3) the user hints at Instagram ("show me Instagram posts about…"). For generic B2B queries, IG is more often one of many sources, not the main one.</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88480">
                <a:tc>
                  <a:txBody>
                    <a:bodyPr/>
                    <a:lstStyle/>
                    <a:p>
                      <a:pPr marL="0" indent="0" algn="l">
                        <a:buNone/>
                      </a:pPr>
                      <a:r>
                        <a:rPr lang="en-US" sz="1000" b="1">
                          <a:solidFill>
                            <a:srgbClr val="000000"/>
                          </a:solidFill>
                        </a:rPr>
                        <a:t>ChatGPT with</a:t>
                      </a:r>
                      <a:br>
                        <a:rPr lang="en-US" sz="1000" b="1">
                          <a:solidFill>
                            <a:srgbClr val="000000"/>
                          </a:solidFill>
                        </a:rPr>
                      </a:br>
                      <a:r>
                        <a:rPr lang="en-US" sz="1000" b="1">
                          <a:solidFill>
                            <a:srgbClr val="000000"/>
                          </a:solidFill>
                        </a:rPr>
                        <a:t>Search / Browse</a:t>
                      </a:r>
                      <a:endParaRPr lang="en-US"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Uses a search backend (currently Bing-powered in many regions) plus OpenAI's own ranking layer. It can follow and summarize any public IG URL that appears in web results.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User asks: "Compare Vendor A vs Vendor B's employer brand using social examples." ChatGPT might look at websites, LinkedIn, and surface or summarize a couple of IG posts if they show up in search.</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bg1"/>
                          </a:solidFill>
                          <a:highlight>
                            <a:srgbClr val="FF0000"/>
                          </a:highlight>
                        </a:rPr>
                        <a:t>Low</a:t>
                      </a:r>
                      <a:r>
                        <a:rPr lang="en-US" sz="700" b="1">
                          <a:solidFill>
                            <a:srgbClr val="000000"/>
                          </a:solidFill>
                        </a:rPr>
                        <a:t>–</a:t>
                      </a:r>
                      <a:r>
                        <a:rPr lang="en-US" sz="700" b="1">
                          <a:solidFill>
                            <a:schemeClr val="tx1"/>
                          </a:solidFill>
                          <a:highlight>
                            <a:srgbClr val="FFFF00"/>
                          </a:highlight>
                        </a:rPr>
                        <a:t>Medium</a:t>
                      </a:r>
                      <a:r>
                        <a:rPr lang="en-US" sz="700" b="1">
                          <a:solidFill>
                            <a:srgbClr val="000000"/>
                          </a:solidFill>
                        </a:rPr>
                        <a:t> </a:t>
                      </a:r>
                      <a:r>
                        <a:rPr lang="en-US" sz="700">
                          <a:solidFill>
                            <a:srgbClr val="000000"/>
                          </a:solidFill>
                        </a:rPr>
                        <a:t>– Most of the time, IG content is used in the background to shape the answer. You'll only see a direct instagram.com/... citation if: (a) you paste an IG URL, or (b) an IG page is an unusually strong match that ranks high for the query. Otherwise, it tends to quote blogs, docs, and Reddit/YouTube more.</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88480">
                <a:tc>
                  <a:txBody>
                    <a:bodyPr/>
                    <a:lstStyle/>
                    <a:p>
                      <a:pPr marL="0" indent="0" algn="l">
                        <a:buNone/>
                      </a:pPr>
                      <a:r>
                        <a:rPr lang="en-US" sz="1000" b="1">
                          <a:solidFill>
                            <a:srgbClr val="000000"/>
                          </a:solidFill>
                        </a:rPr>
                        <a:t>Perplexity</a:t>
                      </a:r>
                      <a:endParaRPr lang="en-US"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Web-first "answer engine," heavily citation-driven, often using Bing's index. It can read and summarize IG post URLs like any other page.</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Buyer: "Show me real-world examples of product-led onboarding flows in B2B SaaS." Perplexity might cite case studies and </a:t>
                      </a:r>
                      <a:r>
                        <a:rPr lang="en-US" sz="700" b="1">
                          <a:solidFill>
                            <a:srgbClr val="000000"/>
                          </a:solidFill>
                        </a:rPr>
                        <a:t>occasionally an IG carousel or Reel </a:t>
                      </a:r>
                      <a:r>
                        <a:rPr lang="en-US" sz="700">
                          <a:solidFill>
                            <a:srgbClr val="000000"/>
                          </a:solidFill>
                        </a:rPr>
                        <a:t>from a PLG-focused brand that walks through onboarding.</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tx1"/>
                          </a:solidFill>
                          <a:highlight>
                            <a:srgbClr val="FFFF00"/>
                          </a:highlight>
                        </a:rPr>
                        <a:t>Medium (but niche-triggered) </a:t>
                      </a:r>
                      <a:r>
                        <a:rPr lang="en-US" sz="700">
                          <a:solidFill>
                            <a:srgbClr val="000000"/>
                          </a:solidFill>
                        </a:rPr>
                        <a:t>– Because Perplexity loves showing lots of sources, it will sometimes include IG links when: (1) posts are detailed and SEO'd, or (2) you explicitly mention Instagram or supply an IG URL. For most generic B2B questions, IG still plays a background role vs more text-heavy sources.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88480">
                <a:tc>
                  <a:txBody>
                    <a:bodyPr/>
                    <a:lstStyle/>
                    <a:p>
                      <a:pPr marL="0" indent="0" algn="l">
                        <a:buNone/>
                      </a:pPr>
                      <a:r>
                        <a:rPr lang="en-US" sz="1000" b="1">
                          <a:solidFill>
                            <a:srgbClr val="000000"/>
                          </a:solidFill>
                        </a:rPr>
                        <a:t>Claude (Anthropic)</a:t>
                      </a:r>
                      <a:endParaRPr lang="en-US"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Uses Brave Search as its web backend. Any public, indexable instagram.com pages can be seen and summarized.</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Buyer: "Give me 3 smaller cybersecurity vendors with strong educational content on secure-by-design." If your IG feed is well-optimized and referenced on other sites, Claude can discover it and summarize some posts.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bg1"/>
                          </a:solidFill>
                          <a:highlight>
                            <a:srgbClr val="FF0000"/>
                          </a:highlight>
                        </a:rPr>
                        <a:t>Low</a:t>
                      </a:r>
                      <a:r>
                        <a:rPr lang="en-US" sz="700">
                          <a:solidFill>
                            <a:srgbClr val="000000"/>
                          </a:solidFill>
                        </a:rPr>
                        <a:t> – Claude tends to lean on docs, blogs, news, and long-form content. It may "read" IG posts to inform its understanding, but it seldom surfaces IG as a front-and-center citation unless you give it the URL or explicitly ask it to "analyze this Instagram post."</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88480">
                <a:tc>
                  <a:txBody>
                    <a:bodyPr/>
                    <a:lstStyle/>
                    <a:p>
                      <a:pPr marL="0" indent="0" algn="l">
                        <a:buNone/>
                      </a:pPr>
                      <a:r>
                        <a:rPr lang="en-US" sz="1000" b="1">
                          <a:solidFill>
                            <a:srgbClr val="000000"/>
                          </a:solidFill>
                        </a:rPr>
                        <a:t>Grok (xAI)</a:t>
                      </a:r>
                      <a:endParaRPr lang="en-US"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Has privileged, real-time access to </a:t>
                      </a:r>
                      <a:r>
                        <a:rPr lang="en-US" sz="700" b="1">
                          <a:solidFill>
                            <a:srgbClr val="000000"/>
                          </a:solidFill>
                        </a:rPr>
                        <a:t>X (Twitter)</a:t>
                      </a:r>
                      <a:r>
                        <a:rPr lang="en-US" sz="700">
                          <a:solidFill>
                            <a:srgbClr val="000000"/>
                          </a:solidFill>
                        </a:rPr>
                        <a:t> plus general web search. It can follow links from X to Instagram and read those pages.</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Buyer: "What vendors are people on X talking about for AI-powered contract review? Include any visual explainer content." If analysts are sharing your IG Reels on X, Grok might follow those links and factor them into its summary.</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bg1"/>
                          </a:solidFill>
                          <a:highlight>
                            <a:srgbClr val="FF0000"/>
                          </a:highlight>
                        </a:rPr>
                        <a:t>Low</a:t>
                      </a:r>
                      <a:r>
                        <a:rPr lang="en-US" sz="700">
                          <a:solidFill>
                            <a:schemeClr val="bg1"/>
                          </a:solidFill>
                        </a:rPr>
                        <a:t> </a:t>
                      </a:r>
                      <a:r>
                        <a:rPr lang="en-US" sz="700">
                          <a:solidFill>
                            <a:srgbClr val="000000"/>
                          </a:solidFill>
                        </a:rPr>
                        <a:t>– Grok's "star" social source is X. Instagram matters mostly indirectly (via links people share on X). It's unlikely to spontaneously show IG posts unless queries, or X links, point it there.</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688480">
                <a:tc>
                  <a:txBody>
                    <a:bodyPr/>
                    <a:lstStyle/>
                    <a:p>
                      <a:pPr marL="0" indent="0" algn="l">
                        <a:buNone/>
                      </a:pPr>
                      <a:r>
                        <a:rPr lang="en-US" sz="1000" b="1">
                          <a:solidFill>
                            <a:srgbClr val="000000"/>
                          </a:solidFill>
                        </a:rPr>
                        <a:t>Meta AI</a:t>
                      </a:r>
                      <a:endParaRPr lang="en-US" sz="1000"/>
                    </a:p>
                    <a:p>
                      <a:pPr marL="0" indent="0" algn="l">
                        <a:buNone/>
                      </a:pPr>
                      <a:r>
                        <a:rPr lang="en-US" sz="800" b="0">
                          <a:solidFill>
                            <a:srgbClr val="000000"/>
                          </a:solidFill>
                        </a:rPr>
                        <a:t>(inside Instagram, Facebook, WhatsApp, Messenger + web)</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rgbClr val="000000"/>
                          </a:solidFill>
                        </a:rPr>
                        <a:t>First-party access to public Instagram and Facebook content from adults </a:t>
                      </a:r>
                      <a:r>
                        <a:rPr lang="en-US" sz="700">
                          <a:solidFill>
                            <a:srgbClr val="000000"/>
                          </a:solidFill>
                        </a:rPr>
                        <a:t>(used for training/tuning), plus the broader web. Embedded directly inside Meta apps as a chatbot and assistant.</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a:solidFill>
                            <a:srgbClr val="000000"/>
                          </a:solidFill>
                        </a:rPr>
                        <a:t>User types in Instagram: "Show me B2B SaaS tools that help manufacturers reduce downtime" or "What's this vendor known for?" Meta AI can answer using </a:t>
                      </a:r>
                      <a:r>
                        <a:rPr lang="en-US" sz="700" b="1">
                          <a:solidFill>
                            <a:srgbClr val="000000"/>
                          </a:solidFill>
                        </a:rPr>
                        <a:t>both on-platform posts</a:t>
                      </a:r>
                      <a:r>
                        <a:rPr lang="en-US" sz="700">
                          <a:solidFill>
                            <a:srgbClr val="000000"/>
                          </a:solidFill>
                        </a:rPr>
                        <a:t> and external sites, heavily influenced by IG + FB content.</a:t>
                      </a:r>
                      <a:endParaRPr lang="en-US" sz="700"/>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700" b="1">
                          <a:solidFill>
                            <a:schemeClr val="tx1"/>
                          </a:solidFill>
                          <a:highlight>
                            <a:srgbClr val="00FF00"/>
                          </a:highlight>
                        </a:rPr>
                        <a:t>High influence, </a:t>
                      </a:r>
                      <a:r>
                        <a:rPr lang="en-US" sz="700" b="1">
                          <a:solidFill>
                            <a:schemeClr val="bg1"/>
                          </a:solidFill>
                          <a:highlight>
                            <a:srgbClr val="FF0000"/>
                          </a:highlight>
                        </a:rPr>
                        <a:t>low explicit linking </a:t>
                      </a:r>
                      <a:r>
                        <a:rPr lang="en-US" sz="700">
                          <a:solidFill>
                            <a:srgbClr val="000000"/>
                          </a:solidFill>
                        </a:rPr>
                        <a:t>– Meta AI is steeped in IG/FB data, but inside the apps it usually answers conversationally rather than saying "Here's this specific IG post." Think of your IG content as strongly shaping its intuition and </a:t>
                      </a:r>
                      <a:r>
                        <a:rPr lang="en-US" sz="700" u="none">
                          <a:solidFill>
                            <a:srgbClr val="000000"/>
                          </a:solidFill>
                        </a:rPr>
                        <a:t>examples, but not always showing as clickable links. When you ask "show me posts from…", it will surface specific accounts and content more directly.</a:t>
                      </a:r>
                      <a:endParaRPr lang="en-US" sz="700" u="none"/>
                    </a:p>
                  </a:txBody>
                  <a:tcPr marR="1828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558621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0117-90D7-50ED-6C74-D15B69032C1B}"/>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762F92EC-D474-7DC6-83D7-B6F9171C3A2D}"/>
              </a:ext>
            </a:extLst>
          </p:cNvPr>
          <p:cNvSpPr>
            <a:spLocks noGrp="1"/>
          </p:cNvSpPr>
          <p:nvPr>
            <p:ph type="title"/>
          </p:nvPr>
        </p:nvSpPr>
        <p:spPr/>
        <p:txBody>
          <a:bodyPr/>
          <a:lstStyle/>
          <a:p>
            <a:r>
              <a:rPr lang="en-US"/>
              <a:t>SOCIAL MEDIA CITATIONS</a:t>
            </a:r>
          </a:p>
        </p:txBody>
      </p:sp>
      <p:sp>
        <p:nvSpPr>
          <p:cNvPr id="4" name="Slide Number Placeholder 3">
            <a:extLst>
              <a:ext uri="{FF2B5EF4-FFF2-40B4-BE49-F238E27FC236}">
                <a16:creationId xmlns:a16="http://schemas.microsoft.com/office/drawing/2014/main" id="{13A6F40E-7CCE-F6E4-1B51-014ABF8D1D9F}"/>
              </a:ext>
            </a:extLst>
          </p:cNvPr>
          <p:cNvSpPr>
            <a:spLocks noGrp="1"/>
          </p:cNvSpPr>
          <p:nvPr>
            <p:ph type="sldNum" sz="quarter" idx="12"/>
          </p:nvPr>
        </p:nvSpPr>
        <p:spPr/>
        <p:txBody>
          <a:bodyPr/>
          <a:lstStyle/>
          <a:p>
            <a:fld id="{6D05E8BB-FF85-4620-9298-8F3F48811131}" type="slidenum">
              <a:rPr lang="en-US" smtClean="0"/>
              <a:t>45</a:t>
            </a:fld>
            <a:endParaRPr lang="en-US"/>
          </a:p>
        </p:txBody>
      </p:sp>
      <p:sp>
        <p:nvSpPr>
          <p:cNvPr id="16" name="Text Placeholder 15">
            <a:extLst>
              <a:ext uri="{FF2B5EF4-FFF2-40B4-BE49-F238E27FC236}">
                <a16:creationId xmlns:a16="http://schemas.microsoft.com/office/drawing/2014/main" id="{2E62C10A-AE4A-34A9-E7A1-5F876E4BE72D}"/>
              </a:ext>
            </a:extLst>
          </p:cNvPr>
          <p:cNvSpPr>
            <a:spLocks noGrp="1"/>
          </p:cNvSpPr>
          <p:nvPr>
            <p:ph type="body" sz="quarter" idx="13"/>
          </p:nvPr>
        </p:nvSpPr>
        <p:spPr/>
        <p:txBody>
          <a:bodyPr/>
          <a:lstStyle/>
          <a:p>
            <a:r>
              <a:rPr lang="en-US"/>
              <a:t>CURRENT MECHANICS OF AIO/GEO</a:t>
            </a:r>
          </a:p>
        </p:txBody>
      </p:sp>
      <p:sp>
        <p:nvSpPr>
          <p:cNvPr id="18" name="Text Placeholder 17">
            <a:extLst>
              <a:ext uri="{FF2B5EF4-FFF2-40B4-BE49-F238E27FC236}">
                <a16:creationId xmlns:a16="http://schemas.microsoft.com/office/drawing/2014/main" id="{069B0EC7-91DE-CFBD-D217-0B1038396BB4}"/>
              </a:ext>
            </a:extLst>
          </p:cNvPr>
          <p:cNvSpPr>
            <a:spLocks noGrp="1"/>
          </p:cNvSpPr>
          <p:nvPr>
            <p:ph type="body" sz="quarter" idx="15"/>
          </p:nvPr>
        </p:nvSpPr>
        <p:spPr/>
        <p:txBody>
          <a:bodyPr/>
          <a:lstStyle/>
          <a:p>
            <a:r>
              <a:rPr lang="en-US"/>
              <a:t>While it's accessible to Search &amp; LLMs, not all LLMs use the data the same.</a:t>
            </a:r>
          </a:p>
        </p:txBody>
      </p:sp>
      <p:sp>
        <p:nvSpPr>
          <p:cNvPr id="3" name="5-Point Star 2">
            <a:extLst>
              <a:ext uri="{FF2B5EF4-FFF2-40B4-BE49-F238E27FC236}">
                <a16:creationId xmlns:a16="http://schemas.microsoft.com/office/drawing/2014/main" id="{6B248C9E-AF89-344C-9E77-070AE97EEA33}"/>
              </a:ext>
            </a:extLst>
          </p:cNvPr>
          <p:cNvSpPr/>
          <p:nvPr/>
        </p:nvSpPr>
        <p:spPr>
          <a:xfrm>
            <a:off x="10344216" y="-1416139"/>
            <a:ext cx="1453415" cy="1338359"/>
          </a:xfrm>
          <a:prstGeom prst="star5">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709DC22-4236-555F-8C03-242D6E059495}"/>
              </a:ext>
            </a:extLst>
          </p:cNvPr>
          <p:cNvPicPr>
            <a:picLocks noChangeAspect="1"/>
          </p:cNvPicPr>
          <p:nvPr/>
        </p:nvPicPr>
        <p:blipFill>
          <a:blip r:embed="rId3"/>
          <a:stretch>
            <a:fillRect/>
          </a:stretch>
        </p:blipFill>
        <p:spPr>
          <a:xfrm>
            <a:off x="12293863" y="-209593"/>
            <a:ext cx="4692641" cy="2101681"/>
          </a:xfrm>
          <a:prstGeom prst="rect">
            <a:avLst/>
          </a:prstGeom>
        </p:spPr>
      </p:pic>
      <p:graphicFrame>
        <p:nvGraphicFramePr>
          <p:cNvPr id="10" name="Table 0">
            <a:extLst>
              <a:ext uri="{FF2B5EF4-FFF2-40B4-BE49-F238E27FC236}">
                <a16:creationId xmlns:a16="http://schemas.microsoft.com/office/drawing/2014/main" id="{E73DA667-EFA2-83AD-7052-676269FBEAE8}"/>
              </a:ext>
            </a:extLst>
          </p:cNvPr>
          <p:cNvGraphicFramePr>
            <a:graphicFrameLocks noGrp="1"/>
          </p:cNvGraphicFramePr>
          <p:nvPr>
            <p:extLst>
              <p:ext uri="{D42A27DB-BD31-4B8C-83A1-F6EECF244321}">
                <p14:modId xmlns:p14="http://schemas.microsoft.com/office/powerpoint/2010/main" val="1587108176"/>
              </p:ext>
            </p:extLst>
          </p:nvPr>
        </p:nvGraphicFramePr>
        <p:xfrm>
          <a:off x="342900" y="1905000"/>
          <a:ext cx="11506200" cy="4257048"/>
        </p:xfrm>
        <a:graphic>
          <a:graphicData uri="http://schemas.openxmlformats.org/drawingml/2006/table">
            <a:tbl>
              <a:tblPr/>
              <a:tblGrid>
                <a:gridCol w="1426388">
                  <a:extLst>
                    <a:ext uri="{9D8B030D-6E8A-4147-A177-3AD203B41FA5}">
                      <a16:colId xmlns:a16="http://schemas.microsoft.com/office/drawing/2014/main" val="20000"/>
                    </a:ext>
                  </a:extLst>
                </a:gridCol>
                <a:gridCol w="1426388">
                  <a:extLst>
                    <a:ext uri="{9D8B030D-6E8A-4147-A177-3AD203B41FA5}">
                      <a16:colId xmlns:a16="http://schemas.microsoft.com/office/drawing/2014/main" val="20001"/>
                    </a:ext>
                  </a:extLst>
                </a:gridCol>
                <a:gridCol w="1616573">
                  <a:extLst>
                    <a:ext uri="{9D8B030D-6E8A-4147-A177-3AD203B41FA5}">
                      <a16:colId xmlns:a16="http://schemas.microsoft.com/office/drawing/2014/main" val="20002"/>
                    </a:ext>
                  </a:extLst>
                </a:gridCol>
                <a:gridCol w="1331297">
                  <a:extLst>
                    <a:ext uri="{9D8B030D-6E8A-4147-A177-3AD203B41FA5}">
                      <a16:colId xmlns:a16="http://schemas.microsoft.com/office/drawing/2014/main" val="20003"/>
                    </a:ext>
                  </a:extLst>
                </a:gridCol>
                <a:gridCol w="1331297">
                  <a:extLst>
                    <a:ext uri="{9D8B030D-6E8A-4147-A177-3AD203B41FA5}">
                      <a16:colId xmlns:a16="http://schemas.microsoft.com/office/drawing/2014/main" val="20004"/>
                    </a:ext>
                  </a:extLst>
                </a:gridCol>
                <a:gridCol w="1521481">
                  <a:extLst>
                    <a:ext uri="{9D8B030D-6E8A-4147-A177-3AD203B41FA5}">
                      <a16:colId xmlns:a16="http://schemas.microsoft.com/office/drawing/2014/main" val="20005"/>
                    </a:ext>
                  </a:extLst>
                </a:gridCol>
                <a:gridCol w="1426388">
                  <a:extLst>
                    <a:ext uri="{9D8B030D-6E8A-4147-A177-3AD203B41FA5}">
                      <a16:colId xmlns:a16="http://schemas.microsoft.com/office/drawing/2014/main" val="20006"/>
                    </a:ext>
                  </a:extLst>
                </a:gridCol>
                <a:gridCol w="1426388">
                  <a:extLst>
                    <a:ext uri="{9D8B030D-6E8A-4147-A177-3AD203B41FA5}">
                      <a16:colId xmlns:a16="http://schemas.microsoft.com/office/drawing/2014/main" val="20007"/>
                    </a:ext>
                  </a:extLst>
                </a:gridCol>
              </a:tblGrid>
              <a:tr h="532131">
                <a:tc>
                  <a:txBody>
                    <a:bodyPr/>
                    <a:lstStyle/>
                    <a:p>
                      <a:pPr marL="0" indent="0" algn="l">
                        <a:buNone/>
                      </a:pPr>
                      <a:r>
                        <a:rPr lang="en-US" sz="1400" b="0">
                          <a:solidFill>
                            <a:srgbClr val="FFFFFF"/>
                          </a:solidFill>
                          <a:latin typeface="+mj-lt"/>
                        </a:rPr>
                        <a:t>LLM PRODUCT</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REDDIT</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X / TWITTER</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FACEBOOK</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INSTAGRAM</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YOUTUBE</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TIKTOK</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400" b="0">
                          <a:solidFill>
                            <a:srgbClr val="FFFFFF"/>
                          </a:solidFill>
                          <a:latin typeface="+mj-lt"/>
                        </a:rPr>
                        <a:t>LINKEDIN</a:t>
                      </a:r>
                      <a:endParaRPr lang="en-US" sz="1400" b="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32131">
                <a:tc>
                  <a:txBody>
                    <a:bodyPr/>
                    <a:lstStyle/>
                    <a:p>
                      <a:pPr marL="0" indent="0" algn="l">
                        <a:buNone/>
                      </a:pPr>
                      <a:r>
                        <a:rPr lang="en-US" sz="1000" b="1">
                          <a:solidFill>
                            <a:srgbClr val="000000"/>
                          </a:solidFill>
                        </a:rPr>
                        <a:t>OpenAI ChatGPT</a:t>
                      </a:r>
                      <a:endParaRPr lang="en-US" sz="1000"/>
                    </a:p>
                    <a:p>
                      <a:pPr marL="0" indent="0" algn="l">
                        <a:buNone/>
                      </a:pPr>
                      <a:r>
                        <a:rPr lang="en-US" sz="800" b="0">
                          <a:solidFill>
                            <a:srgbClr val="000000"/>
                          </a:solidFill>
                        </a:rPr>
                        <a:t>(with Search/browsing)</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Licensed + frequently cited</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web search (when public pages reachable)</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 (esp. transcripts &amp; docs)</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 (less commonly cited)</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appears among top cited domains in some studies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532131">
                <a:tc>
                  <a:txBody>
                    <a:bodyPr/>
                    <a:lstStyle/>
                    <a:p>
                      <a:pPr marL="0" indent="0" algn="l">
                        <a:buNone/>
                      </a:pPr>
                      <a:r>
                        <a:rPr lang="en-US" sz="1000" b="1">
                          <a:solidFill>
                            <a:srgbClr val="000000"/>
                          </a:solidFill>
                        </a:rPr>
                        <a:t>Google Gemini</a:t>
                      </a:r>
                      <a:endParaRPr lang="en-US" sz="1000"/>
                    </a:p>
                    <a:p>
                      <a:pPr marL="0" indent="0" algn="l">
                        <a:buNone/>
                      </a:pPr>
                      <a:r>
                        <a:rPr lang="en-US" sz="800" b="0">
                          <a:solidFill>
                            <a:srgbClr val="000000"/>
                          </a:solidFill>
                        </a:rPr>
                        <a:t>(AI Overviews / AI Mode)</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heavily cited + licensed; integrated into Reddit Answers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Google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Google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Google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very strong (Google-owned; top-cited in AI Overviews)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Google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frequently cited (esp. in B2B topics)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2"/>
                  </a:ext>
                </a:extLst>
              </a:tr>
              <a:tr h="532131">
                <a:tc>
                  <a:txBody>
                    <a:bodyPr/>
                    <a:lstStyle/>
                    <a:p>
                      <a:pPr marL="0" indent="0" algn="l">
                        <a:buNone/>
                      </a:pPr>
                      <a:r>
                        <a:rPr lang="en-US" sz="1000" b="1">
                          <a:solidFill>
                            <a:srgbClr val="000000"/>
                          </a:solidFill>
                        </a:rPr>
                        <a:t>Microsoft Copilot</a:t>
                      </a:r>
                      <a:endParaRPr lang="en-US" sz="1000"/>
                    </a:p>
                    <a:p>
                      <a:pPr marL="0" indent="0" algn="l">
                        <a:buNone/>
                      </a:pPr>
                      <a:r>
                        <a:rPr lang="en-US" sz="800" b="0">
                          <a:solidFill>
                            <a:srgbClr val="000000"/>
                          </a:solidFill>
                        </a:rPr>
                        <a:t>(Bing / Copilot Search)</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New Reddit content largely missing since Bing blocked in 2024</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Bing (plus internal MS ecosystem)</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2131">
                <a:tc>
                  <a:txBody>
                    <a:bodyPr/>
                    <a:lstStyle/>
                    <a:p>
                      <a:pPr marL="0" indent="0" algn="l">
                        <a:buNone/>
                      </a:pPr>
                      <a:r>
                        <a:rPr lang="en-US" sz="1000" b="1">
                          <a:solidFill>
                            <a:srgbClr val="000000"/>
                          </a:solidFill>
                        </a:rPr>
                        <a:t>Anthropic Claude</a:t>
                      </a:r>
                      <a:endParaRPr lang="en-US" sz="1000"/>
                    </a:p>
                    <a:p>
                      <a:pPr marL="0" indent="0" algn="l">
                        <a:buNone/>
                      </a:pPr>
                      <a:r>
                        <a:rPr lang="en-US" sz="800" b="0">
                          <a:solidFill>
                            <a:srgbClr val="000000"/>
                          </a:solidFill>
                        </a:rPr>
                        <a:t>(with Web Search)</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 (Reddit often shows up in citations)</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 (public X content)</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 (videos/transcripts)</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Brave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2131">
                <a:tc>
                  <a:txBody>
                    <a:bodyPr/>
                    <a:lstStyle/>
                    <a:p>
                      <a:pPr marL="0" indent="0" algn="l">
                        <a:buNone/>
                      </a:pPr>
                      <a:r>
                        <a:rPr lang="en-US" sz="1000" b="1">
                          <a:solidFill>
                            <a:srgbClr val="000000"/>
                          </a:solidFill>
                        </a:rPr>
                        <a:t>Perplexity AI</a:t>
                      </a:r>
                      <a:endParaRPr lang="en-US" sz="1000"/>
                    </a:p>
                    <a:p>
                      <a:pPr marL="0" indent="0" algn="l">
                        <a:buNone/>
                      </a:pPr>
                      <a:r>
                        <a:rPr lang="en-US" sz="800" b="0">
                          <a:solidFill>
                            <a:srgbClr val="000000"/>
                          </a:solidFill>
                        </a:rPr>
                        <a:t>(Search + "Social" focus)</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Strong: Social mode explicitly searches Reddit</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b="1">
                          <a:solidFill>
                            <a:srgbClr val="000000"/>
                          </a:solidFill>
                        </a:rPr>
                        <a:t>✓ Strong in Social mode: searches Reddit, X, and other social platforms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general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general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very strong (YouTube</a:t>
                      </a:r>
                      <a:br>
                        <a:rPr lang="en-US" sz="700" b="1">
                          <a:solidFill>
                            <a:srgbClr val="000000"/>
                          </a:solidFill>
                        </a:rPr>
                      </a:br>
                      <a:r>
                        <a:rPr lang="en-US" sz="700" b="1">
                          <a:solidFill>
                            <a:srgbClr val="000000"/>
                          </a:solidFill>
                        </a:rPr>
                        <a:t>is a top source)</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general search (often surfaces TikTok when relevant)</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LinkedIn shows up frequently for</a:t>
                      </a:r>
                      <a:br>
                        <a:rPr lang="en-US" sz="700" b="1">
                          <a:solidFill>
                            <a:srgbClr val="000000"/>
                          </a:solidFill>
                        </a:rPr>
                      </a:br>
                      <a:r>
                        <a:rPr lang="en-US" sz="700" b="1">
                          <a:solidFill>
                            <a:srgbClr val="000000"/>
                          </a:solidFill>
                        </a:rPr>
                        <a:t>professional topics</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5"/>
                  </a:ext>
                </a:extLst>
              </a:tr>
              <a:tr h="532131">
                <a:tc>
                  <a:txBody>
                    <a:bodyPr/>
                    <a:lstStyle/>
                    <a:p>
                      <a:pPr marL="0" indent="0" algn="l">
                        <a:buNone/>
                      </a:pPr>
                      <a:r>
                        <a:rPr lang="en-US" sz="1000" b="1">
                          <a:solidFill>
                            <a:srgbClr val="000000"/>
                          </a:solidFill>
                        </a:rPr>
                        <a:t>Meta AI</a:t>
                      </a:r>
                      <a:endParaRPr lang="en-US" sz="1000"/>
                    </a:p>
                    <a:p>
                      <a:pPr marL="0" indent="0" algn="l">
                        <a:buNone/>
                      </a:pPr>
                      <a:r>
                        <a:rPr lang="en-US" sz="800" b="0">
                          <a:solidFill>
                            <a:srgbClr val="000000"/>
                          </a:solidFill>
                        </a:rPr>
                        <a:t>(Facebook, Instagram, WhatsApp)</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First-party integration; uses public posts for training</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b="1">
                          <a:solidFill>
                            <a:srgbClr val="000000"/>
                          </a:solidFill>
                        </a:rPr>
                        <a:t>✓ First-party integration (same as Facebook)</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32131">
                <a:tc>
                  <a:txBody>
                    <a:bodyPr/>
                    <a:lstStyle/>
                    <a:p>
                      <a:pPr marL="0" indent="0" algn="l">
                        <a:buNone/>
                      </a:pPr>
                      <a:r>
                        <a:rPr lang="en-US" sz="1000" b="1">
                          <a:solidFill>
                            <a:srgbClr val="000000"/>
                          </a:solidFill>
                        </a:rPr>
                        <a:t>xAI Grok</a:t>
                      </a:r>
                      <a:endParaRPr lang="en-US" sz="1000"/>
                    </a:p>
                    <a:p>
                      <a:pPr marL="0" indent="0" algn="l">
                        <a:buNone/>
                      </a:pPr>
                      <a:r>
                        <a:rPr lang="en-US" sz="800" b="0">
                          <a:solidFill>
                            <a:srgbClr val="000000"/>
                          </a:solidFill>
                        </a:rPr>
                        <a:t>(on X &amp; grok.com)</a:t>
                      </a:r>
                      <a:endParaRPr lang="en-US" sz="8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 backend</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b="1">
                          <a:solidFill>
                            <a:srgbClr val="000000"/>
                          </a:solidFill>
                        </a:rPr>
                        <a:t>✓ Deep, real-time access to public X posts is a core feature</a:t>
                      </a:r>
                      <a:endParaRPr lang="en-US" sz="7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700">
                          <a:solidFill>
                            <a:srgbClr val="000000"/>
                          </a:solidFill>
                        </a:rPr>
                        <a:t>◐ via web search</a:t>
                      </a:r>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23" name="Text 1">
            <a:extLst>
              <a:ext uri="{FF2B5EF4-FFF2-40B4-BE49-F238E27FC236}">
                <a16:creationId xmlns:a16="http://schemas.microsoft.com/office/drawing/2014/main" id="{6BCFA4BE-F725-9C57-6362-6905255E58D9}"/>
              </a:ext>
            </a:extLst>
          </p:cNvPr>
          <p:cNvSpPr/>
          <p:nvPr/>
        </p:nvSpPr>
        <p:spPr>
          <a:xfrm>
            <a:off x="274320" y="6319520"/>
            <a:ext cx="10291191" cy="274320"/>
          </a:xfrm>
          <a:prstGeom prst="rect">
            <a:avLst/>
          </a:prstGeom>
          <a:solidFill>
            <a:schemeClr val="bg1"/>
          </a:solidFill>
          <a:ln/>
        </p:spPr>
        <p:txBody>
          <a:bodyPr wrap="square" rtlCol="0" anchor="ctr"/>
          <a:lstStyle/>
          <a:p>
            <a:pPr marL="0" indent="0">
              <a:buNone/>
            </a:pPr>
            <a:r>
              <a:rPr lang="en-US" sz="800">
                <a:solidFill>
                  <a:srgbClr val="666666"/>
                </a:solidFill>
              </a:rPr>
              <a:t>Legend: ✓ = Strong/Direct access  |  ◐ = Indirect via search  |  ◌ = Limited/Blocked</a:t>
            </a:r>
            <a:endParaRPr lang="en-US" sz="800"/>
          </a:p>
        </p:txBody>
      </p:sp>
    </p:spTree>
    <p:extLst>
      <p:ext uri="{BB962C8B-B14F-4D97-AF65-F5344CB8AC3E}">
        <p14:creationId xmlns:p14="http://schemas.microsoft.com/office/powerpoint/2010/main" val="3600431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63FE-2DF1-3758-F060-3999EF38ADD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5B97685-4B9A-C62A-2920-80F34536E274}"/>
              </a:ext>
            </a:extLst>
          </p:cNvPr>
          <p:cNvSpPr>
            <a:spLocks noGrp="1"/>
          </p:cNvSpPr>
          <p:nvPr>
            <p:ph type="title"/>
          </p:nvPr>
        </p:nvSpPr>
        <p:spPr/>
        <p:txBody>
          <a:bodyPr/>
          <a:lstStyle/>
          <a:p>
            <a:r>
              <a:rPr lang="en-US"/>
              <a:t>SOCIAL MEDIA CITATIONS</a:t>
            </a:r>
          </a:p>
        </p:txBody>
      </p:sp>
      <p:sp>
        <p:nvSpPr>
          <p:cNvPr id="4" name="Slide Number Placeholder 3">
            <a:extLst>
              <a:ext uri="{FF2B5EF4-FFF2-40B4-BE49-F238E27FC236}">
                <a16:creationId xmlns:a16="http://schemas.microsoft.com/office/drawing/2014/main" id="{780613AA-2924-C5DB-1DCC-3DD8F04D6BB8}"/>
              </a:ext>
            </a:extLst>
          </p:cNvPr>
          <p:cNvSpPr>
            <a:spLocks noGrp="1"/>
          </p:cNvSpPr>
          <p:nvPr>
            <p:ph type="sldNum" sz="quarter" idx="12"/>
          </p:nvPr>
        </p:nvSpPr>
        <p:spPr/>
        <p:txBody>
          <a:bodyPr/>
          <a:lstStyle/>
          <a:p>
            <a:fld id="{6D05E8BB-FF85-4620-9298-8F3F48811131}" type="slidenum">
              <a:rPr lang="en-US" smtClean="0"/>
              <a:t>46</a:t>
            </a:fld>
            <a:endParaRPr lang="en-US"/>
          </a:p>
        </p:txBody>
      </p:sp>
      <p:sp>
        <p:nvSpPr>
          <p:cNvPr id="14" name="Text Placeholder 13">
            <a:extLst>
              <a:ext uri="{FF2B5EF4-FFF2-40B4-BE49-F238E27FC236}">
                <a16:creationId xmlns:a16="http://schemas.microsoft.com/office/drawing/2014/main" id="{B8D3A0CA-8AF4-290D-F830-57F779251393}"/>
              </a:ext>
            </a:extLst>
          </p:cNvPr>
          <p:cNvSpPr>
            <a:spLocks noGrp="1"/>
          </p:cNvSpPr>
          <p:nvPr>
            <p:ph type="body" sz="quarter" idx="13"/>
          </p:nvPr>
        </p:nvSpPr>
        <p:spPr/>
        <p:txBody>
          <a:bodyPr/>
          <a:lstStyle/>
          <a:p>
            <a:r>
              <a:rPr lang="en-US"/>
              <a:t>CURRENT MECHANICS OF AIO/GEO</a:t>
            </a:r>
          </a:p>
        </p:txBody>
      </p:sp>
      <p:sp>
        <p:nvSpPr>
          <p:cNvPr id="16" name="Text Placeholder 15">
            <a:extLst>
              <a:ext uri="{FF2B5EF4-FFF2-40B4-BE49-F238E27FC236}">
                <a16:creationId xmlns:a16="http://schemas.microsoft.com/office/drawing/2014/main" id="{9C0875DF-956C-05EF-3115-9D09A27213E3}"/>
              </a:ext>
            </a:extLst>
          </p:cNvPr>
          <p:cNvSpPr>
            <a:spLocks noGrp="1"/>
          </p:cNvSpPr>
          <p:nvPr>
            <p:ph type="body" sz="quarter" idx="15"/>
          </p:nvPr>
        </p:nvSpPr>
        <p:spPr/>
        <p:txBody>
          <a:bodyPr/>
          <a:lstStyle/>
          <a:p>
            <a:r>
              <a:rPr lang="en-US"/>
              <a:t>While it's accessible to Search &amp; LLMs, not all LLMs use the data the same.</a:t>
            </a:r>
          </a:p>
        </p:txBody>
      </p:sp>
      <p:graphicFrame>
        <p:nvGraphicFramePr>
          <p:cNvPr id="9" name="Table 0">
            <a:extLst>
              <a:ext uri="{FF2B5EF4-FFF2-40B4-BE49-F238E27FC236}">
                <a16:creationId xmlns:a16="http://schemas.microsoft.com/office/drawing/2014/main" id="{C70FA519-49A4-EE73-69A5-5F2E50647454}"/>
              </a:ext>
            </a:extLst>
          </p:cNvPr>
          <p:cNvGraphicFramePr>
            <a:graphicFrameLocks noGrp="1"/>
          </p:cNvGraphicFramePr>
          <p:nvPr>
            <p:extLst>
              <p:ext uri="{D42A27DB-BD31-4B8C-83A1-F6EECF244321}">
                <p14:modId xmlns:p14="http://schemas.microsoft.com/office/powerpoint/2010/main" val="3544084722"/>
              </p:ext>
            </p:extLst>
          </p:nvPr>
        </p:nvGraphicFramePr>
        <p:xfrm>
          <a:off x="342900" y="1905000"/>
          <a:ext cx="11506199" cy="4610104"/>
        </p:xfrm>
        <a:graphic>
          <a:graphicData uri="http://schemas.openxmlformats.org/drawingml/2006/table">
            <a:tbl>
              <a:tblPr/>
              <a:tblGrid>
                <a:gridCol w="2332968">
                  <a:extLst>
                    <a:ext uri="{9D8B030D-6E8A-4147-A177-3AD203B41FA5}">
                      <a16:colId xmlns:a16="http://schemas.microsoft.com/office/drawing/2014/main" val="20000"/>
                    </a:ext>
                  </a:extLst>
                </a:gridCol>
                <a:gridCol w="9173231">
                  <a:extLst>
                    <a:ext uri="{9D8B030D-6E8A-4147-A177-3AD203B41FA5}">
                      <a16:colId xmlns:a16="http://schemas.microsoft.com/office/drawing/2014/main" val="20001"/>
                    </a:ext>
                  </a:extLst>
                </a:gridCol>
              </a:tblGrid>
              <a:tr h="576263">
                <a:tc>
                  <a:txBody>
                    <a:bodyPr/>
                    <a:lstStyle/>
                    <a:p>
                      <a:pPr marL="0" indent="0" algn="l">
                        <a:buNone/>
                      </a:pPr>
                      <a:r>
                        <a:rPr lang="en-US" sz="1600" b="1">
                          <a:solidFill>
                            <a:srgbClr val="FFFFFF"/>
                          </a:solidFill>
                          <a:latin typeface="+mj-lt"/>
                        </a:rPr>
                        <a:t>LLM PRODUCT</a:t>
                      </a:r>
                      <a:endParaRPr lang="en-US" sz="160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indent="0" algn="l">
                        <a:buNone/>
                      </a:pPr>
                      <a:r>
                        <a:rPr lang="en-US" sz="1600" b="1">
                          <a:solidFill>
                            <a:srgbClr val="FFFFFF"/>
                          </a:solidFill>
                          <a:latin typeface="+mj-lt"/>
                        </a:rPr>
                        <a:t>HOW IT GETS SOCIAL CONTENT</a:t>
                      </a:r>
                      <a:endParaRPr lang="en-US" sz="160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76263">
                <a:tc>
                  <a:txBody>
                    <a:bodyPr/>
                    <a:lstStyle/>
                    <a:p>
                      <a:pPr marL="0" indent="0" algn="l">
                        <a:buNone/>
                      </a:pPr>
                      <a:r>
                        <a:rPr lang="en-US" sz="900" b="1">
                          <a:solidFill>
                            <a:srgbClr val="000000"/>
                          </a:solidFill>
                        </a:rPr>
                        <a:t>OpenAI ChatGPT</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Uses OpenAI's Search stack (Bing-powered) and licensed sources; third-party analyses show Reddit, Wikipedia, YouTube, LinkedIn, etc. are common cited sources, with Reddit especially prominent recently. NEW: Also has direct publisher partnerships with Condé Nast, Financial Times, AP, Reuters, and others for premium content.</a:t>
                      </a:r>
                    </a:p>
                    <a:p>
                      <a:pPr marL="0" indent="0" algn="l">
                        <a:buNone/>
                      </a:pPr>
                      <a:endParaRPr lang="en-US" sz="90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76263">
                <a:tc>
                  <a:txBody>
                    <a:bodyPr/>
                    <a:lstStyle/>
                    <a:p>
                      <a:pPr marL="0" indent="0" algn="l">
                        <a:buNone/>
                      </a:pPr>
                      <a:r>
                        <a:rPr lang="en-US" sz="900" b="1">
                          <a:solidFill>
                            <a:srgbClr val="000000"/>
                          </a:solidFill>
                        </a:rPr>
                        <a:t>Google Gemini</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Uses Google's index; AI Overviews &amp; AI Mode pull from the usual web mix, but studies show a strong bias toward YouTube, Reddit, LinkedIn, Wikipedia.</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76263">
                <a:tc>
                  <a:txBody>
                    <a:bodyPr/>
                    <a:lstStyle/>
                    <a:p>
                      <a:pPr marL="0" indent="0" algn="l">
                        <a:buNone/>
                      </a:pPr>
                      <a:r>
                        <a:rPr lang="en-US" sz="900" b="1">
                          <a:solidFill>
                            <a:srgbClr val="000000"/>
                          </a:solidFill>
                        </a:rPr>
                        <a:t>Microsoft Copilot</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Builds answers on top of Bing search. Since Reddit blocked Bing, fresh Reddit posts don't typically appear; other public social sites can show up if Bing indexes them.</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76263">
                <a:tc>
                  <a:txBody>
                    <a:bodyPr/>
                    <a:lstStyle/>
                    <a:p>
                      <a:pPr marL="0" indent="0" algn="l">
                        <a:buNone/>
                      </a:pPr>
                      <a:r>
                        <a:rPr lang="en-US" sz="900" b="1">
                          <a:solidFill>
                            <a:srgbClr val="000000"/>
                          </a:solidFill>
                        </a:rPr>
                        <a:t>Anthropic Claude</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Web search launched March 20, 2025, using Brave Search as backend, pulling from whatever Brave has indexed; external analyses show Reddit, YouTube, Wikipedia and official sites as common domains, with Claude somewhat more academic/government-heavy than competitors.</a:t>
                      </a:r>
                      <a:br>
                        <a:rPr lang="en-US" sz="900">
                          <a:solidFill>
                            <a:srgbClr val="000000"/>
                          </a:solidFill>
                        </a:rPr>
                      </a:b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76263">
                <a:tc>
                  <a:txBody>
                    <a:bodyPr/>
                    <a:lstStyle/>
                    <a:p>
                      <a:pPr marL="0" indent="0" algn="l">
                        <a:buNone/>
                      </a:pPr>
                      <a:r>
                        <a:rPr lang="en-US" sz="900" b="1">
                          <a:solidFill>
                            <a:srgbClr val="000000"/>
                          </a:solidFill>
                        </a:rPr>
                        <a:t>Perplexity AI</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Basically an AI web/search engine; its Social focus is one of the few explicit "social search" modes in LLM land, prioritizing Reddit, X, and other social discussions.</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76263">
                <a:tc>
                  <a:txBody>
                    <a:bodyPr/>
                    <a:lstStyle/>
                    <a:p>
                      <a:pPr marL="0" indent="0" algn="l">
                        <a:buNone/>
                      </a:pPr>
                      <a:r>
                        <a:rPr lang="en-US" sz="900" b="1">
                          <a:solidFill>
                            <a:srgbClr val="000000"/>
                          </a:solidFill>
                        </a:rPr>
                        <a:t>Meta AI</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Embedded in Meta's apps; can use public Facebook/Instagram content plus your interactions to train and personalize. Private messages excluded from training.</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76263">
                <a:tc>
                  <a:txBody>
                    <a:bodyPr/>
                    <a:lstStyle/>
                    <a:p>
                      <a:pPr marL="0" indent="0" algn="l">
                        <a:buNone/>
                      </a:pPr>
                      <a:r>
                        <a:rPr lang="en-US" sz="900" b="1">
                          <a:solidFill>
                            <a:srgbClr val="000000"/>
                          </a:solidFill>
                        </a:rPr>
                        <a:t>xAI Grok</a:t>
                      </a:r>
                      <a:endParaRPr lang="en-US"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r>
                        <a:rPr lang="en-US" sz="900">
                          <a:solidFill>
                            <a:srgbClr val="000000"/>
                          </a:solidFill>
                        </a:rPr>
                        <a:t>Tightly integrated with X: can read real-time public posts and also perform general web search, so conversations heavily lean on X content plus broader web. NEW: Became free for all X users on December 6, 2024 (previously Premium+ only).</a:t>
                      </a:r>
                    </a:p>
                    <a:p>
                      <a:pPr marL="0" indent="0" algn="l">
                        <a:buNone/>
                      </a:pPr>
                      <a:endParaRPr lang="en-US" sz="90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18122943"/>
      </p:ext>
    </p:extLst>
  </p:cSld>
  <p:clrMapOvr>
    <a:masterClrMapping/>
  </p:clrMapOvr>
</p:sld>
</file>

<file path=ppt/theme/theme1.xml><?xml version="1.0" encoding="utf-8"?>
<a:theme xmlns:a="http://schemas.openxmlformats.org/drawingml/2006/main" name="6_Office Theme">
  <a:themeElements>
    <a:clrScheme name="Custom 43">
      <a:dk1>
        <a:srgbClr val="000000"/>
      </a:dk1>
      <a:lt1>
        <a:sysClr val="window" lastClr="FFFFFF"/>
      </a:lt1>
      <a:dk2>
        <a:srgbClr val="00426B"/>
      </a:dk2>
      <a:lt2>
        <a:srgbClr val="E7E6E6"/>
      </a:lt2>
      <a:accent1>
        <a:srgbClr val="425464"/>
      </a:accent1>
      <a:accent2>
        <a:srgbClr val="6A6F3B"/>
      </a:accent2>
      <a:accent3>
        <a:srgbClr val="799AAC"/>
      </a:accent3>
      <a:accent4>
        <a:srgbClr val="D58431"/>
      </a:accent4>
      <a:accent5>
        <a:srgbClr val="3D6CAB"/>
      </a:accent5>
      <a:accent6>
        <a:srgbClr val="AEB862"/>
      </a:accent6>
      <a:hlink>
        <a:srgbClr val="D58431"/>
      </a:hlink>
      <a:folHlink>
        <a:srgbClr val="BFBFBF"/>
      </a:folHlink>
    </a:clrScheme>
    <a:fontScheme name="Custom 25">
      <a:majorFont>
        <a:latin typeface="Barlow"/>
        <a:ea typeface=""/>
        <a:cs typeface=""/>
      </a:majorFont>
      <a:minorFont>
        <a:latin typeface="Work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sq">
          <a:solidFill>
            <a:schemeClr val="bg1">
              <a:lumMod val="75000"/>
            </a:schemeClr>
          </a:solidFill>
          <a:prstDash val="solid"/>
          <a:round/>
          <a:headEnd/>
          <a:tailEnd/>
        </a:ln>
        <a:effectLst/>
      </a:spPr>
      <a:bodyPr/>
      <a:lstStyle/>
    </a:lnDef>
    <a:txDef>
      <a:spPr>
        <a:noFill/>
      </a:spPr>
      <a:bodyPr wrap="square" rtlCol="0">
        <a:noAutofit/>
      </a:bodyPr>
      <a:lstStyle>
        <a:defPPr marL="171450" indent="-171450" algn="l">
          <a:buFont typeface="Arial" panose="020B0604020202020204" pitchFamily="34" charset="0"/>
          <a:buChar char="•"/>
          <a:defRPr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55">
      <a:dk1>
        <a:srgbClr val="000000"/>
      </a:dk1>
      <a:lt1>
        <a:srgbClr val="FFFFFF"/>
      </a:lt1>
      <a:dk2>
        <a:srgbClr val="000000"/>
      </a:dk2>
      <a:lt2>
        <a:srgbClr val="E8E8E8"/>
      </a:lt2>
      <a:accent1>
        <a:srgbClr val="3B75E6"/>
      </a:accent1>
      <a:accent2>
        <a:srgbClr val="8BD8FF"/>
      </a:accent2>
      <a:accent3>
        <a:srgbClr val="FE4A25"/>
      </a:accent3>
      <a:accent4>
        <a:srgbClr val="FFD829"/>
      </a:accent4>
      <a:accent5>
        <a:srgbClr val="13544E"/>
      </a:accent5>
      <a:accent6>
        <a:srgbClr val="CBE0D9"/>
      </a:accent6>
      <a:hlink>
        <a:srgbClr val="FE4A25"/>
      </a:hlink>
      <a:folHlink>
        <a:srgbClr val="BFBFBF"/>
      </a:folHlink>
    </a:clrScheme>
    <a:fontScheme name="Custom 30">
      <a:majorFont>
        <a:latin typeface="GT America Compressed Regular"/>
        <a:ea typeface=""/>
        <a:cs typeface=""/>
      </a:majorFont>
      <a:minorFont>
        <a:latin typeface="GT America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noFill/>
        <a:ln w="6350" cap="sq">
          <a:solidFill>
            <a:schemeClr val="tx1"/>
          </a:solidFill>
          <a:prstDash val="solid"/>
          <a:round/>
          <a:headEnd/>
          <a:tailEnd/>
        </a:ln>
        <a:effectLst/>
      </a:spPr>
      <a:bodyPr/>
      <a:lst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31B0834960EB4793F6591F6E8BF673" ma:contentTypeVersion="19" ma:contentTypeDescription="Create a new document." ma:contentTypeScope="" ma:versionID="18592fb98716d565f3a407acf04131d7">
  <xsd:schema xmlns:xsd="http://www.w3.org/2001/XMLSchema" xmlns:xs="http://www.w3.org/2001/XMLSchema" xmlns:p="http://schemas.microsoft.com/office/2006/metadata/properties" xmlns:ns2="c618eb56-42fc-4406-9469-c033703ad440" xmlns:ns3="206f613f-e296-4834-abec-df9d5bfcc0e1" targetNamespace="http://schemas.microsoft.com/office/2006/metadata/properties" ma:root="true" ma:fieldsID="1bebf8ba27607e6f516f329da94acdea" ns2:_="" ns3:_="">
    <xsd:import namespace="c618eb56-42fc-4406-9469-c033703ad440"/>
    <xsd:import namespace="206f613f-e296-4834-abec-df9d5bfcc0e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18eb56-42fc-4406-9469-c033703ad4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976373a4-7815-41c3-9420-7d700648bbe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6f613f-e296-4834-abec-df9d5bfcc0e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9e28b5b-a7ba-4b75-921f-b2aacbdb196d}" ma:internalName="TaxCatchAll" ma:showField="CatchAllData" ma:web="206f613f-e296-4834-abec-df9d5bfcc0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06f613f-e296-4834-abec-df9d5bfcc0e1" xsi:nil="true"/>
    <lcf76f155ced4ddcb4097134ff3c332f xmlns="c618eb56-42fc-4406-9469-c033703ad44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A2A6248-36F4-43B3-972A-7A9B7AB1D2A9}">
  <ds:schemaRefs>
    <ds:schemaRef ds:uri="206f613f-e296-4834-abec-df9d5bfcc0e1"/>
    <ds:schemaRef ds:uri="c618eb56-42fc-4406-9469-c033703ad4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C52025F-1307-4CEE-AA7D-C55C427114FA}">
  <ds:schemaRefs>
    <ds:schemaRef ds:uri="http://schemas.microsoft.com/sharepoint/v3/contenttype/forms"/>
  </ds:schemaRefs>
</ds:datastoreItem>
</file>

<file path=customXml/itemProps3.xml><?xml version="1.0" encoding="utf-8"?>
<ds:datastoreItem xmlns:ds="http://schemas.openxmlformats.org/officeDocument/2006/customXml" ds:itemID="{4FFC3197-FDF4-4ED5-8C52-B4D11CFA0B66}">
  <ds:schemaRefs>
    <ds:schemaRef ds:uri="http://www.w3.org/XML/1998/namespace"/>
    <ds:schemaRef ds:uri="http://purl.org/dc/dcmityp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206f613f-e296-4834-abec-df9d5bfcc0e1"/>
    <ds:schemaRef ds:uri="c618eb56-42fc-4406-9469-c033703ad440"/>
    <ds:schemaRef ds:uri="http://purl.org/dc/terms/"/>
  </ds:schemaRefs>
</ds:datastoreItem>
</file>

<file path=docProps/app.xml><?xml version="1.0" encoding="utf-8"?>
<Properties xmlns="http://schemas.openxmlformats.org/officeDocument/2006/extended-properties" xmlns:vt="http://schemas.openxmlformats.org/officeDocument/2006/docPropsVTypes">
  <Template>Orange Theme</Template>
  <TotalTime>209</TotalTime>
  <Words>6044</Words>
  <Application>Microsoft Macintosh PowerPoint</Application>
  <PresentationFormat>Widescreen</PresentationFormat>
  <Paragraphs>762</Paragraphs>
  <Slides>46</Slides>
  <Notes>43</Notes>
  <HiddenSlides>0</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46</vt:i4>
      </vt:variant>
    </vt:vector>
  </HeadingPairs>
  <TitlesOfParts>
    <vt:vector size="67" baseType="lpstr">
      <vt:lpstr>MS Gothic</vt:lpstr>
      <vt:lpstr>Work Sans Regular</vt:lpstr>
      <vt:lpstr>Arial</vt:lpstr>
      <vt:lpstr>Avenir Next</vt:lpstr>
      <vt:lpstr>Barlow</vt:lpstr>
      <vt:lpstr>Barlow ExtraBold</vt:lpstr>
      <vt:lpstr>Barlow Medium</vt:lpstr>
      <vt:lpstr>Barlow SemiBold</vt:lpstr>
      <vt:lpstr>Calibri</vt:lpstr>
      <vt:lpstr>Garamond</vt:lpstr>
      <vt:lpstr>GT America Compressed Regular</vt:lpstr>
      <vt:lpstr>GT America Regular</vt:lpstr>
      <vt:lpstr>Playfair Display</vt:lpstr>
      <vt:lpstr>Ringside Wide Bold</vt:lpstr>
      <vt:lpstr>Wingdings</vt:lpstr>
      <vt:lpstr>Work Sans</vt:lpstr>
      <vt:lpstr>Work Sans Black</vt:lpstr>
      <vt:lpstr>Work Sans Medium</vt:lpstr>
      <vt:lpstr>Work Sans SemiBold</vt:lpstr>
      <vt:lpstr>6_Office Theme</vt:lpstr>
      <vt:lpstr>Office Theme</vt:lpstr>
      <vt:lpstr>PowerPoint Presentation</vt:lpstr>
      <vt:lpstr>SESSION AGENDA</vt:lpstr>
      <vt:lpstr>LEARNING OBJECTIVES</vt:lpstr>
      <vt:lpstr>“AI SEARCH” — WHAT DO WE MEAN?</vt:lpstr>
      <vt:lpstr>PowerPoint Presentation</vt:lpstr>
      <vt:lpstr>PowerPoint Presentation</vt:lpstr>
      <vt:lpstr>AI IS REWRITING SEARCH AT INTERNET SPEED</vt:lpstr>
      <vt:lpstr>PEOPLE NO LONGER SEARCH, THEY ASK</vt:lpstr>
      <vt:lpstr>AI SEARCH ADOPTION + TRAFFIC SHIFT</vt:lpstr>
      <vt:lpstr>FROM KEYWORDS TO CONVERSATIONS</vt:lpstr>
      <vt:lpstr>GOOGLE'S PATH TO AI DOMINANCE</vt:lpstr>
      <vt:lpstr>PowerPoint Presentation</vt:lpstr>
      <vt:lpstr>ZERO-CLICK IMPACTS BUSINESS</vt:lpstr>
      <vt:lpstr>SEARCH BEHAVIOR ACROSS VERTICALS</vt:lpstr>
      <vt:lpstr>B2B CMOs ADOPTING GEO</vt:lpstr>
      <vt:lpstr>PowerPoint Presentation</vt:lpstr>
      <vt:lpstr>NEW PLAYBOOK FOR BRAND VISIBILITY</vt:lpstr>
      <vt:lpstr>OWNED: THE TRUTH ANCHOR</vt:lpstr>
      <vt:lpstr>OWNED:  WHAT MATTERS</vt:lpstr>
      <vt:lpstr>OWNED: WHAT MATTERS</vt:lpstr>
      <vt:lpstr>EARNED: SIGNALS OF TRUST</vt:lpstr>
      <vt:lpstr>EARNED:  WHAT MATTERS</vt:lpstr>
      <vt:lpstr>SHARED: COMMUNITY PROOF</vt:lpstr>
      <vt:lpstr>SHARED:  WHAT MATTERS</vt:lpstr>
      <vt:lpstr>PAID: THE AMPLIFIER</vt:lpstr>
      <vt:lpstr>PAID:  WHAT MATTERS</vt:lpstr>
      <vt:lpstr>WHAT DOES AI VALUE?</vt:lpstr>
      <vt:lpstr>INTEGRATED STRATEGY WINS</vt:lpstr>
      <vt:lpstr>PowerPoint Presentation</vt:lpstr>
      <vt:lpstr>“AI VISIBILITY” — WHAT IS IT?</vt:lpstr>
      <vt:lpstr>WHERE TO START: AI VISIBILITY AUDIT</vt:lpstr>
      <vt:lpstr>MEASURABILITY GAP: WHY GEO REQUIRES A DIFFERENT METHOD THAN SEO</vt:lpstr>
      <vt:lpstr>TAILORING FOR NUANCES: </vt:lpstr>
      <vt:lpstr>OUTPUT: AI VISIBILITY AUDIT</vt:lpstr>
      <vt:lpstr>OUR EXPERIENCE</vt:lpstr>
      <vt:lpstr>PowerPoint Presentation</vt:lpstr>
      <vt:lpstr>CASE EXAMPLE: GARDEN WEASEL</vt:lpstr>
      <vt:lpstr>WHAT WE LEARED: WHERE THEY SHOW UP &amp; HOW THEY’RE PERCEIVED </vt:lpstr>
      <vt:lpstr>PowerPoint Presentation</vt:lpstr>
      <vt:lpstr>PowerPoint Presentation</vt:lpstr>
      <vt:lpstr>THE STARTING POINT</vt:lpstr>
      <vt:lpstr>WHO TO CONTACT</vt:lpstr>
      <vt:lpstr>PowerPoint Presentation</vt:lpstr>
      <vt:lpstr>INSTAGRAM/META CITATIONS</vt:lpstr>
      <vt:lpstr>SOCIAL MEDIA CITATIONS</vt:lpstr>
      <vt:lpstr>SOCIAL MEDIA 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kcandela@theshipyard.com</dc:creator>
  <cp:lastModifiedBy>Sean Cowan</cp:lastModifiedBy>
  <cp:revision>2</cp:revision>
  <cp:lastPrinted>2024-12-05T16:06:54Z</cp:lastPrinted>
  <dcterms:created xsi:type="dcterms:W3CDTF">2021-10-25T17:01:42Z</dcterms:created>
  <dcterms:modified xsi:type="dcterms:W3CDTF">2026-05-06T19:51:04Z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TriggerFlowInfo">
    <vt:lpwstr/>
  </property>
  <property fmtid="{D5CDD505-2E9C-101B-9397-08002B2CF9AE}" pid="4" name="_ExtendedDescription">
    <vt:lpwstr/>
  </property>
  <property fmtid="{D5CDD505-2E9C-101B-9397-08002B2CF9AE}" pid="5" name="MediaServiceImageTags">
    <vt:lpwstr/>
  </property>
  <property fmtid="{D5CDD505-2E9C-101B-9397-08002B2CF9AE}" pid="6" name="ContentTypeId">
    <vt:lpwstr>0x010100EE31B0834960EB4793F6591F6E8BF673</vt:lpwstr>
  </property>
</Properties>
</file>